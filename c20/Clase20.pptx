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+m8LgcrKMikRxWezfC544KCvc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B3D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FB3D0"/>
                </a:solidFill>
                <a:latin typeface="Calibri"/>
                <a:ea typeface="Calibri"/>
                <a:cs typeface="Calibri"/>
                <a:sym typeface="Calibri"/>
              </a:rPr>
              <a:t>CLASE 20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10972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Herencia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0116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B3D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FB3D0"/>
                </a:solidFill>
                <a:latin typeface="Calibri"/>
                <a:ea typeface="Calibri"/>
                <a:cs typeface="Calibri"/>
                <a:sym typeface="Calibri"/>
              </a:rPr>
              <a:t>"No reinventes la rueda, herédala y mejórala"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640080" y="274320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822960" y="2926080"/>
            <a:ext cx="7315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¿Qué es herencia y para qué sirve?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Crear clases que heredan de otras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super() — usar lo que ya existe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Sobrescribir métodos — hacer las cosas diferente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Cuándo usar (y cuándo NO usar) herencia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🚨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El problema: Código repetido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Situación: Necesitamos estas tres clases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1143000"/>
            <a:ext cx="256032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1143000"/>
            <a:ext cx="2560320" cy="3657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11430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Persona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160020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edad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saludar()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46120" y="1143000"/>
            <a:ext cx="256032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46120" y="1143000"/>
            <a:ext cx="2560320" cy="365760"/>
          </a:xfrm>
          <a:prstGeom prst="rect">
            <a:avLst/>
          </a:prstGeom>
          <a:solidFill>
            <a:srgbClr val="D479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46120" y="11430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Estudiante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383280" y="160020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edad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saludar()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carrera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estudiar()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035040" y="1143000"/>
            <a:ext cx="256032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035040" y="1143000"/>
            <a:ext cx="2560320" cy="365760"/>
          </a:xfrm>
          <a:prstGeom prst="rect">
            <a:avLst/>
          </a:prstGeom>
          <a:solidFill>
            <a:srgbClr val="D479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035040" y="11430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Profesor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172200" y="160020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edad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CC3333"/>
                </a:solidFill>
                <a:latin typeface="Consolas"/>
                <a:ea typeface="Consolas"/>
                <a:cs typeface="Consolas"/>
                <a:sym typeface="Consolas"/>
              </a:rPr>
              <a:t>saludar()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departamento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enseñar()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nombre, edad y saludar() están REPETIDOS en rojo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370332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Si encontramos un bug en saludar(), hay que arreglarlo 3 veces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Si queremos agregar "email", hay que hacerlo 3 veces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Violamos el principio DRY (Don't Repeat Yourself)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669280" y="3657600"/>
            <a:ext cx="3200400" cy="1005840"/>
          </a:xfrm>
          <a:prstGeom prst="rect">
            <a:avLst/>
          </a:prstGeom>
          <a:solidFill>
            <a:srgbClr val="EBFFEB"/>
          </a:solidFill>
          <a:ln cap="flat" cmpd="sng" w="1905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806440" y="370332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Solución: HERENCIA</a:t>
            </a:r>
            <a:br>
              <a:rPr b="1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Estudiante y Profesor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HEREDAN de Persona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3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🧬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¿Qué es Herencia?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94360" y="822960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Una clase puede HEREDAR atributos y métodos de otra clase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1508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Analogía — La familia: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828800"/>
            <a:ext cx="3931920" cy="20116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1874520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Los hijos heredan del padre: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Color de ojos, estatura,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algunas habilidades...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Pero también tienen cosas PROPIAS: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Su personalidad,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sus intereses,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pueden hacer cosas diferentes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846320" y="15087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Vocabulario: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846320" y="1920240"/>
            <a:ext cx="3931920" cy="7315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983480" y="19202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Clase PADRE 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(base / superclase)</a:t>
            </a:r>
            <a:b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La clase que DA sus atributos y métodos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846320" y="2834640"/>
            <a:ext cx="3931920" cy="7315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983480" y="28346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Clase HIJA 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(derivada / subclase)</a:t>
            </a:r>
            <a:b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→ La clase que RECIBE y puede agregar más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La hija obtiene TODO del padre, y puede agregar más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4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📝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Sintaxis de Herencia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solidFill>
            <a:srgbClr val="F5F7FA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class ClaseHija( ClasePadre ):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1554480"/>
            <a:ext cx="8229600" cy="210312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160020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┌──────────────┐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│   Persona    │  ← Clase PADRE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│  (nombre,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│   edad)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└──────┬───────┘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┌───────────┴───────────┐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│       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▼                       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┌──────────────┐       ┌──────────────┐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│  Estudiante  │       │   Profesor   │  ← HIJAS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│  (+ carrera) │       │ (+ depto)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└──────────────┘       └──────────────┘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374904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Estudiante ES UNA Persona (con carrera extra)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Profesor ES UNA Persona (con departamento extra)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Si puedes decir "X ES UN Y", entonces X puede heredar de 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5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➕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Agregar atributos propios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 clase hija puede tener atributos ADICIONALES a los del padre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1234440"/>
            <a:ext cx="228600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1234440"/>
            <a:ext cx="228600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Persona tiene: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94360" y="16459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nombre, edad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834640" y="137160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383280" y="1234440"/>
            <a:ext cx="2286000" cy="11887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383280" y="1234440"/>
            <a:ext cx="2286000" cy="320040"/>
          </a:xfrm>
          <a:prstGeom prst="rect">
            <a:avLst/>
          </a:prstGeom>
          <a:solidFill>
            <a:srgbClr val="D479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383280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Estudiante agrega: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520440" y="16459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carrera, semestre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760720" y="137160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=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309360" y="1234440"/>
            <a:ext cx="2560320" cy="1188720"/>
          </a:xfrm>
          <a:prstGeom prst="rect">
            <a:avLst/>
          </a:prstGeom>
          <a:solidFill>
            <a:srgbClr val="EBFFEB"/>
          </a:solidFill>
          <a:ln cap="flat" cmpd="sng" w="1905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46520" y="128016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Estudiante completo:</a:t>
            </a:r>
            <a:br>
              <a:rPr b="1" i="0" lang="en-US" sz="12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nombre, edad,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carrera, semestre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7200" y="2651760"/>
            <a:ext cx="8229600" cy="59436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0080" y="265176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Estudiante = Todo de Persona + cosas de Estudiante</a:t>
            </a:r>
            <a:br>
              <a:rPr b="1" i="0" lang="en-US" sz="13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Profesor    = Todo de Persona + cosas de Profesor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FFF8DC"/>
          </a:solidFill>
          <a:ln cap="flat" cmpd="sng" w="1905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94360" y="347472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Pero... ¿cómo inicializamos los atributos del padre Y los propios? → Necesitamos super()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→  Necesitamos super()  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6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🦸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super() — Llamar al padre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super() significa "mi clase padre"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94360" y="155448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94360" y="1554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97280" y="146304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Llamar al __init__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del padre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429000" y="155448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429000" y="1554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931920" y="146304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Llamar a cualquier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método del padre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126480" y="1463040"/>
            <a:ext cx="256032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263640" y="155448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263640" y="15544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766560" y="146304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Reutilizar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sin repetir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El patrón: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class Hija(Padre):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def __init__(self, param_padre, param_propio):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super().__init__(param_padre)      ← Llama al padre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self.atributo_propio = param_propio ← Lo propio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"Oye papá, haz lo tuyo primero, y luego yo hago lo mío"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super().__init__() ejecuta el constructor del padre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7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🏗️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completo: Jerarquía de clases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74320" y="822960"/>
            <a:ext cx="8595360" cy="24688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65760" y="868680"/>
            <a:ext cx="8412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┌──────────────┐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│   Persona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│ nombre, edad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│ saludar()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│ cumplir_anos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└──────┬───────┘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┌───────────────┼───────────────┐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│               │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▼               ▼               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┌──────────────┐ ┌──────────────┐ ┌──────────────┐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 Estudiante  │ │   Profesor   │ │   Empleado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 + carrera   │ │ + depto      │ │ + puesto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 + estudiar()│ │ + enseñar()  │ │ + trabajar()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└──────────────┘ └──────────────┘ └──────────────┘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57200" y="34747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Cada clase hija HEREDA todo de Persona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Cada una agrega sus propios atributos y métodos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 hay código repetido entre las clases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760720" y="3474720"/>
            <a:ext cx="310896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760720" y="347472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Vamos a construirlo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en VS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8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🔍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isinstance() — Verificar el tipo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¿Cómo saber si un objeto es de cierta clase?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solidFill>
            <a:srgbClr val="F5F7FA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2E86AB"/>
                </a:solidFill>
                <a:latin typeface="Consolas"/>
                <a:ea typeface="Consolas"/>
                <a:cs typeface="Consolas"/>
                <a:sym typeface="Consolas"/>
              </a:rPr>
              <a:t>isinstance( objeto, Clase )  →  True o 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onsolas"/>
                <a:ea typeface="Consolas"/>
                <a:cs typeface="Consolas"/>
                <a:sym typeface="Consolas"/>
              </a:rPr>
              <a:t>ana = Estudiante("Ana", 20, "Ingeniería")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EBFFEB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94360" y="228600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isinstance(ana, Estudiante)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846320" y="22860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Trebuchet MS"/>
                <a:ea typeface="Trebuchet MS"/>
                <a:cs typeface="Trebuchet MS"/>
                <a:sym typeface="Trebuchet MS"/>
              </a:rPr>
              <a:t>True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943600" y="22860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 Estudiante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EBFFEB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94360" y="288036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isinstance(ana, Persona)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846320" y="288036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8A745"/>
                </a:solidFill>
                <a:latin typeface="Trebuchet MS"/>
                <a:ea typeface="Trebuchet MS"/>
                <a:cs typeface="Trebuchet MS"/>
                <a:sym typeface="Trebuchet MS"/>
              </a:rPr>
              <a:t>True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5943600" y="28803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también es Persona!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94360" y="34747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isinstance(ana, Profesor)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846320" y="347472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C3333"/>
                </a:solidFill>
                <a:latin typeface="Trebuchet MS"/>
                <a:ea typeface="Trebuchet MS"/>
                <a:cs typeface="Trebuchet MS"/>
                <a:sym typeface="Trebuchet MS"/>
              </a:rPr>
              <a:t>False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943600" y="3474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 es Profesor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La herencia crea una relación "es un" (is-a)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9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✨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El poder de los métodos heredados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Cuando el padre cambia, los hijos se benefician automáticamente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57200" y="1280160"/>
            <a:ext cx="38404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57200" y="12801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0080" y="1828800"/>
            <a:ext cx="3474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44444"/>
                </a:solidFill>
                <a:latin typeface="Consolas"/>
                <a:ea typeface="Consolas"/>
                <a:cs typeface="Consolas"/>
                <a:sym typeface="Consolas"/>
              </a:rPr>
              <a:t>saludar() → "Hola, soy Ana"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297680" y="164592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114800" y="24688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Cambio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en Persona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846320" y="1280160"/>
            <a:ext cx="3840480" cy="16459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DESPUÉS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029200" y="1783080"/>
            <a:ext cx="3474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8A745"/>
                </a:solidFill>
                <a:latin typeface="Consolas"/>
                <a:ea typeface="Consolas"/>
                <a:cs typeface="Consolas"/>
                <a:sym typeface="Consolas"/>
              </a:rPr>
              <a:t>saludar()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8A745"/>
                </a:solidFill>
                <a:latin typeface="Consolas"/>
                <a:ea typeface="Consolas"/>
                <a:cs typeface="Consolas"/>
                <a:sym typeface="Consolas"/>
              </a:rPr>
              <a:t>"¡Hola! Mi nombre es Ana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8A745"/>
                </a:solidFill>
                <a:latin typeface="Consolas"/>
                <a:ea typeface="Consolas"/>
                <a:cs typeface="Consolas"/>
                <a:sym typeface="Consolas"/>
              </a:rPr>
              <a:t>Tengo 20 años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8A745"/>
                </a:solidFill>
                <a:latin typeface="Consolas"/>
                <a:ea typeface="Consolas"/>
                <a:cs typeface="Consolas"/>
                <a:sym typeface="Consolas"/>
              </a:rPr>
              <a:t>¡Un gusto conocerte!"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EBFFEB"/>
          </a:solidFill>
          <a:ln cap="flat" cmpd="sng" w="1905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Estudiante y Profesor obtienen la mejora GRATIS</a:t>
            </a:r>
            <a:br>
              <a:rPr b="1" i="0" lang="en-US" sz="1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Un cambio en el padre beneficia a TODOS los hijos — Principio DRY en acción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94360" y="42062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Un cambio en el padre beneficia a TODOS los hijos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10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🤔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¿Cuándo usar herencia?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57200" y="822960"/>
            <a:ext cx="3840480" cy="3017520"/>
          </a:xfrm>
          <a:prstGeom prst="rect">
            <a:avLst/>
          </a:prstGeom>
          <a:solidFill>
            <a:srgbClr val="EBFFEB"/>
          </a:solidFill>
          <a:ln cap="flat" cmpd="sng" w="1905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594360" y="8686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8A745"/>
                </a:solidFill>
                <a:latin typeface="Trebuchet MS"/>
                <a:ea typeface="Trebuchet MS"/>
                <a:cs typeface="Trebuchet MS"/>
                <a:sym typeface="Trebuchet MS"/>
              </a:rPr>
              <a:t>✅  USAR herencia cuando: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85800" y="1280160"/>
            <a:ext cx="34747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Hay relación "ES UN" clara: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Estudiante ES UNA Persona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Perro ES UN Animal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Rectángulo ES UNA Forma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Hay código repetido entre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clases similares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Quieres que cambios en 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padre afecten a los hijos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846320" y="822960"/>
            <a:ext cx="3840480" cy="3017520"/>
          </a:xfrm>
          <a:prstGeom prst="rect">
            <a:avLst/>
          </a:prstGeom>
          <a:solidFill>
            <a:srgbClr val="FFEBEE"/>
          </a:solidFill>
          <a:ln cap="flat" cmpd="sng" w="1905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983480" y="8686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CC3333"/>
                </a:solidFill>
                <a:latin typeface="Trebuchet MS"/>
                <a:ea typeface="Trebuchet MS"/>
                <a:cs typeface="Trebuchet MS"/>
                <a:sym typeface="Trebuchet MS"/>
              </a:rPr>
              <a:t>❌  NO usar herencia cuando: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937760" y="1280160"/>
            <a:ext cx="35661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 relación es "TIENE UN":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Coche TIENE UN Motor 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Persona TIENE UNA Cuenta 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(usar composición en su lugar)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Solo quieres reutilizar un par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de métodos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Las clases no tienen relación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  lógica entre sí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94360" y="402336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Pregúntate: </a:t>
            </a:r>
            <a:r>
              <a:rPr b="0" i="0" lang="en-US" sz="14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¿X es un tipo de Y?   </a:t>
            </a:r>
            <a:r>
              <a:rPr b="1" i="0" lang="en-US" sz="14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Sí → Herencia </a:t>
            </a:r>
            <a:r>
              <a:rPr b="0" i="0" lang="en-US" sz="14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  |  </a:t>
            </a:r>
            <a:r>
              <a:rPr b="1" i="0" lang="en-US" sz="1400" u="none" cap="none" strike="noStrike">
                <a:solidFill>
                  <a:srgbClr val="CC3333"/>
                </a:solidFill>
                <a:latin typeface="Calibri"/>
                <a:ea typeface="Calibri"/>
                <a:cs typeface="Calibri"/>
                <a:sym typeface="Calibri"/>
              </a:rPr>
              <a:t>No → Busca otra solución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11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✏️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EJERCICIO 1: Jerarquía de Vehículos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274320" y="777240"/>
            <a:ext cx="4114800" cy="246888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65760" y="822960"/>
            <a:ext cx="3931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┌──────────────┐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│   Vehiculo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│ marca, modelo│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│ año, encender│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└──────┬───────┘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┌────────────┴────────────┐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│         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▼                         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┌──────────────┐        ┌──────────────┐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   Coche     │        │     Moto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+ puertas   │        │ + cilindrada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+ abrir_    │        │ + hacer_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  puerta()  │        │   caballito()│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└──────────────┘        └──────────────┘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Requisitos: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663440" y="1143000"/>
            <a:ext cx="41148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754880" y="114300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Vehiculo (padre):</a:t>
            </a:r>
            <a:b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Atributos: marca, modelo, año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Método: encender() → "El [marca] [modelo] está encendido"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663440" y="201168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754880" y="201168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Coche (hija): </a:t>
            </a: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+ puertas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abrir_puerta() → "Abriendo puerta del [marca]"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663440" y="274320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754880" y="274320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Moto (hija): </a:t>
            </a: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+ cilindrada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hacer_caballito() → "¡[marca] haciendo caballito!"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Equipos de 2-3  |  Tiempo: 12 minutos  |  Recuerden usar super().__init__()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86A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2743200" y="91440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rebuchet MS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☕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BREAK — 10 MINUTOS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12"/>
          <p:cNvCxnSpPr/>
          <p:nvPr/>
        </p:nvCxnSpPr>
        <p:spPr>
          <a:xfrm>
            <a:off x="2743200" y="2926080"/>
            <a:ext cx="365760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2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DCE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B5DCE8"/>
                </a:solidFill>
                <a:latin typeface="Calibri"/>
                <a:ea typeface="Calibri"/>
                <a:cs typeface="Calibri"/>
                <a:sym typeface="Calibri"/>
              </a:rPr>
              <a:t>Volvemos con: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DCE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B5DCE8"/>
                </a:solidFill>
                <a:latin typeface="Calibri"/>
                <a:ea typeface="Calibri"/>
                <a:cs typeface="Calibri"/>
                <a:sym typeface="Calibri"/>
              </a:rPr>
              <a:t>Sobrescritura de métodos (override)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13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🔄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Sobrescritura de métodos (Override)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¿Qué pasa si el hijo quiere hacer algo DIFERENTE al padre?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57200" y="1234440"/>
            <a:ext cx="38404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94360" y="12344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Mismo nombre </a:t>
            </a: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 método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297680" y="1234440"/>
            <a:ext cx="45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846320" y="1234440"/>
            <a:ext cx="38404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983480" y="123444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Comportamiento </a:t>
            </a: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diferente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94360" y="2240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Analogía: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40080" y="2606040"/>
            <a:ext cx="36576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777240" y="260604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Papá saluda:</a:t>
            </a:r>
            <a:b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"Hola, buenas tardes" (formal)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663440" y="2606040"/>
            <a:ext cx="36576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800600" y="260604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Hijo saluda:</a:t>
            </a:r>
            <a:br>
              <a:rPr b="1" i="0" lang="en-US" sz="12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"¡Qué onda!" (informal)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94360" y="3840480"/>
            <a:ext cx="7955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Override = Reemplazar la versión del padre con una versión propia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El hijo puede hacer las cosas "a su manera"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🔗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super() en métodos sobrescritos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¿Y si quiero usar lo del padre Y agregar más?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548640" y="128016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def presentarse(self):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super().presentarse()     ← Hace lo del padre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print("Y estudio...")     ← Agrega lo propio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457200" y="2194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457200" y="2514600"/>
            <a:ext cx="3840480" cy="45720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548640" y="25146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"Me llamo Ana y tengo 20 años"  </a:t>
            </a: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← Del padre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457200" y="3063240"/>
            <a:ext cx="3840480" cy="4572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548640" y="3063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"Estudio Ingeniería"  </a:t>
            </a:r>
            <a:r>
              <a:rPr b="1" i="0" lang="en-US" sz="11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← Del hijo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846320" y="2331720"/>
            <a:ext cx="3840480" cy="13716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983480" y="233172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Analogía:</a:t>
            </a:r>
            <a:br>
              <a:rPr b="1" i="0" lang="en-US" sz="13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3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"Papá, di lo tuyo primero,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 y luego yo agrego lo mío"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super().metodo() ejecuta la versión del padre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15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💼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práctico: Sistema de empleados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274320" y="731520"/>
            <a:ext cx="8595360" cy="228600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365760" y="777240"/>
            <a:ext cx="84124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┌──────────────────┐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│     Empleado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│ nombre, salario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│ calcular_bono()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│ info()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└────────┬─────────┘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┌────────────────┼────────────────┐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│                │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▼                ▼                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┌──────────────┐ ┌──────────────┐ ┌──────────────┐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│Desarrollador │ │   Gerente    │ │  Vendedor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lenguaje     │ │ equipo       │ │ ventas_mes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│ bono: 10%    │ │ bono: 20%+   │ │ bono: 5%vent│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└──────────────┘ └──────────────┘ └──────────────┘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457200" y="3200400"/>
            <a:ext cx="2560320" cy="685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548640" y="32004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Desarrollador</a:t>
            </a:r>
            <a:br>
              <a:rPr b="1" i="0" lang="en-US" sz="12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10% del salario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3291840" y="3200400"/>
            <a:ext cx="2560320" cy="685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3383280" y="32004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Gerente</a:t>
            </a:r>
            <a:br>
              <a:rPr b="1" i="0" lang="en-US" sz="12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20% + $100/persona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6126480" y="3200400"/>
            <a:ext cx="2560320" cy="685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6217920" y="320040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Vendedor</a:t>
            </a:r>
            <a:br>
              <a:rPr b="1" i="0" lang="en-US" sz="12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5% de sus ventas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Cada tipo calcula su bono diferente — Override en acción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✏️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EJERCICIO 2: Figuras Geométricas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274320" y="777240"/>
            <a:ext cx="4114800" cy="2377440"/>
          </a:xfrm>
          <a:prstGeom prst="rect">
            <a:avLst/>
          </a:prstGeom>
          <a:solidFill>
            <a:srgbClr val="F5F7FA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/>
          <p:nvPr/>
        </p:nvSpPr>
        <p:spPr>
          <a:xfrm>
            <a:off x="365760" y="822960"/>
            <a:ext cx="3931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┌──────────────────┐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│      Figura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│ color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│ calcular_area()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│ describir()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└────────┬─────────┘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┌────────────┴────────────┐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│                 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       ▼                         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┌──────────────┐         ┌──────────────┐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│  Rectangulo  │         │    Circulo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│ ancho, alto  │         │ radio      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│ area = a × b │         │ area = π×r²  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└──────────────┘         └──────────────┘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22222"/>
                </a:solidFill>
                <a:latin typeface="Trebuchet MS"/>
                <a:ea typeface="Trebuchet MS"/>
                <a:cs typeface="Trebuchet MS"/>
                <a:sym typeface="Trebuchet MS"/>
              </a:rPr>
              <a:t>Requisitos: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4663440" y="1143000"/>
            <a:ext cx="411480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4754880" y="114300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  <a:t>Figura (padre):</a:t>
            </a:r>
            <a:br>
              <a:rPr b="1" i="0" lang="en-US" sz="1100" u="none" cap="none" strike="noStrike">
                <a:solidFill>
                  <a:srgbClr val="2E86A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Atributo: color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calcular_area(): retorna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describir(): "Soy una figura de color [color]"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4663440" y="205740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4754880" y="205740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Rectangulo: </a:t>
            </a: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ancho, alto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Override: area = ancho x alto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4663440" y="278892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7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4754880" y="27889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790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790E"/>
                </a:solidFill>
                <a:latin typeface="Calibri"/>
                <a:ea typeface="Calibri"/>
                <a:cs typeface="Calibri"/>
                <a:sym typeface="Calibri"/>
              </a:rPr>
              <a:t>Circulo: </a:t>
            </a: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radio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Override: area = pi x radio^2 (import math)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solidFill>
            <a:srgbClr val="FFF8DC"/>
          </a:solidFill>
          <a:ln cap="flat" cmpd="sng" w="1905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594360" y="356616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Hint: En describir(), pueden usar super().describir() para no repetir la parte del color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Equipos de 2-3  |  Tiempo: 15 minutos  |  Override + super()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17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🎯  </a:t>
            </a:r>
            <a:r>
              <a:rPr b="1" i="0" lang="en-US" sz="2400" u="none" cap="none" strike="noStrike">
                <a:solidFill>
                  <a:srgbClr val="2E86AB"/>
                </a:solidFill>
                <a:latin typeface="Trebuchet MS"/>
                <a:ea typeface="Trebuchet MS"/>
                <a:cs typeface="Trebuchet MS"/>
                <a:sym typeface="Trebuchet MS"/>
              </a:rPr>
              <a:t>Revisemos la solución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EBFFEB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548640" y="82296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1005840" y="82296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Figura tiene calcular_area() que retorna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Es un "placeholder" que las hijas sobrescriben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solidFill>
            <a:srgbClr val="EBFFEB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548640" y="16916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1005840" y="169164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Cada hija sobrescribe calcular_area()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Rectángulo: ancho × alto  |  Círculo: π × radio²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EBFFEB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548640" y="25603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1005840" y="256032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super().describir() reutiliza el padre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 repetimos "Soy una figura de color..."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solidFill>
            <a:srgbClr val="EBFFEB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548640" y="342900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1005840" y="342900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Las hijas agregan información específica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Sus medidas y su área calculada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E3F2FD"/>
          </a:solidFill>
          <a:ln cap="flat" cmpd="sng" w="19050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594360" y="443484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 </a:t>
            </a: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Esto demuestra herencia + override + super() trabajando juntos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D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rebuchet MS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📋 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Resumen — Herencia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457200" y="914400"/>
            <a:ext cx="32004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548640" y="91440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Herencia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3657600" y="914400"/>
            <a:ext cx="5029200" cy="384048"/>
          </a:xfrm>
          <a:prstGeom prst="rect">
            <a:avLst/>
          </a:prstGeom>
          <a:solidFill>
            <a:srgbClr val="2A3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3749040" y="91440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Una clase obtiene todo de otra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457200" y="1371600"/>
            <a:ext cx="32004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548640" y="137160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 Hija(Padre)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3657600" y="1371600"/>
            <a:ext cx="5029200" cy="384048"/>
          </a:xfrm>
          <a:prstGeom prst="rect">
            <a:avLst/>
          </a:prstGeom>
          <a:solidFill>
            <a:srgbClr val="2A3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3749040" y="137160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Sintaxis para heredar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457200" y="1828800"/>
            <a:ext cx="32004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548640" y="182880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super()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3657600" y="1828800"/>
            <a:ext cx="5029200" cy="384048"/>
          </a:xfrm>
          <a:prstGeom prst="rect">
            <a:avLst/>
          </a:prstGeom>
          <a:solidFill>
            <a:srgbClr val="2A3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3749040" y="182880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Referencia a la clase padre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457200" y="2286000"/>
            <a:ext cx="32004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548640" y="228600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super().__init__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3657600" y="2286000"/>
            <a:ext cx="5029200" cy="384048"/>
          </a:xfrm>
          <a:prstGeom prst="rect">
            <a:avLst/>
          </a:prstGeom>
          <a:solidFill>
            <a:srgbClr val="2A3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3749040" y="228600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Llamar al constructor del padre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457200" y="2743200"/>
            <a:ext cx="32004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548640" y="274320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Override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/>
          <p:nvPr/>
        </p:nvSpPr>
        <p:spPr>
          <a:xfrm>
            <a:off x="3657600" y="2743200"/>
            <a:ext cx="5029200" cy="384048"/>
          </a:xfrm>
          <a:prstGeom prst="rect">
            <a:avLst/>
          </a:prstGeom>
          <a:solidFill>
            <a:srgbClr val="2A3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3749040" y="274320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Sobrescribir método del padre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457200" y="3200400"/>
            <a:ext cx="3200400" cy="38404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548640" y="320040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super().metodo()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3657600" y="3200400"/>
            <a:ext cx="5029200" cy="384048"/>
          </a:xfrm>
          <a:prstGeom prst="rect">
            <a:avLst/>
          </a:prstGeom>
          <a:solidFill>
            <a:srgbClr val="2A3E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3749040" y="3200400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Usar método del padre + agregar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457200" y="3749040"/>
            <a:ext cx="3840480" cy="594360"/>
          </a:xfrm>
          <a:prstGeom prst="rect">
            <a:avLst/>
          </a:prstGeom>
          <a:solidFill>
            <a:srgbClr val="1C3B2D"/>
          </a:solidFill>
          <a:ln cap="flat" cmpd="sng" w="127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594360" y="37490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8A7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  <a:t>✅ "ES UN" → Herencia</a:t>
            </a:r>
            <a:br>
              <a:rPr b="1" i="0" lang="en-US" sz="1300" u="none" cap="none" strike="noStrike">
                <a:solidFill>
                  <a:srgbClr val="28A74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Estudiante ES UNA Persona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4846320" y="3749040"/>
            <a:ext cx="3840480" cy="594360"/>
          </a:xfrm>
          <a:prstGeom prst="rect">
            <a:avLst/>
          </a:prstGeom>
          <a:solidFill>
            <a:srgbClr val="3B1C1C"/>
          </a:solidFill>
          <a:ln cap="flat" cmpd="sng" w="12700">
            <a:solidFill>
              <a:srgbClr val="CC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983480" y="37490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6666"/>
                </a:solidFill>
                <a:latin typeface="Calibri"/>
                <a:ea typeface="Calibri"/>
                <a:cs typeface="Calibri"/>
                <a:sym typeface="Calibri"/>
              </a:rPr>
              <a:t>❌ "TIENE UN" → Composición</a:t>
            </a:r>
            <a:br>
              <a:rPr b="1" i="0" lang="en-US" sz="1300" u="none" cap="none" strike="noStrike">
                <a:solidFill>
                  <a:srgbClr val="FF666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E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DDEE"/>
                </a:solidFill>
                <a:latin typeface="Calibri"/>
                <a:ea typeface="Calibri"/>
                <a:cs typeface="Calibri"/>
                <a:sym typeface="Calibri"/>
              </a:rPr>
              <a:t>Coche TIENE UN Motor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B3D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FB3D0"/>
                </a:solidFill>
                <a:latin typeface="Calibri"/>
                <a:ea typeface="Calibri"/>
                <a:cs typeface="Calibri"/>
                <a:sym typeface="Calibri"/>
              </a:rPr>
              <a:t>Próxima clase: Métodos especiales (__str__, __repr__, __len__, __eq__)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2026-02-28T00:43:20Z</dcterms:created>
  <dc:creator>Patricio</dc:creator>
</cp:coreProperties>
</file>