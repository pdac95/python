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g9P2Tcl8WdoCIWln5itxZ0H4WR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customschemas.google.com/relationships/presentationmetadata" Target="meta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256973a8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415070" y="2644080"/>
            <a:ext cx="63138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CONTROL DE VERSIONES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18797" y="3444180"/>
            <a:ext cx="510640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Clase 2: Source Code Management, Git y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502841" y="4480620"/>
            <a:ext cx="213816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SCM • Git • Repositorios • Commits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3550" y="732725"/>
            <a:ext cx="1568451" cy="156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6525" y="661450"/>
            <a:ext cx="1711002" cy="171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381000" y="304800"/>
            <a:ext cx="55864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¿Qué es el Control de Versiones?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81000" y="990600"/>
            <a:ext cx="854964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 sistema para </a:t>
            </a:r>
            <a:r>
              <a:rPr b="1" i="0" lang="en-US" sz="135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rastrear y gestionar</a:t>
            </a:r>
            <a:r>
              <a:rPr b="0" i="0" lang="en-US" sz="13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todos los cambios en tu código.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81000" y="1417290"/>
            <a:ext cx="1981200" cy="1396008"/>
          </a:xfrm>
          <a:prstGeom prst="roundRect">
            <a:avLst>
              <a:gd fmla="val 682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52450" y="1588740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52450" y="2038201"/>
            <a:ext cx="16710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¿Quién?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52450" y="2295376"/>
            <a:ext cx="1671066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Saber quién hizo cada cambio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514600" y="1417290"/>
            <a:ext cx="1981200" cy="1396008"/>
          </a:xfrm>
          <a:prstGeom prst="roundRect">
            <a:avLst>
              <a:gd fmla="val 682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686050" y="1588740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📅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686050" y="2038201"/>
            <a:ext cx="16710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¿Cuándo?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686050" y="2295376"/>
            <a:ext cx="1671066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Fecha y hora exacta del cambio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48200" y="1417290"/>
            <a:ext cx="1981200" cy="1396008"/>
          </a:xfrm>
          <a:prstGeom prst="roundRect">
            <a:avLst>
              <a:gd fmla="val 682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19650" y="1588740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19650" y="2038201"/>
            <a:ext cx="16710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¿Por qué?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19650" y="2295376"/>
            <a:ext cx="1671066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Mensaje explicando el cambio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781800" y="1503908"/>
            <a:ext cx="1981200" cy="1222772"/>
          </a:xfrm>
          <a:prstGeom prst="roundRect">
            <a:avLst>
              <a:gd fmla="val 779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953250" y="1675358"/>
            <a:ext cx="167106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⏪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953250" y="2124819"/>
            <a:ext cx="167106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¿Cómo volver?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953250" y="2381994"/>
            <a:ext cx="167106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Regresar a cualquier versión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81000" y="4385370"/>
            <a:ext cx="8382000" cy="453330"/>
          </a:xfrm>
          <a:prstGeom prst="roundRect">
            <a:avLst>
              <a:gd fmla="val 16809" name="adj"/>
            </a:avLst>
          </a:prstGeom>
          <a:solidFill>
            <a:srgbClr val="F05032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400050" y="4385370"/>
            <a:ext cx="0" cy="453330"/>
          </a:xfrm>
          <a:prstGeom prst="straightConnector1">
            <a:avLst/>
          </a:prstGeom>
          <a:noFill/>
          <a:ln cap="flat" cmpd="sng" w="38100">
            <a:solidFill>
              <a:srgbClr val="F050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590550" y="4518720"/>
            <a:ext cx="81610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También llamado </a:t>
            </a:r>
            <a:r>
              <a:rPr b="1" i="0" lang="en-US" sz="105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SCM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(Source Code Management) o </a:t>
            </a:r>
            <a:r>
              <a:rPr b="1" i="0" lang="en-US" sz="105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VCS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(Version Control System).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381000" y="304800"/>
            <a:ext cx="62082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El problema sin Control de Versiones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81000" y="1122015"/>
            <a:ext cx="3771900" cy="3585121"/>
          </a:xfrm>
          <a:prstGeom prst="roundRect">
            <a:avLst>
              <a:gd fmla="val 265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1500" y="1312515"/>
            <a:ext cx="345871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😰 Sin control de versiones: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71500" y="1765846"/>
            <a:ext cx="3390900" cy="2324100"/>
          </a:xfrm>
          <a:prstGeom prst="roundRect">
            <a:avLst>
              <a:gd fmla="val 245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85800" y="18801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proyecto.py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85800" y="21849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proyecto_v2.py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85800" y="24897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proyecto_final.py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5800" y="27945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proyecto_final_v2.py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00" y="30993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📄 proyecto_final_REAL.py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85800" y="34041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📄 proyecto_AHORA_SI.py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85800" y="3708946"/>
            <a:ext cx="32255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📄 proyecto_ESTE_SI_VA.py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71500" y="4356646"/>
            <a:ext cx="34587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¿Cuál es el bueno? ¿Qué cambió entre cada uno? 🤷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81500" y="1638449"/>
            <a:ext cx="4381500" cy="2552254"/>
          </a:xfrm>
          <a:prstGeom prst="roundRect">
            <a:avLst>
              <a:gd fmla="val 373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0" y="1828949"/>
            <a:ext cx="40805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✅ Con control de versiones: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0" y="2282279"/>
            <a:ext cx="4000500" cy="1215033"/>
          </a:xfrm>
          <a:prstGeom prst="roundRect">
            <a:avLst>
              <a:gd fmla="val 470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686300" y="2396579"/>
            <a:ext cx="384733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📄 proyecto.py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686300" y="2739479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└─ Historial completo guardado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686300" y="2905125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└─ Cada cambio documentado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686300" y="3070771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└─ Puedo volver a cualquier punto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686300" y="3236416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└─ Sé quién cambió qué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0" y="3649712"/>
            <a:ext cx="4000500" cy="350490"/>
          </a:xfrm>
          <a:prstGeom prst="roundRect">
            <a:avLst>
              <a:gd fmla="val 16306" name="adj"/>
            </a:avLst>
          </a:prstGeom>
          <a:solidFill>
            <a:srgbClr val="23863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67250" y="3744962"/>
            <a:ext cx="38862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Un solo archivo, todo el historial.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381000" y="304800"/>
            <a:ext cx="59750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Beneficios del Control de Versiones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81000" y="990600"/>
            <a:ext cx="4114800" cy="1371302"/>
          </a:xfrm>
          <a:prstGeom prst="roundRect">
            <a:avLst>
              <a:gd fmla="val 694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4"/>
          <p:cNvCxnSpPr/>
          <p:nvPr/>
        </p:nvCxnSpPr>
        <p:spPr>
          <a:xfrm>
            <a:off x="381000" y="1004887"/>
            <a:ext cx="4114800" cy="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"/>
          <p:cNvSpPr/>
          <p:nvPr/>
        </p:nvSpPr>
        <p:spPr>
          <a:xfrm>
            <a:off x="552450" y="1190625"/>
            <a:ext cx="384733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52450" y="1586805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Historial completo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52450" y="1843980"/>
            <a:ext cx="384733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Cada cambio queda guardado para siempre. Puedes ver exactamente qué se modificó, línea por línea.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48200" y="990600"/>
            <a:ext cx="4114800" cy="1371302"/>
          </a:xfrm>
          <a:prstGeom prst="roundRect">
            <a:avLst>
              <a:gd fmla="val 694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4"/>
          <p:cNvCxnSpPr/>
          <p:nvPr/>
        </p:nvCxnSpPr>
        <p:spPr>
          <a:xfrm>
            <a:off x="4648200" y="1004887"/>
            <a:ext cx="4114800" cy="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4"/>
          <p:cNvSpPr/>
          <p:nvPr/>
        </p:nvSpPr>
        <p:spPr>
          <a:xfrm>
            <a:off x="4819650" y="1190625"/>
            <a:ext cx="384733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19650" y="1586805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19650" y="1843980"/>
            <a:ext cx="384733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Varios programadores pueden trabajar en el mismo proyecto sin sobrescribir el trabajo del otro.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81000" y="2495252"/>
            <a:ext cx="4114800" cy="1371302"/>
          </a:xfrm>
          <a:prstGeom prst="roundRect">
            <a:avLst>
              <a:gd fmla="val 694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381000" y="2509540"/>
            <a:ext cx="4114800" cy="0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552450" y="2695277"/>
            <a:ext cx="384733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52450" y="3091458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Respaldo automático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52450" y="3348633"/>
            <a:ext cx="384733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Tu código está seguro en la nube. Si se daña tu computadora, no pierdes nada.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648200" y="2495252"/>
            <a:ext cx="4114800" cy="1371302"/>
          </a:xfrm>
          <a:prstGeom prst="roundRect">
            <a:avLst>
              <a:gd fmla="val 694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4648200" y="2509540"/>
            <a:ext cx="4114800" cy="0"/>
          </a:xfrm>
          <a:prstGeom prst="straightConnector1">
            <a:avLst/>
          </a:prstGeom>
          <a:noFill/>
          <a:ln cap="flat" cmpd="sng" w="28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4"/>
          <p:cNvSpPr/>
          <p:nvPr/>
        </p:nvSpPr>
        <p:spPr>
          <a:xfrm>
            <a:off x="4819650" y="2695277"/>
            <a:ext cx="384733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19650" y="3091458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Ramas (branches)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819650" y="3348633"/>
            <a:ext cx="3847338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Puedes experimentar con ideas nuevas sin afectar el código principal. Si no funciona, lo descartas.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81000" y="4385370"/>
            <a:ext cx="8382000" cy="453330"/>
          </a:xfrm>
          <a:prstGeom prst="roundRect">
            <a:avLst>
              <a:gd fmla="val 1680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2059" y="4518720"/>
            <a:ext cx="819988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Sin control de versiones, los equipos de desarrollo simplemente </a:t>
            </a:r>
            <a:r>
              <a:rPr b="0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no podrían funcionar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¿Qué es Git?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81000" y="1580555"/>
            <a:ext cx="489661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es un </a:t>
            </a:r>
            <a:r>
              <a:rPr b="1" i="0" lang="en-US" sz="135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software de control de versiones</a:t>
            </a:r>
            <a:r>
              <a:rPr b="0" i="0" lang="en-US" sz="13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que se instala en tu computadora.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81000" y="2262485"/>
            <a:ext cx="4800600" cy="1451074"/>
          </a:xfrm>
          <a:prstGeom prst="roundRect">
            <a:avLst>
              <a:gd fmla="val 656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33400" y="2414885"/>
            <a:ext cx="45857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Características: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33400" y="2696766"/>
            <a:ext cx="45857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Funciona en tu máquina local (sin internet)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33400" y="2927152"/>
            <a:ext cx="45857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Gratuito y open source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33400" y="3157538"/>
            <a:ext cx="45857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El más usado en el mundo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33400" y="3387923"/>
            <a:ext cx="458571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Rápido y eficiente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81000" y="3846909"/>
            <a:ext cx="4800600" cy="401836"/>
          </a:xfrm>
          <a:prstGeom prst="roundRect">
            <a:avLst>
              <a:gd fmla="val 18963" name="adj"/>
            </a:avLst>
          </a:prstGeom>
          <a:solidFill>
            <a:srgbClr val="F05032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400050" y="3846909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F050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571500" y="3961209"/>
            <a:ext cx="45468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Creado en </a:t>
            </a:r>
            <a:r>
              <a:rPr b="1" i="0" lang="en-US" sz="9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2005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por Linus Torvalds, el mismo creador de Linux.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10200" y="1596479"/>
            <a:ext cx="3352800" cy="2636193"/>
          </a:xfrm>
          <a:prstGeom prst="roundRect">
            <a:avLst>
              <a:gd fmla="val 361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600700" y="1786979"/>
            <a:ext cx="303123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es 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600700" y="2286000"/>
            <a:ext cx="2971800" cy="1127522"/>
          </a:xfrm>
          <a:prstGeom prst="roundRect">
            <a:avLst>
              <a:gd fmla="val 675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706999" y="2419350"/>
            <a:ext cx="2759202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706999" y="2922240"/>
            <a:ext cx="275920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Tu computadora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706999" y="3133576"/>
            <a:ext cx="275920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Git vive aquí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600700" y="3699272"/>
            <a:ext cx="30312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Todo el historial de tu proyecto se guarda en tu máquina. No necesitas conexión a internet para usar Git.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Instalar Git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81000" y="840581"/>
            <a:ext cx="8382000" cy="552450"/>
          </a:xfrm>
          <a:prstGeom prst="roundRect">
            <a:avLst>
              <a:gd fmla="val 13793" name="adj"/>
            </a:avLst>
          </a:prstGeom>
          <a:solidFill>
            <a:srgbClr val="161B22"/>
          </a:solidFill>
          <a:ln cap="flat" cmpd="sng" w="9525">
            <a:solidFill>
              <a:srgbClr val="F050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81025" y="983456"/>
            <a:ext cx="814158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05032"/>
                </a:solidFill>
                <a:latin typeface="Courier New"/>
                <a:ea typeface="Courier New"/>
                <a:cs typeface="Courier New"/>
                <a:sym typeface="Courier New"/>
              </a:rPr>
              <a:t>git-scm.com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81000" y="1545431"/>
            <a:ext cx="4114800" cy="1491109"/>
          </a:xfrm>
          <a:prstGeom prst="roundRect">
            <a:avLst>
              <a:gd fmla="val 638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381000" y="1559719"/>
            <a:ext cx="4114800" cy="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6"/>
          <p:cNvSpPr/>
          <p:nvPr/>
        </p:nvSpPr>
        <p:spPr>
          <a:xfrm>
            <a:off x="552450" y="1745456"/>
            <a:ext cx="384733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🪟 Windows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52450" y="2008287"/>
            <a:ext cx="384733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1. Descargar instalador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52450" y="2238673"/>
            <a:ext cx="384733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2. Ejecutar .exe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52450" y="2469059"/>
            <a:ext cx="384733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3. Siguiente → Siguiente → Instalar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52450" y="2718495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Dejar opciones por defecto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648200" y="1660624"/>
            <a:ext cx="4114800" cy="1260723"/>
          </a:xfrm>
          <a:prstGeom prst="roundRect">
            <a:avLst>
              <a:gd fmla="val 755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>
            <a:off x="4648200" y="1674912"/>
            <a:ext cx="4114800" cy="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6"/>
          <p:cNvSpPr/>
          <p:nvPr/>
        </p:nvSpPr>
        <p:spPr>
          <a:xfrm>
            <a:off x="4819650" y="1860649"/>
            <a:ext cx="384733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🍎 Mac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819650" y="2123480"/>
            <a:ext cx="384733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Opción 1: Ya viene instalado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819650" y="2353866"/>
            <a:ext cx="384733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Opción 2: Xcode Command Line Tools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819650" y="2603302"/>
            <a:ext cx="384733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xcode-select --install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81000" y="3188940"/>
            <a:ext cx="8382000" cy="1245691"/>
          </a:xfrm>
          <a:prstGeom prst="roundRect">
            <a:avLst>
              <a:gd fmla="val 611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33400" y="3341340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✓ Verificar instalación: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33400" y="3604171"/>
            <a:ext cx="8077200" cy="441871"/>
          </a:xfrm>
          <a:prstGeom prst="roundRect">
            <a:avLst>
              <a:gd fmla="val 1293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7700" y="3718471"/>
            <a:ext cx="800557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--version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33400" y="4122241"/>
            <a:ext cx="82387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Debe mostrar algo como: git version 2.43.0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81000" y="4587032"/>
            <a:ext cx="8382000" cy="401836"/>
          </a:xfrm>
          <a:prstGeom prst="roundRect">
            <a:avLst>
              <a:gd fmla="val 18963" name="adj"/>
            </a:avLst>
          </a:prstGeom>
          <a:solidFill>
            <a:srgbClr val="F85149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400050" y="4587032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6"/>
          <p:cNvSpPr/>
          <p:nvPr/>
        </p:nvSpPr>
        <p:spPr>
          <a:xfrm>
            <a:off x="571500" y="4701332"/>
            <a:ext cx="819988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⚠️ Si dice "git no reconocido", reiniciar la terminal o VS Code después de instalar.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2"/>
                </a:solidFill>
              </a:rPr>
              <a:t>‹#›</a:t>
            </a:fld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381000" y="304800"/>
            <a:ext cx="46148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funciona con comandos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81000" y="1279475"/>
            <a:ext cx="5067696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 se usa escribiendo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comandos en la terminal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 No hay botones ni interfaz gráfica (bueno, sí existen pero los profesionales usan comandos).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81000" y="2144167"/>
            <a:ext cx="4968329" cy="1127671"/>
          </a:xfrm>
          <a:prstGeom prst="roundRect">
            <a:avLst>
              <a:gd fmla="val 84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33400" y="2296567"/>
            <a:ext cx="47568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El comando más importante para empezar: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33400" y="2532757"/>
            <a:ext cx="4663529" cy="586680"/>
          </a:xfrm>
          <a:prstGeom prst="roundRect">
            <a:avLst>
              <a:gd fmla="val 9741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66750" y="2666107"/>
            <a:ext cx="448476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05032"/>
                </a:solidFill>
                <a:latin typeface="Courier New"/>
                <a:ea typeface="Courier New"/>
                <a:cs typeface="Courier New"/>
                <a:sym typeface="Courier New"/>
              </a:rPr>
              <a:t>git init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81000" y="3405188"/>
            <a:ext cx="4968329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14350" y="3538538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hace git init?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14350" y="3801368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Convierte una carpeta normal en un repositorio de Git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14350" y="4022229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Crea una carpeta oculta .git con todo el historial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14350" y="4243090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Solo se hace UNA vez por proyecto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577929" y="1268016"/>
            <a:ext cx="3185071" cy="3293120"/>
          </a:xfrm>
          <a:prstGeom prst="roundRect">
            <a:avLst>
              <a:gd fmla="val 299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768429" y="1458516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Antes y después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768429" y="1911846"/>
            <a:ext cx="2804071" cy="769441"/>
          </a:xfrm>
          <a:prstGeom prst="roundRect">
            <a:avLst>
              <a:gd fmla="val 742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882729" y="2026146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📁 mi-proyecto/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882729" y="2229892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archivo.py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882729" y="2433638"/>
            <a:ext cx="26269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Carpeta normal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740389" y="2928938"/>
            <a:ext cx="2860152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↓ git init ↓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768429" y="3416498"/>
            <a:ext cx="2804071" cy="954137"/>
          </a:xfrm>
          <a:prstGeom prst="roundRect">
            <a:avLst>
              <a:gd fmla="val 599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882729" y="3530798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📁 mi-proyecto/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882729" y="3734544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📁 .git/ (oculta)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882729" y="3919240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archivo.py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882729" y="4122986"/>
            <a:ext cx="26269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¡Repositorio Git!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¿Qué es un Repositorio?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81000" y="1727150"/>
            <a:ext cx="5324094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z="12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repositorio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(o "repo") es una carpeta de proyecto que Git está rastreando. Contiene tus archivos + todo el historial de cambios.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81000" y="2378422"/>
            <a:ext cx="2543175" cy="923627"/>
          </a:xfrm>
          <a:prstGeom prst="roundRect">
            <a:avLst>
              <a:gd fmla="val 1031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381000" y="2392710"/>
            <a:ext cx="2543175" cy="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>
            <a:off x="533400" y="2559397"/>
            <a:ext cx="22831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💻 Repo Local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33400" y="2803178"/>
            <a:ext cx="228314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Vive en tu computadora. Se crea con git init.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3057525" y="2378422"/>
            <a:ext cx="2543175" cy="923627"/>
          </a:xfrm>
          <a:prstGeom prst="roundRect">
            <a:avLst>
              <a:gd fmla="val 1031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8"/>
          <p:cNvCxnSpPr/>
          <p:nvPr/>
        </p:nvCxnSpPr>
        <p:spPr>
          <a:xfrm>
            <a:off x="3057525" y="2392710"/>
            <a:ext cx="2543175" cy="0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8"/>
          <p:cNvSpPr/>
          <p:nvPr/>
        </p:nvSpPr>
        <p:spPr>
          <a:xfrm>
            <a:off x="3209925" y="2559397"/>
            <a:ext cx="22831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☁️ Repo Remoto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209925" y="2803178"/>
            <a:ext cx="2283142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Vive en la nube (GitHub). Se sincroniza con tu repo local.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81000" y="3435400"/>
            <a:ext cx="5219700" cy="666750"/>
          </a:xfrm>
          <a:prstGeom prst="roundRect">
            <a:avLst>
              <a:gd fmla="val 11429" name="adj"/>
            </a:avLst>
          </a:prstGeom>
          <a:solidFill>
            <a:srgbClr val="F05032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8"/>
          <p:cNvCxnSpPr/>
          <p:nvPr/>
        </p:nvCxnSpPr>
        <p:spPr>
          <a:xfrm>
            <a:off x="400050" y="3435400"/>
            <a:ext cx="0" cy="666750"/>
          </a:xfrm>
          <a:prstGeom prst="straightConnector1">
            <a:avLst/>
          </a:prstGeom>
          <a:noFill/>
          <a:ln cap="flat" cmpd="sng" w="38100">
            <a:solidFill>
              <a:srgbClr val="F050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8"/>
          <p:cNvSpPr/>
          <p:nvPr/>
        </p:nvSpPr>
        <p:spPr>
          <a:xfrm>
            <a:off x="552450" y="3568750"/>
            <a:ext cx="50131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Analogía: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como una carpeta con superpoderes. Por fuera parece normal, pero por dentro tiene una máquina del tiempo que recuerda cada cambio.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829300" y="1506141"/>
            <a:ext cx="2933700" cy="2817019"/>
          </a:xfrm>
          <a:prstGeom prst="roundRect">
            <a:avLst>
              <a:gd fmla="val 33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019800" y="1696641"/>
            <a:ext cx="260375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Carpeta normal vs Repositorio: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019800" y="2123331"/>
            <a:ext cx="2552700" cy="788491"/>
          </a:xfrm>
          <a:prstGeom prst="roundRect">
            <a:avLst>
              <a:gd fmla="val 724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134100" y="2237631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📁 mi-proyecto/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134100" y="2441377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archivo.py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134100" y="2664172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Solo archivos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019800" y="3159472"/>
            <a:ext cx="2552700" cy="973187"/>
          </a:xfrm>
          <a:prstGeom prst="roundRect">
            <a:avLst>
              <a:gd fmla="val 587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134100" y="3273772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📁 mi-proyecto/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134100" y="3477518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📁 .git/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134100" y="3662214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📄 archivo.py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134100" y="3885009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Archivos + historial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381000" y="304800"/>
            <a:ext cx="47994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Configurar Git (solo una vez)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81000" y="1359545"/>
            <a:ext cx="506769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Antes de guardar cambios, Git necesita saber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QUIÉN eres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 Esta configuración se hace una sola vez por computadora.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81000" y="1980456"/>
            <a:ext cx="4968329" cy="1211312"/>
          </a:xfrm>
          <a:prstGeom prst="roundRect">
            <a:avLst>
              <a:gd fmla="val 786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33400" y="2132856"/>
            <a:ext cx="47568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Comandos de configuración: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33400" y="2388096"/>
            <a:ext cx="4663529" cy="651272"/>
          </a:xfrm>
          <a:prstGeom prst="roundRect">
            <a:avLst>
              <a:gd fmla="val 877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47700" y="2502396"/>
            <a:ext cx="452362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Courier New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user.name "Tu Nombre"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47700" y="2751832"/>
            <a:ext cx="452362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Courier New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user.email "tu@email.com"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81000" y="3325118"/>
            <a:ext cx="4968329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14350" y="3458468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¿Por qué es necesario?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14350" y="3721298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Cada cambio queda firmado con tu nombre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14350" y="3942159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Así se sabe quién hizo qué en equipo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14350" y="4163020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El email debe ser el de tu cuenta GitHub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577929" y="1335732"/>
            <a:ext cx="3185071" cy="3157835"/>
          </a:xfrm>
          <a:prstGeom prst="roundRect">
            <a:avLst>
              <a:gd fmla="val 301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768429" y="1526232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Local vs Global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768429" y="1979563"/>
            <a:ext cx="2804071" cy="719882"/>
          </a:xfrm>
          <a:prstGeom prst="roundRect">
            <a:avLst>
              <a:gd fmla="val 1058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882729" y="2093863"/>
            <a:ext cx="262698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--global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5882729" y="2291953"/>
            <a:ext cx="2626980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Aplica para TODOS tus proyectos en esta computadora. Se configura una vez.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768429" y="2947095"/>
            <a:ext cx="2804071" cy="719882"/>
          </a:xfrm>
          <a:prstGeom prst="roundRect">
            <a:avLst>
              <a:gd fmla="val 1058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882729" y="3061395"/>
            <a:ext cx="262698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--local (sin --global)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882729" y="3259485"/>
            <a:ext cx="2626980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Solo para ESE proyecto. Útil si necesitas otro email en un proyecto del trabajo.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768429" y="3819376"/>
            <a:ext cx="2804071" cy="483691"/>
          </a:xfrm>
          <a:prstGeom prst="roundRect">
            <a:avLst>
              <a:gd fmla="val 11815" name="adj"/>
            </a:avLst>
          </a:prstGeom>
          <a:solidFill>
            <a:srgbClr val="F05032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9"/>
          <p:cNvCxnSpPr/>
          <p:nvPr/>
        </p:nvCxnSpPr>
        <p:spPr>
          <a:xfrm>
            <a:off x="5782717" y="3819376"/>
            <a:ext cx="0" cy="483691"/>
          </a:xfrm>
          <a:prstGeom prst="straightConnector1">
            <a:avLst/>
          </a:prstGeom>
          <a:noFill/>
          <a:ln cap="flat" cmpd="sng" w="28575">
            <a:solidFill>
              <a:srgbClr val="F050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5892254" y="3914626"/>
            <a:ext cx="263669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99% del tiempo usamos --global. Usa el mismo email que en GitHub.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381000" y="304800"/>
            <a:ext cx="59167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Commit - Guardar en el historial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81000" y="1581299"/>
            <a:ext cx="489661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como tomar una "foto" de tu proyecto en ese momento. Queda guardada para siempre en el historial.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81000" y="2202210"/>
            <a:ext cx="4800600" cy="988665"/>
          </a:xfrm>
          <a:prstGeom prst="roundRect">
            <a:avLst>
              <a:gd fmla="val 96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33400" y="2354610"/>
            <a:ext cx="458571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33400" y="2609850"/>
            <a:ext cx="4495800" cy="428625"/>
          </a:xfrm>
          <a:prstGeom prst="roundRect">
            <a:avLst>
              <a:gd fmla="val 1333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7700" y="2724150"/>
            <a:ext cx="43525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"Mensaje del cambio"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81000" y="3324225"/>
            <a:ext cx="4800600" cy="923627"/>
          </a:xfrm>
          <a:prstGeom prst="roundRect">
            <a:avLst>
              <a:gd fmla="val 825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14350" y="3457575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El flujo completo: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14350" y="3720405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git add archivo.txt → Preparar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14350" y="3941266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git commit -m "mensaje" → Guardar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410200" y="908893"/>
            <a:ext cx="3352800" cy="4011662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600700" y="1099393"/>
            <a:ext cx="303123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Buenos mensajes de commit: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600700" y="1552724"/>
            <a:ext cx="2971800" cy="350490"/>
          </a:xfrm>
          <a:prstGeom prst="roundRect">
            <a:avLst>
              <a:gd fmla="val 1630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695950" y="1647974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✓ "Agrega función de login"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600700" y="2131814"/>
            <a:ext cx="2971800" cy="350490"/>
          </a:xfrm>
          <a:prstGeom prst="roundRect">
            <a:avLst>
              <a:gd fmla="val 1630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695950" y="2227064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✓ "Corrige error en cálculo"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600700" y="2710904"/>
            <a:ext cx="2971800" cy="350490"/>
          </a:xfrm>
          <a:prstGeom prst="roundRect">
            <a:avLst>
              <a:gd fmla="val 1630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695950" y="2806154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✓ "Actualiza estilos del menú"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600700" y="3404295"/>
            <a:ext cx="303123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Malos mensajes: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600700" y="3819525"/>
            <a:ext cx="2971800" cy="350490"/>
          </a:xfrm>
          <a:prstGeom prst="roundRect">
            <a:avLst>
              <a:gd fmla="val 1630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95950" y="3914775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✗ "asdfasdf"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600700" y="4379565"/>
            <a:ext cx="2971800" cy="350490"/>
          </a:xfrm>
          <a:prstGeom prst="roundRect">
            <a:avLst>
              <a:gd fmla="val 1630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695950" y="4474815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✗ "cambios"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Log - Ver el historial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81000" y="1653629"/>
            <a:ext cx="472568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¿Recuerdas que Git guarda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TODO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el historial? Con git log puedes verlo.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81000" y="2274540"/>
            <a:ext cx="4633020" cy="1900982"/>
          </a:xfrm>
          <a:prstGeom prst="roundRect">
            <a:avLst>
              <a:gd fmla="val 501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33400" y="2426940"/>
            <a:ext cx="441478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33400" y="2682180"/>
            <a:ext cx="4328220" cy="632371"/>
          </a:xfrm>
          <a:prstGeom prst="roundRect">
            <a:avLst>
              <a:gd fmla="val 903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47700" y="2796480"/>
            <a:ext cx="41816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log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47700" y="3053655"/>
            <a:ext cx="418161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Vista completa (presiona Q para salir)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33400" y="3390751"/>
            <a:ext cx="4328220" cy="632371"/>
          </a:xfrm>
          <a:prstGeom prst="roundRect">
            <a:avLst>
              <a:gd fmla="val 903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47700" y="3505051"/>
            <a:ext cx="41816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log --oneline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47700" y="3762226"/>
            <a:ext cx="418161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Vista resumida (un commit por línea)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242620" y="1360289"/>
            <a:ext cx="3520380" cy="3108722"/>
          </a:xfrm>
          <a:prstGeom prst="roundRect">
            <a:avLst>
              <a:gd fmla="val 306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433120" y="1550789"/>
            <a:ext cx="32021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muestra cada commit?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433120" y="2004120"/>
            <a:ext cx="3139380" cy="1466850"/>
          </a:xfrm>
          <a:prstGeom prst="roundRect">
            <a:avLst>
              <a:gd fmla="val 519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566470" y="2137470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commit a1b2c3d4...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566470" y="2442270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Author: Tu Nombre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5566470" y="2728020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Date: Jan 9 2025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566470" y="3070920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Mi primer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33120" y="3737670"/>
            <a:ext cx="3139380" cy="540841"/>
          </a:xfrm>
          <a:prstGeom prst="roundRect">
            <a:avLst>
              <a:gd fmla="val 105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528370" y="3832920"/>
            <a:ext cx="30078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Cada commit tiene: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5528370" y="4036665"/>
            <a:ext cx="30078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Hash (ID único), Autor, Fecha, Mensaje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El flujo de Git: 3 áreas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81000" y="99060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Entender estas 3 áreas explica por qué usamos </a:t>
            </a:r>
            <a:r>
              <a:rPr b="0" i="0" lang="en-US" sz="12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add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y luego </a:t>
            </a:r>
            <a:r>
              <a:rPr b="0" i="0" lang="en-US" sz="12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381000" y="1356271"/>
            <a:ext cx="2717750" cy="1405533"/>
          </a:xfrm>
          <a:prstGeom prst="roundRect">
            <a:avLst>
              <a:gd fmla="val 677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2"/>
          <p:cNvCxnSpPr/>
          <p:nvPr/>
        </p:nvCxnSpPr>
        <p:spPr>
          <a:xfrm>
            <a:off x="381000" y="1375321"/>
            <a:ext cx="2717750" cy="0"/>
          </a:xfrm>
          <a:prstGeom prst="straightConnector1">
            <a:avLst/>
          </a:prstGeom>
          <a:noFill/>
          <a:ln cap="flat" cmpd="sng" w="381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2"/>
          <p:cNvSpPr/>
          <p:nvPr/>
        </p:nvSpPr>
        <p:spPr>
          <a:xfrm>
            <a:off x="533400" y="1546771"/>
            <a:ext cx="24612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📁 Working Directory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533400" y="1803946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Directorio de trabajo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533400" y="2040136"/>
            <a:ext cx="246120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Tu carpeta normal. Donde editas archivos. Git VE los cambios pero no los guarda.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33400" y="2462808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En git status: ROJO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213050" y="1356271"/>
            <a:ext cx="2717750" cy="1405533"/>
          </a:xfrm>
          <a:prstGeom prst="roundRect">
            <a:avLst>
              <a:gd fmla="val 677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2"/>
          <p:cNvCxnSpPr/>
          <p:nvPr/>
        </p:nvCxnSpPr>
        <p:spPr>
          <a:xfrm>
            <a:off x="3213050" y="1375321"/>
            <a:ext cx="2717750" cy="0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2"/>
          <p:cNvSpPr/>
          <p:nvPr/>
        </p:nvSpPr>
        <p:spPr>
          <a:xfrm>
            <a:off x="3365450" y="1546771"/>
            <a:ext cx="24612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📦 Staging Area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365450" y="1803946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Área de preparación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365450" y="2040136"/>
            <a:ext cx="246120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Archivos listos para guardar. Los pusiste aquí con git add.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365450" y="2462808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En git status: VERDE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045101" y="1356271"/>
            <a:ext cx="2717750" cy="1405533"/>
          </a:xfrm>
          <a:prstGeom prst="roundRect">
            <a:avLst>
              <a:gd fmla="val 677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12"/>
          <p:cNvCxnSpPr/>
          <p:nvPr/>
        </p:nvCxnSpPr>
        <p:spPr>
          <a:xfrm>
            <a:off x="6045101" y="1375321"/>
            <a:ext cx="2717750" cy="0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2"/>
          <p:cNvSpPr/>
          <p:nvPr/>
        </p:nvSpPr>
        <p:spPr>
          <a:xfrm>
            <a:off x="6197501" y="1546771"/>
            <a:ext cx="24612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🗄️ Repository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197501" y="1803946"/>
            <a:ext cx="2461209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Historial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197501" y="2040136"/>
            <a:ext cx="2461209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Guardado permanente. git commit toma lo de staging y lo guarda aquí.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197501" y="2462808"/>
            <a:ext cx="246120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Ver con: git log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381000" y="4293989"/>
            <a:ext cx="8382000" cy="544711"/>
          </a:xfrm>
          <a:prstGeom prst="roundRect">
            <a:avLst>
              <a:gd fmla="val 1398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2475655" y="4473029"/>
            <a:ext cx="54163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Working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3086469" y="4446389"/>
            <a:ext cx="1748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3331016" y="4486275"/>
            <a:ext cx="49139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add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892076" y="4446389"/>
            <a:ext cx="1748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136550" y="4473029"/>
            <a:ext cx="49883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704975" y="4446389"/>
            <a:ext cx="1748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947458" y="4486275"/>
            <a:ext cx="70194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717006" y="4446389"/>
            <a:ext cx="17487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959406" y="4473029"/>
            <a:ext cx="7104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"/>
          <p:cNvSpPr/>
          <p:nvPr/>
        </p:nvSpPr>
        <p:spPr>
          <a:xfrm>
            <a:off x="381000" y="304800"/>
            <a:ext cx="4653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.gitignore - Ignorar archivos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81000" y="1404491"/>
            <a:ext cx="489661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 archivo especial que le dice a Git qué archivos </a:t>
            </a:r>
            <a:r>
              <a:rPr b="1" i="0" lang="en-US" sz="12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NO debe rastrear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81000" y="1781621"/>
            <a:ext cx="4800600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14350" y="1914971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¿Por qué ignorar archivos?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14350" y="2177802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Archivos temporales del editor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14350" y="2398663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Carpetas de dependencias (__pycache__)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14350" y="2619524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Archivos con contraseñas (.env)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14350" y="2840385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Archivos muy pesados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81000" y="3280321"/>
            <a:ext cx="4800600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14350" y="3413671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¿Cómo usarlo?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514350" y="3676501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Crear archivo llamado .gitignore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14350" y="3897362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Escribir nombres a ignorar (uno por línea)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514350" y="4118223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Git los ignora automáticamente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410200" y="973634"/>
            <a:ext cx="3352800" cy="3882182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5600700" y="116413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Ejemplo de .gitignore: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600700" y="1571774"/>
            <a:ext cx="2971800" cy="2457450"/>
          </a:xfrm>
          <a:prstGeom prst="roundRect">
            <a:avLst>
              <a:gd fmla="val 3101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5734050" y="170512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# Archivos de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5734050" y="200992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__pycache__/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5734050" y="229567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*.pyc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734050" y="265762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# Contraseñas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734050" y="296242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.env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734050" y="332437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# VS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5734050" y="3629174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.vscode/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5600700" y="4181624"/>
            <a:ext cx="2971800" cy="483691"/>
          </a:xfrm>
          <a:prstGeom prst="roundRect">
            <a:avLst>
              <a:gd fmla="val 11815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13"/>
          <p:cNvCxnSpPr/>
          <p:nvPr/>
        </p:nvCxnSpPr>
        <p:spPr>
          <a:xfrm>
            <a:off x="5614988" y="4181624"/>
            <a:ext cx="0" cy="483691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3"/>
          <p:cNvSpPr/>
          <p:nvPr/>
        </p:nvSpPr>
        <p:spPr>
          <a:xfrm>
            <a:off x="5724525" y="4276874"/>
            <a:ext cx="2807779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El archivo empieza con punto (.) por eso puede aparecer oculto.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Branches (Ramas)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381000" y="1521470"/>
            <a:ext cx="506769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rama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una línea de tiempo paralela de tu proyecto. Puedes trabajar en algo nuevo sin afectar el código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381000" y="2142381"/>
            <a:ext cx="4968329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14350" y="2275731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¿Para qué sirven?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514350" y="2538561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Experimentar sin romper lo que funciona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14350" y="2759422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Trabajar en nuevas funciones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14350" y="298028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Corregir errores de forma aislada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14350" y="3201144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Varios desarrolladores trabajando a la vez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381000" y="3641080"/>
            <a:ext cx="4968329" cy="666750"/>
          </a:xfrm>
          <a:prstGeom prst="roundRect">
            <a:avLst>
              <a:gd fmla="val 11429" name="adj"/>
            </a:avLst>
          </a:prstGeom>
          <a:solidFill>
            <a:srgbClr val="F05032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4"/>
          <p:cNvCxnSpPr/>
          <p:nvPr/>
        </p:nvCxnSpPr>
        <p:spPr>
          <a:xfrm>
            <a:off x="400050" y="3641080"/>
            <a:ext cx="0" cy="666750"/>
          </a:xfrm>
          <a:prstGeom prst="straightConnector1">
            <a:avLst/>
          </a:prstGeom>
          <a:noFill/>
          <a:ln cap="flat" cmpd="sng" w="38100">
            <a:solidFill>
              <a:srgbClr val="F050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14"/>
          <p:cNvSpPr/>
          <p:nvPr/>
        </p:nvSpPr>
        <p:spPr>
          <a:xfrm>
            <a:off x="552450" y="3774430"/>
            <a:ext cx="4756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Analogía: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como hacer una copia de tu documento para probar una idea loca. Si funciona, la unes. Si no, la borras.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5577929" y="1397496"/>
            <a:ext cx="3185071" cy="3034159"/>
          </a:xfrm>
          <a:prstGeom prst="roundRect">
            <a:avLst>
              <a:gd fmla="val 313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768429" y="1587996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La rama principal: 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5768429" y="2041327"/>
            <a:ext cx="2804071" cy="826591"/>
          </a:xfrm>
          <a:prstGeom prst="roundRect">
            <a:avLst>
              <a:gd fmla="val 921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5901779" y="2174677"/>
            <a:ext cx="25881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Por defecto Git crea una rama llamada </a:t>
            </a: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5901779" y="2441377"/>
            <a:ext cx="2588118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Es la rama "oficial" del proyecto. El código que funciona vive aquí.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5768429" y="3134618"/>
            <a:ext cx="2804071" cy="693241"/>
          </a:xfrm>
          <a:prstGeom prst="roundRect">
            <a:avLst>
              <a:gd fmla="val 824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5856975" y="3248918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o ── o ── o ── o  main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5856975" y="3433614"/>
            <a:ext cx="262698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856975" y="3566964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o ── o  mi-rama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768429" y="4094559"/>
            <a:ext cx="286015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(Antes se llamaba "master", ahora se usa "main")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Comandos de Branch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381000" y="1007120"/>
            <a:ext cx="4124325" cy="1182737"/>
          </a:xfrm>
          <a:prstGeom prst="roundRect">
            <a:avLst>
              <a:gd fmla="val 8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5"/>
          <p:cNvCxnSpPr/>
          <p:nvPr/>
        </p:nvCxnSpPr>
        <p:spPr>
          <a:xfrm>
            <a:off x="381000" y="1021407"/>
            <a:ext cx="4124325" cy="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15"/>
          <p:cNvSpPr/>
          <p:nvPr/>
        </p:nvSpPr>
        <p:spPr>
          <a:xfrm>
            <a:off x="533400" y="1188095"/>
            <a:ext cx="38959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Ver ramas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33400" y="1450925"/>
            <a:ext cx="3819525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628650" y="1546175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branch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533400" y="1890861"/>
            <a:ext cx="38959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Lista todas las ramas. La actual tiene un *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4638675" y="1007120"/>
            <a:ext cx="4124325" cy="1182737"/>
          </a:xfrm>
          <a:prstGeom prst="roundRect">
            <a:avLst>
              <a:gd fmla="val 8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15"/>
          <p:cNvCxnSpPr/>
          <p:nvPr/>
        </p:nvCxnSpPr>
        <p:spPr>
          <a:xfrm>
            <a:off x="4638675" y="1021407"/>
            <a:ext cx="4124325" cy="0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5"/>
          <p:cNvSpPr/>
          <p:nvPr/>
        </p:nvSpPr>
        <p:spPr>
          <a:xfrm>
            <a:off x="4791075" y="1188095"/>
            <a:ext cx="38959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Crear rama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4791075" y="1450925"/>
            <a:ext cx="3819525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4886325" y="1546175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branch nombre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791075" y="1890861"/>
            <a:ext cx="38959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Crea la rama pero no te cambia a ella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81000" y="2323207"/>
            <a:ext cx="4124325" cy="1182737"/>
          </a:xfrm>
          <a:prstGeom prst="roundRect">
            <a:avLst>
              <a:gd fmla="val 8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5"/>
          <p:cNvCxnSpPr/>
          <p:nvPr/>
        </p:nvCxnSpPr>
        <p:spPr>
          <a:xfrm>
            <a:off x="381000" y="2337495"/>
            <a:ext cx="4124325" cy="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5"/>
          <p:cNvSpPr/>
          <p:nvPr/>
        </p:nvSpPr>
        <p:spPr>
          <a:xfrm>
            <a:off x="533400" y="2504182"/>
            <a:ext cx="38959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Cambiar de rama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533400" y="2767013"/>
            <a:ext cx="3819525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628650" y="2862263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checkout nombre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33400" y="3206948"/>
            <a:ext cx="38959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Te mueve a esa rama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638675" y="2323207"/>
            <a:ext cx="4124325" cy="1182737"/>
          </a:xfrm>
          <a:prstGeom prst="roundRect">
            <a:avLst>
              <a:gd fmla="val 8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5"/>
          <p:cNvCxnSpPr/>
          <p:nvPr/>
        </p:nvCxnSpPr>
        <p:spPr>
          <a:xfrm>
            <a:off x="4638675" y="2337495"/>
            <a:ext cx="4124325" cy="0"/>
          </a:xfrm>
          <a:prstGeom prst="straightConnector1">
            <a:avLst/>
          </a:prstGeom>
          <a:noFill/>
          <a:ln cap="flat" cmpd="sng" w="28575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5"/>
          <p:cNvSpPr/>
          <p:nvPr/>
        </p:nvSpPr>
        <p:spPr>
          <a:xfrm>
            <a:off x="4791075" y="2504182"/>
            <a:ext cx="38959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Crear y cambiar (atajo)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791075" y="2767013"/>
            <a:ext cx="3819525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886325" y="2862263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checkout -b nombre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791075" y="3206948"/>
            <a:ext cx="38959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Crea la rama Y te cambia a ella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381000" y="3639294"/>
            <a:ext cx="4124325" cy="1182737"/>
          </a:xfrm>
          <a:prstGeom prst="roundRect">
            <a:avLst>
              <a:gd fmla="val 8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15"/>
          <p:cNvCxnSpPr/>
          <p:nvPr/>
        </p:nvCxnSpPr>
        <p:spPr>
          <a:xfrm>
            <a:off x="381000" y="3653582"/>
            <a:ext cx="4124325" cy="0"/>
          </a:xfrm>
          <a:prstGeom prst="straightConnector1">
            <a:avLst/>
          </a:prstGeom>
          <a:noFill/>
          <a:ln cap="flat" cmpd="sng" w="285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15"/>
          <p:cNvSpPr/>
          <p:nvPr/>
        </p:nvSpPr>
        <p:spPr>
          <a:xfrm>
            <a:off x="533400" y="3820269"/>
            <a:ext cx="38959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Renombrar rama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533400" y="4083100"/>
            <a:ext cx="3819525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628650" y="4178350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branch -m nuevo-nombre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33400" y="4523036"/>
            <a:ext cx="38959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Renombra la rama actual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4638675" y="3639294"/>
            <a:ext cx="4124325" cy="1182737"/>
          </a:xfrm>
          <a:prstGeom prst="roundRect">
            <a:avLst>
              <a:gd fmla="val 8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15"/>
          <p:cNvCxnSpPr/>
          <p:nvPr/>
        </p:nvCxnSpPr>
        <p:spPr>
          <a:xfrm>
            <a:off x="4638675" y="3653582"/>
            <a:ext cx="4124325" cy="0"/>
          </a:xfrm>
          <a:prstGeom prst="straightConnector1">
            <a:avLst/>
          </a:prstGeom>
          <a:noFill/>
          <a:ln cap="flat" cmpd="sng" w="28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15"/>
          <p:cNvSpPr/>
          <p:nvPr/>
        </p:nvSpPr>
        <p:spPr>
          <a:xfrm>
            <a:off x="4791075" y="3820269"/>
            <a:ext cx="389591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Eliminar rama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4791075" y="4083100"/>
            <a:ext cx="3819525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886325" y="4178350"/>
            <a:ext cx="3701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branch -d nombre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791075" y="4523036"/>
            <a:ext cx="38959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Elimina una rama (debes estar en otra)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Merge - Unir ramas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381000" y="1369070"/>
            <a:ext cx="506769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Cuando terminas de trabajar en una rama, puedes </a:t>
            </a:r>
            <a:r>
              <a:rPr b="1" i="0" lang="en-US" sz="12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unir los cambios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a la rama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381000" y="1989981"/>
            <a:ext cx="4968329" cy="1935063"/>
          </a:xfrm>
          <a:prstGeom prst="roundRect">
            <a:avLst>
              <a:gd fmla="val 4922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533400" y="2142381"/>
            <a:ext cx="47568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Pasos para hacer merge: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33400" y="2424261"/>
            <a:ext cx="47568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Cambiar a la rama destino (main):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533400" y="2687092"/>
            <a:ext cx="4663529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628650" y="2782342"/>
            <a:ext cx="456249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checkout main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533400" y="3146078"/>
            <a:ext cx="47568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Unir la otra rama: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33400" y="3408908"/>
            <a:ext cx="4663529" cy="363736"/>
          </a:xfrm>
          <a:prstGeom prst="roundRect">
            <a:avLst>
              <a:gd fmla="val 1571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28650" y="3504158"/>
            <a:ext cx="456249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merge mi-rama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381000" y="4058394"/>
            <a:ext cx="4968329" cy="401836"/>
          </a:xfrm>
          <a:prstGeom prst="roundRect">
            <a:avLst>
              <a:gd fmla="val 18963" name="adj"/>
            </a:avLst>
          </a:prstGeom>
          <a:solidFill>
            <a:srgbClr val="23863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16"/>
          <p:cNvCxnSpPr/>
          <p:nvPr/>
        </p:nvCxnSpPr>
        <p:spPr>
          <a:xfrm>
            <a:off x="400050" y="4058394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1" name="Google Shape;461;p16"/>
          <p:cNvSpPr/>
          <p:nvPr/>
        </p:nvSpPr>
        <p:spPr>
          <a:xfrm>
            <a:off x="533400" y="4172694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Los cambios de "mi-rama" ahora están en "main".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577929" y="795486"/>
            <a:ext cx="3185071" cy="4238327"/>
          </a:xfrm>
          <a:prstGeom prst="roundRect">
            <a:avLst>
              <a:gd fmla="val 299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768429" y="985986"/>
            <a:ext cx="286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Visual del merge: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5768429" y="1412677"/>
            <a:ext cx="2804071" cy="2609850"/>
          </a:xfrm>
          <a:prstGeom prst="roundRect">
            <a:avLst>
              <a:gd fmla="val 292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5901779" y="154602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Antes: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901779" y="185082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o ── o ── o  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5901779" y="213657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5901779" y="240327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o ── o  mi-rama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5901779" y="276522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Después del merge: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901779" y="307002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o ── o ── o ── o  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5901779" y="335577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↘     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5901779" y="3622477"/>
            <a:ext cx="258811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o ── 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768429" y="4174927"/>
            <a:ext cx="2804071" cy="668387"/>
          </a:xfrm>
          <a:prstGeom prst="roundRect">
            <a:avLst>
              <a:gd fmla="val 8550" name="adj"/>
            </a:avLst>
          </a:prstGeom>
          <a:solidFill>
            <a:srgbClr val="F85149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6"/>
          <p:cNvCxnSpPr/>
          <p:nvPr/>
        </p:nvCxnSpPr>
        <p:spPr>
          <a:xfrm>
            <a:off x="5782717" y="4174927"/>
            <a:ext cx="0" cy="668387"/>
          </a:xfrm>
          <a:prstGeom prst="straightConnector1">
            <a:avLst/>
          </a:prstGeom>
          <a:noFill/>
          <a:ln cap="flat" cmpd="sng" w="28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6"/>
          <p:cNvSpPr/>
          <p:nvPr/>
        </p:nvSpPr>
        <p:spPr>
          <a:xfrm>
            <a:off x="5892254" y="4270177"/>
            <a:ext cx="263669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Conflictos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5892254" y="4454872"/>
            <a:ext cx="263669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Si dos personas modificaron lo mismo, Git pedirá que resuelvas el conflicto manualmente.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/>
          <p:nvPr/>
        </p:nvSpPr>
        <p:spPr>
          <a:xfrm>
            <a:off x="381000" y="304800"/>
            <a:ext cx="482860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Reset - Quitar del staging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381000" y="1281261"/>
            <a:ext cx="506769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¿Agregaste un archivo con git add pero </a:t>
            </a:r>
            <a:r>
              <a:rPr b="1" i="0" lang="en-US" sz="12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te arrepentiste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? Con git reset lo quitas del staging.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381000" y="1902172"/>
            <a:ext cx="4968329" cy="988665"/>
          </a:xfrm>
          <a:prstGeom prst="roundRect">
            <a:avLst>
              <a:gd fmla="val 96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533400" y="2054572"/>
            <a:ext cx="47568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Quitar UN archivo del staging: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533400" y="2309813"/>
            <a:ext cx="4663529" cy="428625"/>
          </a:xfrm>
          <a:prstGeom prst="roundRect">
            <a:avLst>
              <a:gd fmla="val 1333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47700" y="2424113"/>
            <a:ext cx="452362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reset archivo.txt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381000" y="3024188"/>
            <a:ext cx="4968329" cy="988665"/>
          </a:xfrm>
          <a:prstGeom prst="roundRect">
            <a:avLst>
              <a:gd fmla="val 96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533400" y="3176588"/>
            <a:ext cx="47568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Quitar TODO del staging: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533400" y="3431828"/>
            <a:ext cx="4663529" cy="428625"/>
          </a:xfrm>
          <a:prstGeom prst="roundRect">
            <a:avLst>
              <a:gd fmla="val 1333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647700" y="3546128"/>
            <a:ext cx="452362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reset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381000" y="4146203"/>
            <a:ext cx="4968329" cy="401836"/>
          </a:xfrm>
          <a:prstGeom prst="roundRect">
            <a:avLst>
              <a:gd fmla="val 18963" name="adj"/>
            </a:avLst>
          </a:prstGeom>
          <a:solidFill>
            <a:srgbClr val="23863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4" name="Google Shape;494;p17"/>
          <p:cNvCxnSpPr/>
          <p:nvPr/>
        </p:nvCxnSpPr>
        <p:spPr>
          <a:xfrm>
            <a:off x="400050" y="4146203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17"/>
          <p:cNvSpPr/>
          <p:nvPr/>
        </p:nvSpPr>
        <p:spPr>
          <a:xfrm>
            <a:off x="533400" y="426050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Los cambios NO se pierden, solo se "despreparan".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577929" y="1354634"/>
            <a:ext cx="3185071" cy="3120033"/>
          </a:xfrm>
          <a:prstGeom prst="roundRect">
            <a:avLst>
              <a:gd fmla="val 3053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5768429" y="1545134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pasa con reset?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5768429" y="1998464"/>
            <a:ext cx="2804071" cy="782836"/>
          </a:xfrm>
          <a:prstGeom prst="roundRect">
            <a:avLst>
              <a:gd fmla="val 973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5901779" y="2131814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Antes (después de git add):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901779" y="2335560"/>
            <a:ext cx="25881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📄 archivo.txt VERDE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901779" y="2514600"/>
            <a:ext cx="258811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En Staging Area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5740389" y="3048000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↓ git reset archivo.txt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5768429" y="3501330"/>
            <a:ext cx="2804071" cy="782836"/>
          </a:xfrm>
          <a:prstGeom prst="roundRect">
            <a:avLst>
              <a:gd fmla="val 973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5901779" y="3634680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Después: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901779" y="3838426"/>
            <a:ext cx="25881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📄 archivo.txt ROJO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5901779" y="4017466"/>
            <a:ext cx="258811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En Working Directory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¿Qué es GitHub?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381000" y="1377851"/>
            <a:ext cx="5067696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GitHub es una </a:t>
            </a:r>
            <a:r>
              <a:rPr b="1" i="0" lang="en-US" sz="12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plataforma en la nube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para guardar tus repositorios Git. Permite colaborar con otros y tener respaldo de tu código.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381000" y="2029123"/>
            <a:ext cx="4968329" cy="923627"/>
          </a:xfrm>
          <a:prstGeom prst="roundRect">
            <a:avLst>
              <a:gd fmla="val 8250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514350" y="2162473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Git vs 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514350" y="242530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= Software en tu computadora (local)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514350" y="2646164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= Plataforma en internet (remoto)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381000" y="3086100"/>
            <a:ext cx="4968329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514350" y="3219450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¿Para qué sirve?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514350" y="3482280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Respaldo en la nube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514350" y="3703141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Colaborar con otros desarrolladores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514350" y="3924002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Portafolio profesional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514350" y="414486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Acceder a tu código desde cualquier lugar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5577929" y="1173807"/>
            <a:ext cx="3185071" cy="3481685"/>
          </a:xfrm>
          <a:prstGeom prst="roundRect">
            <a:avLst>
              <a:gd fmla="val 299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5768429" y="1364307"/>
            <a:ext cx="286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Local + Remoto: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5768429" y="1790998"/>
            <a:ext cx="2804071" cy="982712"/>
          </a:xfrm>
          <a:prstGeom prst="roundRect">
            <a:avLst>
              <a:gd fmla="val 775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5876406" y="1924348"/>
            <a:ext cx="258811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5876406" y="2301478"/>
            <a:ext cx="25881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Tu computadora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5876406" y="2493764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Repo Local (Git)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5740389" y="3021360"/>
            <a:ext cx="286015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↕ sincronizar 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5768429" y="3482280"/>
            <a:ext cx="2804071" cy="982712"/>
          </a:xfrm>
          <a:prstGeom prst="roundRect">
            <a:avLst>
              <a:gd fmla="val 775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5876406" y="3615630"/>
            <a:ext cx="258811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☁️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5876406" y="3992761"/>
            <a:ext cx="25881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5876406" y="4185047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Repo Remoto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"/>
          <p:cNvSpPr/>
          <p:nvPr/>
        </p:nvSpPr>
        <p:spPr>
          <a:xfrm>
            <a:off x="381000" y="304800"/>
            <a:ext cx="461486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Crear repositorio en GitHub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381000" y="1335881"/>
            <a:ext cx="5219700" cy="1643360"/>
          </a:xfrm>
          <a:prstGeom prst="roundRect">
            <a:avLst>
              <a:gd fmla="val 463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514350" y="1469231"/>
            <a:ext cx="505206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Pasos: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514350" y="1751112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Ir a github.com e iniciar sesión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514350" y="1981498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Click en "+" → "New repository"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514350" y="2211884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Nombre del repositorio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514350" y="2442270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Elegir Público o Privado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514350" y="2672655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Click "Create repository"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381000" y="3112591"/>
            <a:ext cx="2552700" cy="845641"/>
          </a:xfrm>
          <a:prstGeom prst="roundRect">
            <a:avLst>
              <a:gd fmla="val 901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19"/>
          <p:cNvCxnSpPr/>
          <p:nvPr/>
        </p:nvCxnSpPr>
        <p:spPr>
          <a:xfrm>
            <a:off x="381000" y="3126879"/>
            <a:ext cx="2552700" cy="0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19"/>
          <p:cNvSpPr/>
          <p:nvPr/>
        </p:nvSpPr>
        <p:spPr>
          <a:xfrm>
            <a:off x="514350" y="3274516"/>
            <a:ext cx="23317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🌍 Público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514350" y="3504902"/>
            <a:ext cx="233172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Cualquiera puede ver tu código. Ideal para proyectos open source y portafolio.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3048000" y="3112591"/>
            <a:ext cx="2552700" cy="845641"/>
          </a:xfrm>
          <a:prstGeom prst="roundRect">
            <a:avLst>
              <a:gd fmla="val 901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19"/>
          <p:cNvCxnSpPr/>
          <p:nvPr/>
        </p:nvCxnSpPr>
        <p:spPr>
          <a:xfrm>
            <a:off x="3048000" y="3126879"/>
            <a:ext cx="2552700" cy="0"/>
          </a:xfrm>
          <a:prstGeom prst="straightConnector1">
            <a:avLst/>
          </a:prstGeom>
          <a:noFill/>
          <a:ln cap="flat" cmpd="sng" w="28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19"/>
          <p:cNvSpPr/>
          <p:nvPr/>
        </p:nvSpPr>
        <p:spPr>
          <a:xfrm>
            <a:off x="3181350" y="3274516"/>
            <a:ext cx="23317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🔒 Privado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3181350" y="3504902"/>
            <a:ext cx="233172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Solo tú y quienes invites pueden verlo. Para proyectos personales o de trabajo.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381000" y="4091583"/>
            <a:ext cx="5219700" cy="401836"/>
          </a:xfrm>
          <a:prstGeom prst="roundRect">
            <a:avLst>
              <a:gd fmla="val 18963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19"/>
          <p:cNvCxnSpPr/>
          <p:nvPr/>
        </p:nvCxnSpPr>
        <p:spPr>
          <a:xfrm>
            <a:off x="400050" y="4091583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19"/>
          <p:cNvSpPr/>
          <p:nvPr/>
        </p:nvSpPr>
        <p:spPr>
          <a:xfrm>
            <a:off x="533400" y="4205883"/>
            <a:ext cx="505206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Ambos son gratis. Puedes cambiar de público a privado después.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5829300" y="1329928"/>
            <a:ext cx="2933700" cy="3169444"/>
          </a:xfrm>
          <a:prstGeom prst="roundRect">
            <a:avLst>
              <a:gd fmla="val 32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6019800" y="1520428"/>
            <a:ext cx="260375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Opciones al crear: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6019800" y="1947118"/>
            <a:ext cx="2552700" cy="719882"/>
          </a:xfrm>
          <a:prstGeom prst="roundRect">
            <a:avLst>
              <a:gd fmla="val 793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6134100" y="2061418"/>
            <a:ext cx="23705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6134100" y="2259509"/>
            <a:ext cx="2370582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Archivo de descripción. Opcional pero recomendado.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6019800" y="2914650"/>
            <a:ext cx="2552700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6134100" y="3028950"/>
            <a:ext cx="23705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.gitignore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6134100" y="3227040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GitHub puede crear uno por ti según el lenguaje.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6019800" y="3735586"/>
            <a:ext cx="2552700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6134100" y="3849886"/>
            <a:ext cx="23705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License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6134100" y="4047976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Define cómo otros pueden usar tu código.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0"/>
          <p:cNvSpPr/>
          <p:nvPr/>
        </p:nvSpPr>
        <p:spPr>
          <a:xfrm>
            <a:off x="381000" y="266700"/>
            <a:ext cx="451770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Conectar Local con GitHub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381000" y="842516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Ahora vamos a conectar tu repo local con GitHub y subir tu código: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381000" y="1151037"/>
            <a:ext cx="8382000" cy="1192262"/>
          </a:xfrm>
          <a:prstGeom prst="roundRect">
            <a:avLst>
              <a:gd fmla="val 798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533400" y="1303437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1. Agregar el remote (conexión a GitHub):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533400" y="1566267"/>
            <a:ext cx="8077200" cy="401836"/>
          </a:xfrm>
          <a:prstGeom prst="roundRect">
            <a:avLst>
              <a:gd fmla="val 1422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647700" y="1680567"/>
            <a:ext cx="800557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Courier New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remote add origin https://github.com/usuario/repo.git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533400" y="2044303"/>
            <a:ext cx="823874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"origin" es el nombre que le damos a la conexión. Es el estándar.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381000" y="2438549"/>
            <a:ext cx="8382000" cy="1893094"/>
          </a:xfrm>
          <a:prstGeom prst="roundRect">
            <a:avLst>
              <a:gd fmla="val 503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533400" y="2590949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2. Subir cambios (push):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533400" y="2853779"/>
            <a:ext cx="8077200" cy="401836"/>
          </a:xfrm>
          <a:prstGeom prst="roundRect">
            <a:avLst>
              <a:gd fmla="val 1422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647700" y="2968079"/>
            <a:ext cx="800557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Courier New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push -u origin main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533400" y="3331815"/>
            <a:ext cx="823874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Primera vez: -u configura la rama por defecto.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533400" y="3554611"/>
            <a:ext cx="8077200" cy="401836"/>
          </a:xfrm>
          <a:prstGeom prst="roundRect">
            <a:avLst>
              <a:gd fmla="val 1422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647700" y="3668911"/>
            <a:ext cx="800557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Courier New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push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533400" y="4032647"/>
            <a:ext cx="823874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Después solo necesitas esto.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381000" y="4426893"/>
            <a:ext cx="4133850" cy="521940"/>
          </a:xfrm>
          <a:prstGeom prst="roundRect">
            <a:avLst>
              <a:gd fmla="val 14599" name="adj"/>
            </a:avLst>
          </a:prstGeom>
          <a:solidFill>
            <a:srgbClr val="23863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4" name="Google Shape;594;p20"/>
          <p:cNvCxnSpPr/>
          <p:nvPr/>
        </p:nvCxnSpPr>
        <p:spPr>
          <a:xfrm>
            <a:off x="400050" y="4426893"/>
            <a:ext cx="0" cy="521940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5" name="Google Shape;595;p20"/>
          <p:cNvSpPr/>
          <p:nvPr/>
        </p:nvSpPr>
        <p:spPr>
          <a:xfrm>
            <a:off x="514350" y="4522143"/>
            <a:ext cx="398335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14350" y="4720233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Subir cambios: Local → GitHub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4629150" y="4426893"/>
            <a:ext cx="4133850" cy="521940"/>
          </a:xfrm>
          <a:prstGeom prst="roundRect">
            <a:avLst>
              <a:gd fmla="val 14599" name="adj"/>
            </a:avLst>
          </a:prstGeom>
          <a:solidFill>
            <a:srgbClr val="00D9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20"/>
          <p:cNvCxnSpPr/>
          <p:nvPr/>
        </p:nvCxnSpPr>
        <p:spPr>
          <a:xfrm>
            <a:off x="4648200" y="4426893"/>
            <a:ext cx="0" cy="521940"/>
          </a:xfrm>
          <a:prstGeom prst="straightConnector1">
            <a:avLst/>
          </a:prstGeom>
          <a:noFill/>
          <a:ln cap="flat" cmpd="sng" w="38100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20"/>
          <p:cNvSpPr/>
          <p:nvPr/>
        </p:nvSpPr>
        <p:spPr>
          <a:xfrm>
            <a:off x="4762500" y="4522143"/>
            <a:ext cx="398335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git pull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4762500" y="4720233"/>
            <a:ext cx="398335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Bajar cambios: GitHub → Local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1"/>
          <p:cNvSpPr/>
          <p:nvPr/>
        </p:nvSpPr>
        <p:spPr>
          <a:xfrm>
            <a:off x="381000" y="304800"/>
            <a:ext cx="51006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Clone - Clonar repositorios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381000" y="1351955"/>
            <a:ext cx="5067696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Descargar una </a:t>
            </a:r>
            <a:r>
              <a:rPr b="1" i="0" lang="en-US" sz="12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copia completa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de un repositorio de GitHub a tu computadora.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381000" y="2003227"/>
            <a:ext cx="4968329" cy="975271"/>
          </a:xfrm>
          <a:prstGeom prst="roundRect">
            <a:avLst>
              <a:gd fmla="val 976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533400" y="2155627"/>
            <a:ext cx="47568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533400" y="2410867"/>
            <a:ext cx="4663529" cy="415230"/>
          </a:xfrm>
          <a:prstGeom prst="roundRect">
            <a:avLst>
              <a:gd fmla="val 1376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647700" y="2525167"/>
            <a:ext cx="452362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https://github.com/usuario/repo.git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381000" y="3111847"/>
            <a:ext cx="4968329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514350" y="3245197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trae el clone?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514350" y="3508028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Todos los archivos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514350" y="3728889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Todo el historial de commits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514350" y="3949750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Todas las ramas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514350" y="4170611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La conexión remota ya configurada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5577929" y="1482328"/>
            <a:ext cx="3185071" cy="2864644"/>
          </a:xfrm>
          <a:prstGeom prst="roundRect">
            <a:avLst>
              <a:gd fmla="val 332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1"/>
          <p:cNvSpPr/>
          <p:nvPr/>
        </p:nvSpPr>
        <p:spPr>
          <a:xfrm>
            <a:off x="5768429" y="1672828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Clone vs Init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5768429" y="2126159"/>
            <a:ext cx="2804071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5882729" y="2240459"/>
            <a:ext cx="262698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init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5882729" y="2438549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Crear un repo nuevo desde cero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5768429" y="2947095"/>
            <a:ext cx="2804071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5882729" y="3061395"/>
            <a:ext cx="262698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clone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5882729" y="3259485"/>
            <a:ext cx="262698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Descargar un repo que ya existe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5768429" y="3672780"/>
            <a:ext cx="2804071" cy="483691"/>
          </a:xfrm>
          <a:prstGeom prst="roundRect">
            <a:avLst>
              <a:gd fmla="val 11815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21"/>
          <p:cNvCxnSpPr/>
          <p:nvPr/>
        </p:nvCxnSpPr>
        <p:spPr>
          <a:xfrm>
            <a:off x="5782717" y="3672780"/>
            <a:ext cx="0" cy="483691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21"/>
          <p:cNvSpPr/>
          <p:nvPr/>
        </p:nvSpPr>
        <p:spPr>
          <a:xfrm>
            <a:off x="5892254" y="3768030"/>
            <a:ext cx="263669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Clone crea una carpeta con el nombre del repo automáticamente.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2"/>
          <p:cNvSpPr/>
          <p:nvPr/>
        </p:nvSpPr>
        <p:spPr>
          <a:xfrm>
            <a:off x="381000" y="304800"/>
            <a:ext cx="453713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Fork - Bifurcar repositorios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381000" y="1377851"/>
            <a:ext cx="4896612" cy="517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Crear una </a:t>
            </a:r>
            <a:r>
              <a:rPr b="1" i="0" lang="en-US" sz="12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copia del repositorio de otra persona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en tu propia cuenta de GitHub.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381000" y="2029123"/>
            <a:ext cx="4800600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514350" y="2162473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¿Cuándo usar Fork?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514350" y="2425303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Quieres contribuir a un proyecto que no es tuyo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514350" y="2646164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No tienes permisos para hacer push directo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514350" y="2867025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Quieres experimentar sin afectar el original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381000" y="3306961"/>
            <a:ext cx="4800600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514350" y="3440311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¿Cómo hacer Fork?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514350" y="3703141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Ir al repositorio en GitHub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514350" y="3924002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Click en botón "Fork" (arriba derecha)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514350" y="4144863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¡Listo! Tienes tu copia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5410200" y="967829"/>
            <a:ext cx="3352800" cy="3893790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5600700" y="1158329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Flujo de trabajo con Fork: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5600700" y="1585020"/>
            <a:ext cx="2971800" cy="3086100"/>
          </a:xfrm>
          <a:prstGeom prst="roundRect">
            <a:avLst>
              <a:gd fmla="val 2564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5715000" y="169932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usuario/proyecto (original)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5687568" y="202317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↓ Fork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5715000" y="234702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tu-usuario/proyecto (tu copia)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5687568" y="267087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↓ Clone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5715000" y="299472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💻 Tu computadora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5687568" y="331857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↓ Cambios + Push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5715000" y="364242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tu-usuario/proyecto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5687568" y="396627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↓ Pull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5715000" y="4290120"/>
            <a:ext cx="279806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usuario/proyecto (original)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3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Pull Request (PR)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381000" y="1648271"/>
            <a:ext cx="5067696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i="0" lang="en-US" sz="12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solicitud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para que el dueño del proyecto acepte tus cambios.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381000" y="2040582"/>
            <a:ext cx="4968329" cy="1605260"/>
          </a:xfrm>
          <a:prstGeom prst="roundRect">
            <a:avLst>
              <a:gd fmla="val 47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514350" y="2173932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Flujo típico: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3"/>
          <p:cNvSpPr/>
          <p:nvPr/>
        </p:nvSpPr>
        <p:spPr>
          <a:xfrm>
            <a:off x="514350" y="245581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Fork del proyecto original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514350" y="2676674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Clone a tu máquina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514350" y="2897535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Crear rama, hacer cambios, commit, push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514350" y="3118396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En GitHub: "New Pull Request"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514350" y="3339257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El dueño revisa y decide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381000" y="3779193"/>
            <a:ext cx="4968329" cy="401836"/>
          </a:xfrm>
          <a:prstGeom prst="roundRect">
            <a:avLst>
              <a:gd fmla="val 18963" name="adj"/>
            </a:avLst>
          </a:prstGeom>
          <a:solidFill>
            <a:srgbClr val="23863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23"/>
          <p:cNvCxnSpPr/>
          <p:nvPr/>
        </p:nvCxnSpPr>
        <p:spPr>
          <a:xfrm>
            <a:off x="400050" y="3779193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7" name="Google Shape;677;p23"/>
          <p:cNvSpPr/>
          <p:nvPr/>
        </p:nvSpPr>
        <p:spPr>
          <a:xfrm>
            <a:off x="533400" y="389349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"Pull Request" = "Por favor jala (pull) mis cambios a tu proyecto"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5577929" y="1109960"/>
            <a:ext cx="3185071" cy="3609380"/>
          </a:xfrm>
          <a:prstGeom prst="roundRect">
            <a:avLst>
              <a:gd fmla="val 299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5768429" y="1300460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puede pasar?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5768429" y="1753791"/>
            <a:ext cx="2804071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1" name="Google Shape;681;p23"/>
          <p:cNvCxnSpPr/>
          <p:nvPr/>
        </p:nvCxnSpPr>
        <p:spPr>
          <a:xfrm>
            <a:off x="5782717" y="1753791"/>
            <a:ext cx="0" cy="573286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p23"/>
          <p:cNvSpPr/>
          <p:nvPr/>
        </p:nvSpPr>
        <p:spPr>
          <a:xfrm>
            <a:off x="5911304" y="1868091"/>
            <a:ext cx="259783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✓ Aprobado (Merged)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5911304" y="2066181"/>
            <a:ext cx="259783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Tus cambios se integran al proyecto original.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/>
          <p:nvPr/>
        </p:nvSpPr>
        <p:spPr>
          <a:xfrm>
            <a:off x="5768429" y="2574727"/>
            <a:ext cx="2804071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5" name="Google Shape;685;p23"/>
          <p:cNvCxnSpPr/>
          <p:nvPr/>
        </p:nvCxnSpPr>
        <p:spPr>
          <a:xfrm>
            <a:off x="5782717" y="2574727"/>
            <a:ext cx="0" cy="573286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6" name="Google Shape;686;p23"/>
          <p:cNvSpPr/>
          <p:nvPr/>
        </p:nvSpPr>
        <p:spPr>
          <a:xfrm>
            <a:off x="5911304" y="2689027"/>
            <a:ext cx="259783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💬 Comentarios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5911304" y="2887117"/>
            <a:ext cx="259783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Te piden ajustes antes de aprobar.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5768429" y="3395663"/>
            <a:ext cx="2804071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9" name="Google Shape;689;p23"/>
          <p:cNvCxnSpPr/>
          <p:nvPr/>
        </p:nvCxnSpPr>
        <p:spPr>
          <a:xfrm>
            <a:off x="5782717" y="3395663"/>
            <a:ext cx="0" cy="573286"/>
          </a:xfrm>
          <a:prstGeom prst="straightConnector1">
            <a:avLst/>
          </a:prstGeom>
          <a:noFill/>
          <a:ln cap="flat" cmpd="sng" w="28575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23"/>
          <p:cNvSpPr/>
          <p:nvPr/>
        </p:nvSpPr>
        <p:spPr>
          <a:xfrm>
            <a:off x="5911304" y="3509963"/>
            <a:ext cx="259783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✗ Rechazado (Closed)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3"/>
          <p:cNvSpPr/>
          <p:nvPr/>
        </p:nvSpPr>
        <p:spPr>
          <a:xfrm>
            <a:off x="5911304" y="3708053"/>
            <a:ext cx="259783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No aceptan los cambios.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/>
          <p:nvPr/>
        </p:nvSpPr>
        <p:spPr>
          <a:xfrm>
            <a:off x="5768429" y="4235648"/>
            <a:ext cx="2860152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Los PRs también se usan entre compañeros del mismo equipo para revisar código antes de unirlo.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4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Pull - Bajar cambios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4"/>
          <p:cNvSpPr/>
          <p:nvPr/>
        </p:nvSpPr>
        <p:spPr>
          <a:xfrm>
            <a:off x="381000" y="1297632"/>
            <a:ext cx="5067696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Descargar los </a:t>
            </a:r>
            <a:r>
              <a:rPr b="1" i="0" lang="en-US" sz="127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cambios más recientes</a:t>
            </a:r>
            <a:r>
              <a:rPr b="0" i="0" lang="en-US" sz="12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de GitHub a tu repo local.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4"/>
          <p:cNvSpPr/>
          <p:nvPr/>
        </p:nvSpPr>
        <p:spPr>
          <a:xfrm>
            <a:off x="381000" y="1689943"/>
            <a:ext cx="4968329" cy="1028551"/>
          </a:xfrm>
          <a:prstGeom prst="roundRect">
            <a:avLst>
              <a:gd fmla="val 926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4"/>
          <p:cNvSpPr/>
          <p:nvPr/>
        </p:nvSpPr>
        <p:spPr>
          <a:xfrm>
            <a:off x="533400" y="1842343"/>
            <a:ext cx="47568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4"/>
          <p:cNvSpPr/>
          <p:nvPr/>
        </p:nvSpPr>
        <p:spPr>
          <a:xfrm>
            <a:off x="533400" y="2097584"/>
            <a:ext cx="4663529" cy="468511"/>
          </a:xfrm>
          <a:prstGeom prst="roundRect">
            <a:avLst>
              <a:gd fmla="val 1219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647700" y="2211884"/>
            <a:ext cx="452362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pull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4"/>
          <p:cNvSpPr/>
          <p:nvPr/>
        </p:nvSpPr>
        <p:spPr>
          <a:xfrm>
            <a:off x="381000" y="2851845"/>
            <a:ext cx="4968329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4"/>
          <p:cNvSpPr/>
          <p:nvPr/>
        </p:nvSpPr>
        <p:spPr>
          <a:xfrm>
            <a:off x="514350" y="2985195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¿Cuándo usar pull?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514350" y="3248025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Cuando un compañero subió cambios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4"/>
          <p:cNvSpPr/>
          <p:nvPr/>
        </p:nvSpPr>
        <p:spPr>
          <a:xfrm>
            <a:off x="514350" y="3468886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Antes de empezar a trabajar cada día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4"/>
          <p:cNvSpPr/>
          <p:nvPr/>
        </p:nvSpPr>
        <p:spPr>
          <a:xfrm>
            <a:off x="514350" y="3689747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Antes de hacer push (evita conflictos)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4"/>
          <p:cNvSpPr/>
          <p:nvPr/>
        </p:nvSpPr>
        <p:spPr>
          <a:xfrm>
            <a:off x="381000" y="4129683"/>
            <a:ext cx="4968329" cy="401836"/>
          </a:xfrm>
          <a:prstGeom prst="roundRect">
            <a:avLst>
              <a:gd fmla="val 18963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1" name="Google Shape;711;p24"/>
          <p:cNvCxnSpPr/>
          <p:nvPr/>
        </p:nvCxnSpPr>
        <p:spPr>
          <a:xfrm>
            <a:off x="400050" y="4129683"/>
            <a:ext cx="0" cy="401836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24"/>
          <p:cNvSpPr/>
          <p:nvPr/>
        </p:nvSpPr>
        <p:spPr>
          <a:xfrm>
            <a:off x="533400" y="424398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Buena práctica: Hacer pull al inicio del día para tener la versión más reciente.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5577929" y="1516707"/>
            <a:ext cx="3185071" cy="2795885"/>
          </a:xfrm>
          <a:prstGeom prst="roundRect">
            <a:avLst>
              <a:gd fmla="val 340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5768429" y="1707207"/>
            <a:ext cx="286015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Push vs Pull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4"/>
          <p:cNvSpPr/>
          <p:nvPr/>
        </p:nvSpPr>
        <p:spPr>
          <a:xfrm>
            <a:off x="5768429" y="2160538"/>
            <a:ext cx="2804071" cy="847427"/>
          </a:xfrm>
          <a:prstGeom prst="roundRect">
            <a:avLst>
              <a:gd fmla="val 899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4"/>
          <p:cNvSpPr/>
          <p:nvPr/>
        </p:nvSpPr>
        <p:spPr>
          <a:xfrm>
            <a:off x="5901779" y="2293888"/>
            <a:ext cx="25881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push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5901779" y="2543324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💻 Local → ☁️ GitHub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4"/>
          <p:cNvSpPr/>
          <p:nvPr/>
        </p:nvSpPr>
        <p:spPr>
          <a:xfrm>
            <a:off x="5901779" y="2728020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Subir tus cambios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4"/>
          <p:cNvSpPr/>
          <p:nvPr/>
        </p:nvSpPr>
        <p:spPr>
          <a:xfrm>
            <a:off x="5768429" y="3274665"/>
            <a:ext cx="2804071" cy="847427"/>
          </a:xfrm>
          <a:prstGeom prst="roundRect">
            <a:avLst>
              <a:gd fmla="val 899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5901779" y="3408015"/>
            <a:ext cx="25881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git pull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5901779" y="3657451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☁️ GitHub → 💻 Local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4"/>
          <p:cNvSpPr/>
          <p:nvPr/>
        </p:nvSpPr>
        <p:spPr>
          <a:xfrm>
            <a:off x="5901779" y="3842147"/>
            <a:ext cx="258811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Bajar cambios de otros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5"/>
          <p:cNvSpPr/>
          <p:nvPr/>
        </p:nvSpPr>
        <p:spPr>
          <a:xfrm>
            <a:off x="381000" y="304800"/>
            <a:ext cx="4653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Merge Conflicts - Conflictos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381000" y="1282601"/>
            <a:ext cx="472568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Ocurre cuando </a:t>
            </a:r>
            <a:r>
              <a:rPr b="1" i="0" lang="en-US" sz="12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dos personas modificaron la misma línea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y Git no sabe cuál elegir.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/>
          <p:nvPr/>
        </p:nvSpPr>
        <p:spPr>
          <a:xfrm>
            <a:off x="381000" y="1903512"/>
            <a:ext cx="4633020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514350" y="2036862"/>
            <a:ext cx="44536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¿Cuándo pasa?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/>
          <p:nvPr/>
        </p:nvSpPr>
        <p:spPr>
          <a:xfrm>
            <a:off x="514350" y="2299692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Tú y un compañero editaron la misma línea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514350" y="2520553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Al hacer merge de dos ramas con cambios en el mismo lugar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5"/>
          <p:cNvSpPr/>
          <p:nvPr/>
        </p:nvSpPr>
        <p:spPr>
          <a:xfrm>
            <a:off x="514350" y="2741414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Al hacer pull cuando tú también modificaste esa línea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381000" y="3181350"/>
            <a:ext cx="4633020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514350" y="3314700"/>
            <a:ext cx="44536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¿Cómo resolverlo?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514350" y="3577530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Abrir el archivo con conflicto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514350" y="3798391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Elegir qué versión conservar (o combinar)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514350" y="4019252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Borrar las marcas de conflicto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514350" y="4240113"/>
            <a:ext cx="445364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git add + git commit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5242620" y="862161"/>
            <a:ext cx="3520380" cy="4105126"/>
          </a:xfrm>
          <a:prstGeom prst="roundRect">
            <a:avLst>
              <a:gd fmla="val 270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5433120" y="1052661"/>
            <a:ext cx="320216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Git marca el conflicto así: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/>
          <p:nvPr/>
        </p:nvSpPr>
        <p:spPr>
          <a:xfrm>
            <a:off x="5433120" y="1460302"/>
            <a:ext cx="3139380" cy="1752600"/>
          </a:xfrm>
          <a:prstGeom prst="roundRect">
            <a:avLst>
              <a:gd fmla="val 434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5566470" y="1593652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&lt;&lt;&lt;&lt;&lt;&lt;&lt; 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5"/>
          <p:cNvSpPr/>
          <p:nvPr/>
        </p:nvSpPr>
        <p:spPr>
          <a:xfrm>
            <a:off x="5566470" y="1898452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Tu versión del código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5566470" y="2203252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=======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5566470" y="2508052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La otra versión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5566470" y="2812852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&gt;&gt;&gt;&gt;&gt;&gt;&gt; otra-rama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5433120" y="3479602"/>
            <a:ext cx="320216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Después de resolver: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5433120" y="3849142"/>
            <a:ext cx="3139380" cy="533400"/>
          </a:xfrm>
          <a:prstGeom prst="roundRect">
            <a:avLst>
              <a:gd fmla="val 14286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5566470" y="3982492"/>
            <a:ext cx="293013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La versión que elegiste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5433120" y="4630192"/>
            <a:ext cx="320216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(Sin marcas, solo el código final)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6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Licencias Open Source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6"/>
          <p:cNvSpPr/>
          <p:nvPr/>
        </p:nvSpPr>
        <p:spPr>
          <a:xfrm>
            <a:off x="381000" y="990600"/>
            <a:ext cx="854964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Las licencias definen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cómo otros pueden usar tu código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 Sin licencia, nadie puede usarlo legalmente.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6"/>
          <p:cNvSpPr/>
          <p:nvPr/>
        </p:nvSpPr>
        <p:spPr>
          <a:xfrm>
            <a:off x="381000" y="1337221"/>
            <a:ext cx="2705100" cy="1548557"/>
          </a:xfrm>
          <a:prstGeom prst="roundRect">
            <a:avLst>
              <a:gd fmla="val 615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3" name="Google Shape;763;p26"/>
          <p:cNvCxnSpPr/>
          <p:nvPr/>
        </p:nvCxnSpPr>
        <p:spPr>
          <a:xfrm>
            <a:off x="381000" y="1351508"/>
            <a:ext cx="2705100" cy="0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26"/>
          <p:cNvSpPr/>
          <p:nvPr/>
        </p:nvSpPr>
        <p:spPr>
          <a:xfrm>
            <a:off x="533400" y="1518196"/>
            <a:ext cx="24483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MIT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6"/>
          <p:cNvSpPr/>
          <p:nvPr/>
        </p:nvSpPr>
        <p:spPr>
          <a:xfrm>
            <a:off x="533400" y="1794421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La más permisiva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6"/>
          <p:cNvSpPr/>
          <p:nvPr/>
        </p:nvSpPr>
        <p:spPr>
          <a:xfrm>
            <a:off x="533400" y="2011561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Usar comercialmente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6"/>
          <p:cNvSpPr/>
          <p:nvPr/>
        </p:nvSpPr>
        <p:spPr>
          <a:xfrm>
            <a:off x="533400" y="2190601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Modificar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6"/>
          <p:cNvSpPr/>
          <p:nvPr/>
        </p:nvSpPr>
        <p:spPr>
          <a:xfrm>
            <a:off x="533400" y="2369641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Distribuir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6"/>
          <p:cNvSpPr/>
          <p:nvPr/>
        </p:nvSpPr>
        <p:spPr>
          <a:xfrm>
            <a:off x="533400" y="2586782"/>
            <a:ext cx="244830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Solo pide dar crédito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6"/>
          <p:cNvSpPr/>
          <p:nvPr/>
        </p:nvSpPr>
        <p:spPr>
          <a:xfrm>
            <a:off x="3219450" y="1426666"/>
            <a:ext cx="2705100" cy="1369516"/>
          </a:xfrm>
          <a:prstGeom prst="roundRect">
            <a:avLst>
              <a:gd fmla="val 695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1" name="Google Shape;771;p26"/>
          <p:cNvCxnSpPr/>
          <p:nvPr/>
        </p:nvCxnSpPr>
        <p:spPr>
          <a:xfrm>
            <a:off x="3219450" y="1440954"/>
            <a:ext cx="2705100" cy="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2" name="Google Shape;772;p26"/>
          <p:cNvSpPr/>
          <p:nvPr/>
        </p:nvSpPr>
        <p:spPr>
          <a:xfrm>
            <a:off x="3371850" y="1607641"/>
            <a:ext cx="24483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Apache 2.0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6"/>
          <p:cNvSpPr/>
          <p:nvPr/>
        </p:nvSpPr>
        <p:spPr>
          <a:xfrm>
            <a:off x="3371850" y="1883866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Similar a MIT + patentes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6"/>
          <p:cNvSpPr/>
          <p:nvPr/>
        </p:nvSpPr>
        <p:spPr>
          <a:xfrm>
            <a:off x="3371850" y="2101007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Todo lo de 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6"/>
          <p:cNvSpPr/>
          <p:nvPr/>
        </p:nvSpPr>
        <p:spPr>
          <a:xfrm>
            <a:off x="3371850" y="2280047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Protección de patentes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6"/>
          <p:cNvSpPr/>
          <p:nvPr/>
        </p:nvSpPr>
        <p:spPr>
          <a:xfrm>
            <a:off x="3371850" y="2497187"/>
            <a:ext cx="244830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Usada por Google, Android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6057900" y="1426666"/>
            <a:ext cx="2705100" cy="1369516"/>
          </a:xfrm>
          <a:prstGeom prst="roundRect">
            <a:avLst>
              <a:gd fmla="val 695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8" name="Google Shape;778;p26"/>
          <p:cNvCxnSpPr/>
          <p:nvPr/>
        </p:nvCxnSpPr>
        <p:spPr>
          <a:xfrm>
            <a:off x="6057900" y="1440954"/>
            <a:ext cx="2705100" cy="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9" name="Google Shape;779;p26"/>
          <p:cNvSpPr/>
          <p:nvPr/>
        </p:nvSpPr>
        <p:spPr>
          <a:xfrm>
            <a:off x="6210300" y="1607641"/>
            <a:ext cx="24483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GPL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6"/>
          <p:cNvSpPr/>
          <p:nvPr/>
        </p:nvSpPr>
        <p:spPr>
          <a:xfrm>
            <a:off x="6210300" y="1883866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Copyleft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6210300" y="2101007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Usar y modificar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6210300" y="2280047"/>
            <a:ext cx="24483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⚠ Cambios deben ser GPL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6210300" y="2497187"/>
            <a:ext cx="244830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Usada por Linux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6"/>
          <p:cNvSpPr/>
          <p:nvPr/>
        </p:nvSpPr>
        <p:spPr>
          <a:xfrm>
            <a:off x="381000" y="4265414"/>
            <a:ext cx="4124325" cy="573286"/>
          </a:xfrm>
          <a:prstGeom prst="roundRect">
            <a:avLst>
              <a:gd fmla="val 13292" name="adj"/>
            </a:avLst>
          </a:prstGeom>
          <a:solidFill>
            <a:srgbClr val="238636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5" name="Google Shape;785;p26"/>
          <p:cNvCxnSpPr/>
          <p:nvPr/>
        </p:nvCxnSpPr>
        <p:spPr>
          <a:xfrm>
            <a:off x="400050" y="4265414"/>
            <a:ext cx="0" cy="573286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26"/>
          <p:cNvSpPr/>
          <p:nvPr/>
        </p:nvSpPr>
        <p:spPr>
          <a:xfrm>
            <a:off x="533400" y="4379714"/>
            <a:ext cx="393477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¿Cuál elegir?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533400" y="4577804"/>
            <a:ext cx="39347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Para proyectos personales: MIT es la más simple y popular.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4638675" y="4265414"/>
            <a:ext cx="4124325" cy="573286"/>
          </a:xfrm>
          <a:prstGeom prst="roundRect">
            <a:avLst>
              <a:gd fmla="val 13292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9" name="Google Shape;789;p26"/>
          <p:cNvCxnSpPr/>
          <p:nvPr/>
        </p:nvCxnSpPr>
        <p:spPr>
          <a:xfrm>
            <a:off x="4657725" y="4265414"/>
            <a:ext cx="0" cy="573286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p26"/>
          <p:cNvSpPr/>
          <p:nvPr/>
        </p:nvSpPr>
        <p:spPr>
          <a:xfrm>
            <a:off x="4791075" y="4379714"/>
            <a:ext cx="393477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Sin licencia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4791075" y="4577804"/>
            <a:ext cx="393477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= Todos los derechos reservados. Nadie puede usar tu código.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7"/>
          <p:cNvSpPr/>
          <p:nvPr/>
        </p:nvSpPr>
        <p:spPr>
          <a:xfrm>
            <a:off x="381000" y="304800"/>
            <a:ext cx="50812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Resumen - ¿Qué aprendimos?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7"/>
          <p:cNvSpPr/>
          <p:nvPr/>
        </p:nvSpPr>
        <p:spPr>
          <a:xfrm>
            <a:off x="381000" y="1438275"/>
            <a:ext cx="4709220" cy="521940"/>
          </a:xfrm>
          <a:prstGeom prst="roundRect">
            <a:avLst>
              <a:gd fmla="val 1459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7"/>
          <p:cNvSpPr/>
          <p:nvPr/>
        </p:nvSpPr>
        <p:spPr>
          <a:xfrm>
            <a:off x="476250" y="1533525"/>
            <a:ext cx="46090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Control de Versiones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7"/>
          <p:cNvSpPr/>
          <p:nvPr/>
        </p:nvSpPr>
        <p:spPr>
          <a:xfrm>
            <a:off x="476250" y="1731615"/>
            <a:ext cx="460909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Qué es, por qué usarlo, las 3 áreas de Git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7"/>
          <p:cNvSpPr/>
          <p:nvPr/>
        </p:nvSpPr>
        <p:spPr>
          <a:xfrm>
            <a:off x="381000" y="2036415"/>
            <a:ext cx="4709220" cy="521940"/>
          </a:xfrm>
          <a:prstGeom prst="roundRect">
            <a:avLst>
              <a:gd fmla="val 1459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7"/>
          <p:cNvSpPr/>
          <p:nvPr/>
        </p:nvSpPr>
        <p:spPr>
          <a:xfrm>
            <a:off x="476250" y="2131665"/>
            <a:ext cx="46090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Comandos básicos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7"/>
          <p:cNvSpPr/>
          <p:nvPr/>
        </p:nvSpPr>
        <p:spPr>
          <a:xfrm>
            <a:off x="476250" y="2329755"/>
            <a:ext cx="460909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init, config, add, commit, status, log, reset, .gitignore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7"/>
          <p:cNvSpPr/>
          <p:nvPr/>
        </p:nvSpPr>
        <p:spPr>
          <a:xfrm>
            <a:off x="381000" y="2634555"/>
            <a:ext cx="4709220" cy="521940"/>
          </a:xfrm>
          <a:prstGeom prst="roundRect">
            <a:avLst>
              <a:gd fmla="val 1459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7"/>
          <p:cNvSpPr/>
          <p:nvPr/>
        </p:nvSpPr>
        <p:spPr>
          <a:xfrm>
            <a:off x="476250" y="2729805"/>
            <a:ext cx="46090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Ramas y colaboración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7"/>
          <p:cNvSpPr/>
          <p:nvPr/>
        </p:nvSpPr>
        <p:spPr>
          <a:xfrm>
            <a:off x="476250" y="2927896"/>
            <a:ext cx="460909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branch, checkout, merge, fork, clone, PR, pull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7"/>
          <p:cNvSpPr/>
          <p:nvPr/>
        </p:nvSpPr>
        <p:spPr>
          <a:xfrm>
            <a:off x="381000" y="3232696"/>
            <a:ext cx="4709220" cy="521940"/>
          </a:xfrm>
          <a:prstGeom prst="roundRect">
            <a:avLst>
              <a:gd fmla="val 1459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7"/>
          <p:cNvSpPr/>
          <p:nvPr/>
        </p:nvSpPr>
        <p:spPr>
          <a:xfrm>
            <a:off x="476250" y="3327946"/>
            <a:ext cx="46090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7"/>
          <p:cNvSpPr/>
          <p:nvPr/>
        </p:nvSpPr>
        <p:spPr>
          <a:xfrm>
            <a:off x="476250" y="3526036"/>
            <a:ext cx="460909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remote, push, pull, repos públicos/privados, licencias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7"/>
          <p:cNvSpPr/>
          <p:nvPr/>
        </p:nvSpPr>
        <p:spPr>
          <a:xfrm>
            <a:off x="381000" y="3830836"/>
            <a:ext cx="4709220" cy="521940"/>
          </a:xfrm>
          <a:prstGeom prst="roundRect">
            <a:avLst>
              <a:gd fmla="val 1459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7"/>
          <p:cNvSpPr/>
          <p:nvPr/>
        </p:nvSpPr>
        <p:spPr>
          <a:xfrm>
            <a:off x="476250" y="3926086"/>
            <a:ext cx="46090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Avanzado (introducción)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476250" y="4124176"/>
            <a:ext cx="460909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revert, rebase, stash, cherry-pick, Actions, CLI, Markdown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7"/>
          <p:cNvSpPr/>
          <p:nvPr/>
        </p:nvSpPr>
        <p:spPr>
          <a:xfrm>
            <a:off x="5242620" y="1376511"/>
            <a:ext cx="3520380" cy="3038029"/>
          </a:xfrm>
          <a:prstGeom prst="roundRect">
            <a:avLst>
              <a:gd fmla="val 313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7"/>
          <p:cNvSpPr/>
          <p:nvPr/>
        </p:nvSpPr>
        <p:spPr>
          <a:xfrm>
            <a:off x="5395020" y="1528911"/>
            <a:ext cx="327989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Checklist de hoy: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7"/>
          <p:cNvSpPr/>
          <p:nvPr/>
        </p:nvSpPr>
        <p:spPr>
          <a:xfrm>
            <a:off x="5395020" y="1949797"/>
            <a:ext cx="327989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✅ Git instalado y configurado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7"/>
          <p:cNvSpPr/>
          <p:nvPr/>
        </p:nvSpPr>
        <p:spPr>
          <a:xfrm>
            <a:off x="5395020" y="2319338"/>
            <a:ext cx="327989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✅ Repositorio local creado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7"/>
          <p:cNvSpPr/>
          <p:nvPr/>
        </p:nvSpPr>
        <p:spPr>
          <a:xfrm>
            <a:off x="5395020" y="2688878"/>
            <a:ext cx="327989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✅ Commits realizados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7"/>
          <p:cNvSpPr/>
          <p:nvPr/>
        </p:nvSpPr>
        <p:spPr>
          <a:xfrm>
            <a:off x="5395020" y="3058418"/>
            <a:ext cx="327989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✅ Código subido a 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5395020" y="3427958"/>
            <a:ext cx="327989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✅ Conceptos avanzados conocidos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5395020" y="3740348"/>
            <a:ext cx="3215580" cy="521791"/>
          </a:xfrm>
          <a:prstGeom prst="roundRect">
            <a:avLst>
              <a:gd fmla="val 10953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7"/>
          <p:cNvSpPr/>
          <p:nvPr/>
        </p:nvSpPr>
        <p:spPr>
          <a:xfrm>
            <a:off x="5490270" y="3835598"/>
            <a:ext cx="3085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Próxima clase: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5490270" y="4020294"/>
            <a:ext cx="3085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Variables y Tipos de Datos en Python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8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Hard Reset y Revert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381000" y="1084213"/>
            <a:ext cx="5324094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Dos formas de </a:t>
            </a: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deshacer cambios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, pero funcionan muy diferente: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8"/>
          <p:cNvSpPr/>
          <p:nvPr/>
        </p:nvSpPr>
        <p:spPr>
          <a:xfrm>
            <a:off x="381000" y="1461343"/>
            <a:ext cx="5219700" cy="1575197"/>
          </a:xfrm>
          <a:prstGeom prst="roundRect">
            <a:avLst>
              <a:gd fmla="val 60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3" name="Google Shape;833;p28"/>
          <p:cNvCxnSpPr/>
          <p:nvPr/>
        </p:nvCxnSpPr>
        <p:spPr>
          <a:xfrm>
            <a:off x="400050" y="1461343"/>
            <a:ext cx="0" cy="1575197"/>
          </a:xfrm>
          <a:prstGeom prst="straightConnector1">
            <a:avLst/>
          </a:prstGeom>
          <a:noFill/>
          <a:ln cap="flat" cmpd="sng" w="381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4" name="Google Shape;834;p28"/>
          <p:cNvSpPr/>
          <p:nvPr/>
        </p:nvSpPr>
        <p:spPr>
          <a:xfrm>
            <a:off x="571500" y="1613743"/>
            <a:ext cx="4974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git reset --hard [commit]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8"/>
          <p:cNvSpPr/>
          <p:nvPr/>
        </p:nvSpPr>
        <p:spPr>
          <a:xfrm>
            <a:off x="571500" y="1889968"/>
            <a:ext cx="497433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Borra commits y vuelve a un punto anterior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8"/>
          <p:cNvSpPr/>
          <p:nvPr/>
        </p:nvSpPr>
        <p:spPr>
          <a:xfrm>
            <a:off x="571500" y="2139404"/>
            <a:ext cx="4876800" cy="521940"/>
          </a:xfrm>
          <a:prstGeom prst="roundRect">
            <a:avLst>
              <a:gd fmla="val 1095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666750" y="2234654"/>
            <a:ext cx="47800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reset --hard HEAD~1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666750" y="2432745"/>
            <a:ext cx="47800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Borra el último commit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8"/>
          <p:cNvSpPr/>
          <p:nvPr/>
        </p:nvSpPr>
        <p:spPr>
          <a:xfrm>
            <a:off x="571500" y="2737545"/>
            <a:ext cx="497433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⚠️ PELIGROSO: Los cambios se pierden para siempre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381000" y="3169890"/>
            <a:ext cx="5219700" cy="1575197"/>
          </a:xfrm>
          <a:prstGeom prst="roundRect">
            <a:avLst>
              <a:gd fmla="val 60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28"/>
          <p:cNvCxnSpPr/>
          <p:nvPr/>
        </p:nvCxnSpPr>
        <p:spPr>
          <a:xfrm>
            <a:off x="400050" y="3169890"/>
            <a:ext cx="0" cy="1575197"/>
          </a:xfrm>
          <a:prstGeom prst="straightConnector1">
            <a:avLst/>
          </a:prstGeom>
          <a:noFill/>
          <a:ln cap="flat" cmpd="sng" w="38100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2" name="Google Shape;842;p28"/>
          <p:cNvSpPr/>
          <p:nvPr/>
        </p:nvSpPr>
        <p:spPr>
          <a:xfrm>
            <a:off x="571500" y="3322290"/>
            <a:ext cx="49743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git revert [commit]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8"/>
          <p:cNvSpPr/>
          <p:nvPr/>
        </p:nvSpPr>
        <p:spPr>
          <a:xfrm>
            <a:off x="571500" y="3598515"/>
            <a:ext cx="497433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Crea un NUEVO commit que deshace los cambios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8"/>
          <p:cNvSpPr/>
          <p:nvPr/>
        </p:nvSpPr>
        <p:spPr>
          <a:xfrm>
            <a:off x="571500" y="3847951"/>
            <a:ext cx="4876800" cy="521940"/>
          </a:xfrm>
          <a:prstGeom prst="roundRect">
            <a:avLst>
              <a:gd fmla="val 1095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666750" y="3943201"/>
            <a:ext cx="47800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revert 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8"/>
          <p:cNvSpPr/>
          <p:nvPr/>
        </p:nvSpPr>
        <p:spPr>
          <a:xfrm>
            <a:off x="666750" y="4141291"/>
            <a:ext cx="47800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Revierte el último commit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8"/>
          <p:cNvSpPr/>
          <p:nvPr/>
        </p:nvSpPr>
        <p:spPr>
          <a:xfrm>
            <a:off x="571500" y="4446091"/>
            <a:ext cx="497433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✓ SEGURO: El historial se mantiene intacto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8"/>
          <p:cNvSpPr/>
          <p:nvPr/>
        </p:nvSpPr>
        <p:spPr>
          <a:xfrm>
            <a:off x="5829300" y="1408956"/>
            <a:ext cx="2933700" cy="3011239"/>
          </a:xfrm>
          <a:prstGeom prst="roundRect">
            <a:avLst>
              <a:gd fmla="val 324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6019800" y="1599456"/>
            <a:ext cx="260375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¿Cuál usar?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8"/>
          <p:cNvSpPr/>
          <p:nvPr/>
        </p:nvSpPr>
        <p:spPr>
          <a:xfrm>
            <a:off x="6019800" y="2052786"/>
            <a:ext cx="2552700" cy="573286"/>
          </a:xfrm>
          <a:prstGeom prst="roundRect">
            <a:avLst>
              <a:gd fmla="val 99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6134100" y="2167086"/>
            <a:ext cx="23705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reset --hard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8"/>
          <p:cNvSpPr/>
          <p:nvPr/>
        </p:nvSpPr>
        <p:spPr>
          <a:xfrm>
            <a:off x="6134100" y="2365177"/>
            <a:ext cx="237058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Solo en tu repo local, nunca si ya hiciste push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6019800" y="2873722"/>
            <a:ext cx="2552700" cy="719882"/>
          </a:xfrm>
          <a:prstGeom prst="roundRect">
            <a:avLst>
              <a:gd fmla="val 793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8"/>
          <p:cNvSpPr/>
          <p:nvPr/>
        </p:nvSpPr>
        <p:spPr>
          <a:xfrm>
            <a:off x="6134100" y="2988022"/>
            <a:ext cx="237058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revert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6134100" y="3186113"/>
            <a:ext cx="2370582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Siempre seguro, especialmente si ya está en GitHub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8"/>
          <p:cNvSpPr/>
          <p:nvPr/>
        </p:nvSpPr>
        <p:spPr>
          <a:xfrm>
            <a:off x="6019800" y="3746004"/>
            <a:ext cx="2552700" cy="483691"/>
          </a:xfrm>
          <a:prstGeom prst="roundRect">
            <a:avLst>
              <a:gd fmla="val 11815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28"/>
          <p:cNvCxnSpPr/>
          <p:nvPr/>
        </p:nvCxnSpPr>
        <p:spPr>
          <a:xfrm>
            <a:off x="6034088" y="3746004"/>
            <a:ext cx="0" cy="483691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28"/>
          <p:cNvSpPr/>
          <p:nvPr/>
        </p:nvSpPr>
        <p:spPr>
          <a:xfrm>
            <a:off x="6143625" y="3841254"/>
            <a:ext cx="2380298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Regla: Si ya hiciste push, usa revert. Si es solo local, puedes usar reset.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9"/>
          <p:cNvSpPr/>
          <p:nvPr/>
        </p:nvSpPr>
        <p:spPr>
          <a:xfrm>
            <a:off x="381000" y="304800"/>
            <a:ext cx="471201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Rebase vs Merge vs Squash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9"/>
          <p:cNvSpPr/>
          <p:nvPr/>
        </p:nvSpPr>
        <p:spPr>
          <a:xfrm>
            <a:off x="381000" y="952500"/>
            <a:ext cx="85496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Tres formas de </a:t>
            </a:r>
            <a:r>
              <a:rPr b="1" i="0" lang="en-US" sz="112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integrar cambios</a:t>
            </a:r>
            <a:r>
              <a:rPr b="0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de una rama a otra: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9"/>
          <p:cNvSpPr/>
          <p:nvPr/>
        </p:nvSpPr>
        <p:spPr>
          <a:xfrm>
            <a:off x="381000" y="1266825"/>
            <a:ext cx="2717750" cy="2140893"/>
          </a:xfrm>
          <a:prstGeom prst="roundRect">
            <a:avLst>
              <a:gd fmla="val 4449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8" name="Google Shape;868;p29"/>
          <p:cNvCxnSpPr/>
          <p:nvPr/>
        </p:nvCxnSpPr>
        <p:spPr>
          <a:xfrm>
            <a:off x="381000" y="1281113"/>
            <a:ext cx="2717750" cy="0"/>
          </a:xfrm>
          <a:prstGeom prst="straightConnector1">
            <a:avLst/>
          </a:prstGeom>
          <a:noFill/>
          <a:ln cap="flat" cmpd="sng" w="28575">
            <a:solidFill>
              <a:srgbClr val="23863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9" name="Google Shape;869;p29"/>
          <p:cNvSpPr/>
          <p:nvPr/>
        </p:nvSpPr>
        <p:spPr>
          <a:xfrm>
            <a:off x="514350" y="1428750"/>
            <a:ext cx="250007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514350" y="1672530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Une ramas preservando historial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9"/>
          <p:cNvSpPr/>
          <p:nvPr/>
        </p:nvSpPr>
        <p:spPr>
          <a:xfrm>
            <a:off x="514350" y="1895326"/>
            <a:ext cx="2451050" cy="990600"/>
          </a:xfrm>
          <a:prstGeom prst="roundRect">
            <a:avLst>
              <a:gd fmla="val 576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9"/>
          <p:cNvSpPr/>
          <p:nvPr/>
        </p:nvSpPr>
        <p:spPr>
          <a:xfrm>
            <a:off x="590550" y="1971526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o ─ o ─ o ─ 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590550" y="2257276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↘   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590550" y="2543026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o ─ 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514350" y="2962126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Historial completo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9"/>
          <p:cNvSpPr/>
          <p:nvPr/>
        </p:nvSpPr>
        <p:spPr>
          <a:xfrm>
            <a:off x="514350" y="3127772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✗ Puede verse desordenado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9"/>
          <p:cNvSpPr/>
          <p:nvPr/>
        </p:nvSpPr>
        <p:spPr>
          <a:xfrm>
            <a:off x="3213050" y="1409700"/>
            <a:ext cx="2717750" cy="1855143"/>
          </a:xfrm>
          <a:prstGeom prst="roundRect">
            <a:avLst>
              <a:gd fmla="val 51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Google Shape;878;p29"/>
          <p:cNvCxnSpPr/>
          <p:nvPr/>
        </p:nvCxnSpPr>
        <p:spPr>
          <a:xfrm>
            <a:off x="3213050" y="1423988"/>
            <a:ext cx="2717750" cy="0"/>
          </a:xfrm>
          <a:prstGeom prst="straightConnector1">
            <a:avLst/>
          </a:prstGeom>
          <a:noFill/>
          <a:ln cap="flat" cmpd="sng" w="28575">
            <a:solidFill>
              <a:srgbClr val="00D9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9" name="Google Shape;879;p29"/>
          <p:cNvSpPr/>
          <p:nvPr/>
        </p:nvSpPr>
        <p:spPr>
          <a:xfrm>
            <a:off x="3346400" y="1571625"/>
            <a:ext cx="250007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Rebase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9"/>
          <p:cNvSpPr/>
          <p:nvPr/>
        </p:nvSpPr>
        <p:spPr>
          <a:xfrm>
            <a:off x="3346400" y="1815405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Reescribe historial lineal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9"/>
          <p:cNvSpPr/>
          <p:nvPr/>
        </p:nvSpPr>
        <p:spPr>
          <a:xfrm>
            <a:off x="3346400" y="2038201"/>
            <a:ext cx="2451050" cy="704850"/>
          </a:xfrm>
          <a:prstGeom prst="roundRect">
            <a:avLst>
              <a:gd fmla="val 810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9"/>
          <p:cNvSpPr/>
          <p:nvPr/>
        </p:nvSpPr>
        <p:spPr>
          <a:xfrm>
            <a:off x="3422600" y="2114401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o ─ o ─ o ─ o ─ o ─ 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9"/>
          <p:cNvSpPr/>
          <p:nvPr/>
        </p:nvSpPr>
        <p:spPr>
          <a:xfrm>
            <a:off x="3422600" y="2400151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(lineal)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9"/>
          <p:cNvSpPr/>
          <p:nvPr/>
        </p:nvSpPr>
        <p:spPr>
          <a:xfrm>
            <a:off x="3346400" y="2819251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Historial limpio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9"/>
          <p:cNvSpPr/>
          <p:nvPr/>
        </p:nvSpPr>
        <p:spPr>
          <a:xfrm>
            <a:off x="3346400" y="2984897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✗ Reescribe commits (peligroso)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9"/>
          <p:cNvSpPr/>
          <p:nvPr/>
        </p:nvSpPr>
        <p:spPr>
          <a:xfrm>
            <a:off x="6045101" y="1409700"/>
            <a:ext cx="2717750" cy="1855143"/>
          </a:xfrm>
          <a:prstGeom prst="roundRect">
            <a:avLst>
              <a:gd fmla="val 5134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7" name="Google Shape;887;p29"/>
          <p:cNvCxnSpPr/>
          <p:nvPr/>
        </p:nvCxnSpPr>
        <p:spPr>
          <a:xfrm>
            <a:off x="6045101" y="1423988"/>
            <a:ext cx="2717750" cy="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8" name="Google Shape;888;p29"/>
          <p:cNvSpPr/>
          <p:nvPr/>
        </p:nvSpPr>
        <p:spPr>
          <a:xfrm>
            <a:off x="6178451" y="1571625"/>
            <a:ext cx="250007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Squash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9"/>
          <p:cNvSpPr/>
          <p:nvPr/>
        </p:nvSpPr>
        <p:spPr>
          <a:xfrm>
            <a:off x="6178451" y="1815405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Combina varios commits en uno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9"/>
          <p:cNvSpPr/>
          <p:nvPr/>
        </p:nvSpPr>
        <p:spPr>
          <a:xfrm>
            <a:off x="6178451" y="2038201"/>
            <a:ext cx="2451050" cy="704850"/>
          </a:xfrm>
          <a:prstGeom prst="roundRect">
            <a:avLst>
              <a:gd fmla="val 810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9"/>
          <p:cNvSpPr/>
          <p:nvPr/>
        </p:nvSpPr>
        <p:spPr>
          <a:xfrm>
            <a:off x="6254651" y="2114401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o o o → 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9"/>
          <p:cNvSpPr/>
          <p:nvPr/>
        </p:nvSpPr>
        <p:spPr>
          <a:xfrm>
            <a:off x="6254651" y="2400151"/>
            <a:ext cx="234462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(3 commits = 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9"/>
          <p:cNvSpPr/>
          <p:nvPr/>
        </p:nvSpPr>
        <p:spPr>
          <a:xfrm>
            <a:off x="6178451" y="2819251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Commits limpios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9"/>
          <p:cNvSpPr/>
          <p:nvPr/>
        </p:nvSpPr>
        <p:spPr>
          <a:xfrm>
            <a:off x="6178451" y="2984897"/>
            <a:ext cx="250007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✗ Pierde detalle individual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9"/>
          <p:cNvSpPr/>
          <p:nvPr/>
        </p:nvSpPr>
        <p:spPr>
          <a:xfrm>
            <a:off x="381000" y="4238774"/>
            <a:ext cx="8382000" cy="599926"/>
          </a:xfrm>
          <a:prstGeom prst="roundRect">
            <a:avLst>
              <a:gd fmla="val 12702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6" name="Google Shape;896;p29"/>
          <p:cNvCxnSpPr/>
          <p:nvPr/>
        </p:nvCxnSpPr>
        <p:spPr>
          <a:xfrm>
            <a:off x="400050" y="4238774"/>
            <a:ext cx="0" cy="599926"/>
          </a:xfrm>
          <a:prstGeom prst="straightConnector1">
            <a:avLst/>
          </a:prstGeom>
          <a:noFill/>
          <a:ln cap="flat" cmpd="sng" w="381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29"/>
          <p:cNvSpPr/>
          <p:nvPr/>
        </p:nvSpPr>
        <p:spPr>
          <a:xfrm>
            <a:off x="533400" y="4353074"/>
            <a:ext cx="8277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¿Cuál usar?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9"/>
          <p:cNvSpPr/>
          <p:nvPr/>
        </p:nvSpPr>
        <p:spPr>
          <a:xfrm>
            <a:off x="533400" y="4564410"/>
            <a:ext cx="82776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Principiantes: usa </a:t>
            </a:r>
            <a:r>
              <a:rPr b="0" i="0" lang="en-US" sz="9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r>
              <a:rPr b="0" i="0" lang="en-US" sz="9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. Es el más seguro y fácil de entender.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0"/>
          <p:cNvSpPr/>
          <p:nvPr/>
        </p:nvSpPr>
        <p:spPr>
          <a:xfrm>
            <a:off x="381000" y="304800"/>
            <a:ext cx="581958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 Stash - Guardar temporalmente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0"/>
          <p:cNvSpPr/>
          <p:nvPr/>
        </p:nvSpPr>
        <p:spPr>
          <a:xfrm>
            <a:off x="381000" y="1117699"/>
            <a:ext cx="5067696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Stash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guarda tus cambios temporalmente sin hacer commit. Como un "bolsillo" donde guardas trabajo en progreso.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381000" y="1738610"/>
            <a:ext cx="4968329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0"/>
          <p:cNvSpPr/>
          <p:nvPr/>
        </p:nvSpPr>
        <p:spPr>
          <a:xfrm>
            <a:off x="514350" y="1871960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¿Cuándo usarlo?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0"/>
          <p:cNvSpPr/>
          <p:nvPr/>
        </p:nvSpPr>
        <p:spPr>
          <a:xfrm>
            <a:off x="514350" y="2134791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Necesitas cambiar de rama pero no quieres commit aún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514350" y="2355652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Tienes que atender algo urgente en otra rama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0"/>
          <p:cNvSpPr/>
          <p:nvPr/>
        </p:nvSpPr>
        <p:spPr>
          <a:xfrm>
            <a:off x="514350" y="2576513"/>
            <a:ext cx="479566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Quieres limpiar temporalmente tu working directory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0"/>
          <p:cNvSpPr/>
          <p:nvPr/>
        </p:nvSpPr>
        <p:spPr>
          <a:xfrm>
            <a:off x="381000" y="3016448"/>
            <a:ext cx="4968329" cy="1695152"/>
          </a:xfrm>
          <a:prstGeom prst="roundRect">
            <a:avLst>
              <a:gd fmla="val 449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0"/>
          <p:cNvSpPr/>
          <p:nvPr/>
        </p:nvSpPr>
        <p:spPr>
          <a:xfrm>
            <a:off x="514350" y="3149798"/>
            <a:ext cx="47956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Comandos: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0"/>
          <p:cNvSpPr/>
          <p:nvPr/>
        </p:nvSpPr>
        <p:spPr>
          <a:xfrm>
            <a:off x="514350" y="3431679"/>
            <a:ext cx="4701629" cy="535186"/>
          </a:xfrm>
          <a:prstGeom prst="roundRect">
            <a:avLst>
              <a:gd fmla="val 1067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609600" y="3526929"/>
            <a:ext cx="460135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stash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0"/>
          <p:cNvSpPr/>
          <p:nvPr/>
        </p:nvSpPr>
        <p:spPr>
          <a:xfrm>
            <a:off x="609600" y="3738265"/>
            <a:ext cx="460135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Guarda cambios en el "bolsillo"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0"/>
          <p:cNvSpPr/>
          <p:nvPr/>
        </p:nvSpPr>
        <p:spPr>
          <a:xfrm>
            <a:off x="514350" y="4043065"/>
            <a:ext cx="4701629" cy="535186"/>
          </a:xfrm>
          <a:prstGeom prst="roundRect">
            <a:avLst>
              <a:gd fmla="val 1067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0"/>
          <p:cNvSpPr/>
          <p:nvPr/>
        </p:nvSpPr>
        <p:spPr>
          <a:xfrm>
            <a:off x="609600" y="4138315"/>
            <a:ext cx="460135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stash pop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0"/>
          <p:cNvSpPr/>
          <p:nvPr/>
        </p:nvSpPr>
        <p:spPr>
          <a:xfrm>
            <a:off x="609600" y="4349651"/>
            <a:ext cx="460135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Recupera los cambios guardados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0"/>
          <p:cNvSpPr/>
          <p:nvPr/>
        </p:nvSpPr>
        <p:spPr>
          <a:xfrm>
            <a:off x="5577929" y="780157"/>
            <a:ext cx="3185071" cy="4268986"/>
          </a:xfrm>
          <a:prstGeom prst="roundRect">
            <a:avLst>
              <a:gd fmla="val 299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0"/>
          <p:cNvSpPr/>
          <p:nvPr/>
        </p:nvSpPr>
        <p:spPr>
          <a:xfrm>
            <a:off x="5768429" y="970657"/>
            <a:ext cx="286015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Flujo típico: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0"/>
          <p:cNvSpPr/>
          <p:nvPr/>
        </p:nvSpPr>
        <p:spPr>
          <a:xfrm>
            <a:off x="5768429" y="1397347"/>
            <a:ext cx="2804071" cy="2971800"/>
          </a:xfrm>
          <a:prstGeom prst="roundRect">
            <a:avLst>
              <a:gd fmla="val 271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0"/>
          <p:cNvSpPr/>
          <p:nvPr/>
        </p:nvSpPr>
        <p:spPr>
          <a:xfrm>
            <a:off x="5882729" y="1511647"/>
            <a:ext cx="26269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1. Estás trabajando en algo...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0"/>
          <p:cNvSpPr/>
          <p:nvPr/>
        </p:nvSpPr>
        <p:spPr>
          <a:xfrm>
            <a:off x="5882729" y="1835497"/>
            <a:ext cx="26269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5149"/>
                </a:solidFill>
                <a:latin typeface="Arial"/>
                <a:ea typeface="Arial"/>
                <a:cs typeface="Arial"/>
                <a:sym typeface="Arial"/>
              </a:rPr>
              <a:t>2. ¡Urgente! Necesitas ir a 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0"/>
          <p:cNvSpPr/>
          <p:nvPr/>
        </p:nvSpPr>
        <p:spPr>
          <a:xfrm>
            <a:off x="5882729" y="2426047"/>
            <a:ext cx="26269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stash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0"/>
          <p:cNvSpPr/>
          <p:nvPr/>
        </p:nvSpPr>
        <p:spPr>
          <a:xfrm>
            <a:off x="5882729" y="2749897"/>
            <a:ext cx="26269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3. Cambias de rama, arreglas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0"/>
          <p:cNvSpPr/>
          <p:nvPr/>
        </p:nvSpPr>
        <p:spPr>
          <a:xfrm>
            <a:off x="5882729" y="3073747"/>
            <a:ext cx="26269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4. Vuelves a tu rama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0"/>
          <p:cNvSpPr/>
          <p:nvPr/>
        </p:nvSpPr>
        <p:spPr>
          <a:xfrm>
            <a:off x="5882729" y="3397597"/>
            <a:ext cx="26269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git stash pop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0"/>
          <p:cNvSpPr/>
          <p:nvPr/>
        </p:nvSpPr>
        <p:spPr>
          <a:xfrm>
            <a:off x="5882729" y="3721447"/>
            <a:ext cx="262698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5. Tus cambios están de vuelta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0"/>
          <p:cNvSpPr/>
          <p:nvPr/>
        </p:nvSpPr>
        <p:spPr>
          <a:xfrm>
            <a:off x="5768429" y="4521547"/>
            <a:ext cx="2804071" cy="337096"/>
          </a:xfrm>
          <a:prstGeom prst="roundRect">
            <a:avLst>
              <a:gd fmla="val 16954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30"/>
          <p:cNvCxnSpPr/>
          <p:nvPr/>
        </p:nvCxnSpPr>
        <p:spPr>
          <a:xfrm>
            <a:off x="5782717" y="4521547"/>
            <a:ext cx="0" cy="337096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2" name="Google Shape;932;p30"/>
          <p:cNvSpPr/>
          <p:nvPr/>
        </p:nvSpPr>
        <p:spPr>
          <a:xfrm>
            <a:off x="5892254" y="4616797"/>
            <a:ext cx="263669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Puedes tener múltiples stashes. Ver con: git stash list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1"/>
          <p:cNvSpPr/>
          <p:nvPr/>
        </p:nvSpPr>
        <p:spPr>
          <a:xfrm>
            <a:off x="381000" y="304800"/>
            <a:ext cx="477031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Cherry Pick - Elegir commits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1"/>
          <p:cNvSpPr/>
          <p:nvPr/>
        </p:nvSpPr>
        <p:spPr>
          <a:xfrm>
            <a:off x="381000" y="1356717"/>
            <a:ext cx="489661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Cherry pick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toma UN commit específico de otra rama y lo aplica a tu rama actual. Sin hacer merge completo.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1"/>
          <p:cNvSpPr/>
          <p:nvPr/>
        </p:nvSpPr>
        <p:spPr>
          <a:xfrm>
            <a:off x="381000" y="1977628"/>
            <a:ext cx="4800600" cy="1217116"/>
          </a:xfrm>
          <a:prstGeom prst="roundRect">
            <a:avLst>
              <a:gd fmla="val 782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533400" y="2130028"/>
            <a:ext cx="458571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533400" y="2385268"/>
            <a:ext cx="4495800" cy="415230"/>
          </a:xfrm>
          <a:prstGeom prst="roundRect">
            <a:avLst>
              <a:gd fmla="val 1376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1"/>
          <p:cNvSpPr/>
          <p:nvPr/>
        </p:nvSpPr>
        <p:spPr>
          <a:xfrm>
            <a:off x="647700" y="2499568"/>
            <a:ext cx="43525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D43B"/>
                </a:solidFill>
                <a:latin typeface="Courier New"/>
                <a:ea typeface="Courier New"/>
                <a:cs typeface="Courier New"/>
                <a:sym typeface="Courier New"/>
              </a:rPr>
              <a:t>git cherry-pick [hash-del-commit]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1"/>
          <p:cNvSpPr/>
          <p:nvPr/>
        </p:nvSpPr>
        <p:spPr>
          <a:xfrm>
            <a:off x="533400" y="2895749"/>
            <a:ext cx="458571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El hash lo consigues con git log (ej: a1b2c3d)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1"/>
          <p:cNvSpPr/>
          <p:nvPr/>
        </p:nvSpPr>
        <p:spPr>
          <a:xfrm>
            <a:off x="381000" y="3328095"/>
            <a:ext cx="4800600" cy="1144488"/>
          </a:xfrm>
          <a:prstGeom prst="roundRect">
            <a:avLst>
              <a:gd fmla="val 6658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1"/>
          <p:cNvSpPr/>
          <p:nvPr/>
        </p:nvSpPr>
        <p:spPr>
          <a:xfrm>
            <a:off x="514350" y="3461445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¿Cuándo usarlo?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1"/>
          <p:cNvSpPr/>
          <p:nvPr/>
        </p:nvSpPr>
        <p:spPr>
          <a:xfrm>
            <a:off x="514350" y="3724275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Un bug fix que necesitas en varias ramas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1"/>
          <p:cNvSpPr/>
          <p:nvPr/>
        </p:nvSpPr>
        <p:spPr>
          <a:xfrm>
            <a:off x="514350" y="3945136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Traer solo UN cambio sin merge completo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1"/>
          <p:cNvSpPr/>
          <p:nvPr/>
        </p:nvSpPr>
        <p:spPr>
          <a:xfrm>
            <a:off x="514350" y="4165997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Recuperar algo de una rama abandonada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1"/>
          <p:cNvSpPr/>
          <p:nvPr/>
        </p:nvSpPr>
        <p:spPr>
          <a:xfrm>
            <a:off x="5410200" y="942082"/>
            <a:ext cx="3352800" cy="3945136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1"/>
          <p:cNvSpPr/>
          <p:nvPr/>
        </p:nvSpPr>
        <p:spPr>
          <a:xfrm>
            <a:off x="5600700" y="1132582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Visual: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1"/>
          <p:cNvSpPr/>
          <p:nvPr/>
        </p:nvSpPr>
        <p:spPr>
          <a:xfrm>
            <a:off x="5600700" y="1559272"/>
            <a:ext cx="2971800" cy="2647950"/>
          </a:xfrm>
          <a:prstGeom prst="roundRect">
            <a:avLst>
              <a:gd fmla="val 287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1"/>
          <p:cNvSpPr/>
          <p:nvPr/>
        </p:nvSpPr>
        <p:spPr>
          <a:xfrm>
            <a:off x="5734050" y="169262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rama-A: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1"/>
          <p:cNvSpPr/>
          <p:nvPr/>
        </p:nvSpPr>
        <p:spPr>
          <a:xfrm>
            <a:off x="5734050" y="199742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o ─ o ─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 ─ 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1"/>
          <p:cNvSpPr/>
          <p:nvPr/>
        </p:nvSpPr>
        <p:spPr>
          <a:xfrm>
            <a:off x="5734050" y="228317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1"/>
          <p:cNvSpPr/>
          <p:nvPr/>
        </p:nvSpPr>
        <p:spPr>
          <a:xfrm>
            <a:off x="5734050" y="256892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este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1"/>
          <p:cNvSpPr/>
          <p:nvPr/>
        </p:nvSpPr>
        <p:spPr>
          <a:xfrm>
            <a:off x="5734050" y="293087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main: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1"/>
          <p:cNvSpPr/>
          <p:nvPr/>
        </p:nvSpPr>
        <p:spPr>
          <a:xfrm>
            <a:off x="5734050" y="323567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o ─ o ─ o ─ </a:t>
            </a: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1"/>
          <p:cNvSpPr/>
          <p:nvPr/>
        </p:nvSpPr>
        <p:spPr>
          <a:xfrm>
            <a:off x="5734050" y="352142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1"/>
          <p:cNvSpPr/>
          <p:nvPr/>
        </p:nvSpPr>
        <p:spPr>
          <a:xfrm>
            <a:off x="5734050" y="3807172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cherry-pick!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1"/>
          <p:cNvSpPr/>
          <p:nvPr/>
        </p:nvSpPr>
        <p:spPr>
          <a:xfrm>
            <a:off x="5600700" y="4359622"/>
            <a:ext cx="2971800" cy="337096"/>
          </a:xfrm>
          <a:prstGeom prst="roundRect">
            <a:avLst>
              <a:gd fmla="val 16954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3" name="Google Shape;963;p31"/>
          <p:cNvCxnSpPr/>
          <p:nvPr/>
        </p:nvCxnSpPr>
        <p:spPr>
          <a:xfrm>
            <a:off x="5614988" y="4359622"/>
            <a:ext cx="0" cy="337096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4" name="Google Shape;964;p31"/>
          <p:cNvSpPr/>
          <p:nvPr/>
        </p:nvSpPr>
        <p:spPr>
          <a:xfrm>
            <a:off x="5724525" y="4454872"/>
            <a:ext cx="280777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Es como copiar/pegar un commit específico a otra rama.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32"/>
          <p:cNvSpPr/>
          <p:nvPr/>
        </p:nvSpPr>
        <p:spPr>
          <a:xfrm>
            <a:off x="381000" y="304800"/>
            <a:ext cx="54406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GitHub Actions - Automatización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2"/>
          <p:cNvSpPr/>
          <p:nvPr/>
        </p:nvSpPr>
        <p:spPr>
          <a:xfrm>
            <a:off x="381000" y="1397794"/>
            <a:ext cx="489661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permite automatizar tareas cuando ocurren eventos en tu repositorio.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2"/>
          <p:cNvSpPr/>
          <p:nvPr/>
        </p:nvSpPr>
        <p:spPr>
          <a:xfrm>
            <a:off x="381000" y="2018705"/>
            <a:ext cx="4800600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2"/>
          <p:cNvSpPr/>
          <p:nvPr/>
        </p:nvSpPr>
        <p:spPr>
          <a:xfrm>
            <a:off x="514350" y="2152055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puedes automatizar?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2"/>
          <p:cNvSpPr/>
          <p:nvPr/>
        </p:nvSpPr>
        <p:spPr>
          <a:xfrm>
            <a:off x="514350" y="2414885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Correr tests automáticamente al hacer push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2"/>
          <p:cNvSpPr/>
          <p:nvPr/>
        </p:nvSpPr>
        <p:spPr>
          <a:xfrm>
            <a:off x="514350" y="2635746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Verificar que el código compile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2"/>
          <p:cNvSpPr/>
          <p:nvPr/>
        </p:nvSpPr>
        <p:spPr>
          <a:xfrm>
            <a:off x="514350" y="2856607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Desplegar a producción automáticamente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2"/>
          <p:cNvSpPr/>
          <p:nvPr/>
        </p:nvSpPr>
        <p:spPr>
          <a:xfrm>
            <a:off x="514350" y="3077468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Revisar estilo de código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2"/>
          <p:cNvSpPr/>
          <p:nvPr/>
        </p:nvSpPr>
        <p:spPr>
          <a:xfrm>
            <a:off x="381000" y="3517404"/>
            <a:ext cx="4800600" cy="914102"/>
          </a:xfrm>
          <a:prstGeom prst="roundRect">
            <a:avLst>
              <a:gd fmla="val 8336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2"/>
          <p:cNvSpPr/>
          <p:nvPr/>
        </p:nvSpPr>
        <p:spPr>
          <a:xfrm>
            <a:off x="514350" y="3650754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Esto es CI/CD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2"/>
          <p:cNvSpPr/>
          <p:nvPr/>
        </p:nvSpPr>
        <p:spPr>
          <a:xfrm>
            <a:off x="514350" y="3913584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= Continuous Integration (integrar código constantemente)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2"/>
          <p:cNvSpPr/>
          <p:nvPr/>
        </p:nvSpPr>
        <p:spPr>
          <a:xfrm>
            <a:off x="514350" y="4124920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CD</a:t>
            </a: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= Continuous Deployment (desplegar automáticamente)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2"/>
          <p:cNvSpPr/>
          <p:nvPr/>
        </p:nvSpPr>
        <p:spPr>
          <a:xfrm>
            <a:off x="5410200" y="992535"/>
            <a:ext cx="3352800" cy="3844082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2"/>
          <p:cNvSpPr/>
          <p:nvPr/>
        </p:nvSpPr>
        <p:spPr>
          <a:xfrm>
            <a:off x="5600700" y="1183035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Se configura con archivos YAML: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2"/>
          <p:cNvSpPr/>
          <p:nvPr/>
        </p:nvSpPr>
        <p:spPr>
          <a:xfrm>
            <a:off x="5600700" y="1609725"/>
            <a:ext cx="2971800" cy="2400300"/>
          </a:xfrm>
          <a:prstGeom prst="roundRect">
            <a:avLst>
              <a:gd fmla="val 3175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2"/>
          <p:cNvSpPr/>
          <p:nvPr/>
        </p:nvSpPr>
        <p:spPr>
          <a:xfrm>
            <a:off x="5734050" y="17430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.github/workflows/test.yml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2"/>
          <p:cNvSpPr/>
          <p:nvPr/>
        </p:nvSpPr>
        <p:spPr>
          <a:xfrm>
            <a:off x="5734050" y="20859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name: Tests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2"/>
          <p:cNvSpPr/>
          <p:nvPr/>
        </p:nvSpPr>
        <p:spPr>
          <a:xfrm>
            <a:off x="5734050" y="23907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on: push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2"/>
          <p:cNvSpPr/>
          <p:nvPr/>
        </p:nvSpPr>
        <p:spPr>
          <a:xfrm>
            <a:off x="5734050" y="26955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jobs: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2"/>
          <p:cNvSpPr/>
          <p:nvPr/>
        </p:nvSpPr>
        <p:spPr>
          <a:xfrm>
            <a:off x="5734050" y="30003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test: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2"/>
          <p:cNvSpPr/>
          <p:nvPr/>
        </p:nvSpPr>
        <p:spPr>
          <a:xfrm>
            <a:off x="5734050" y="33051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runs-on: ubuntu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2"/>
          <p:cNvSpPr/>
          <p:nvPr/>
        </p:nvSpPr>
        <p:spPr>
          <a:xfrm>
            <a:off x="5734050" y="3609975"/>
            <a:ext cx="27592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steps: ...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2"/>
          <p:cNvSpPr/>
          <p:nvPr/>
        </p:nvSpPr>
        <p:spPr>
          <a:xfrm>
            <a:off x="5600700" y="4162425"/>
            <a:ext cx="2971800" cy="483691"/>
          </a:xfrm>
          <a:prstGeom prst="roundRect">
            <a:avLst>
              <a:gd fmla="val 11815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4" name="Google Shape;994;p32"/>
          <p:cNvCxnSpPr/>
          <p:nvPr/>
        </p:nvCxnSpPr>
        <p:spPr>
          <a:xfrm>
            <a:off x="5614988" y="4162425"/>
            <a:ext cx="0" cy="483691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" name="Google Shape;995;p32"/>
          <p:cNvSpPr/>
          <p:nvPr/>
        </p:nvSpPr>
        <p:spPr>
          <a:xfrm>
            <a:off x="5724525" y="4257675"/>
            <a:ext cx="2807779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Gratis para repos públicos. Límites generosos para privados.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3"/>
          <p:cNvSpPr/>
          <p:nvPr/>
        </p:nvSpPr>
        <p:spPr>
          <a:xfrm>
            <a:off x="381000" y="304800"/>
            <a:ext cx="62664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GitHub CLI - GitHub desde la terminal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3"/>
          <p:cNvSpPr/>
          <p:nvPr/>
        </p:nvSpPr>
        <p:spPr>
          <a:xfrm>
            <a:off x="381000" y="1322487"/>
            <a:ext cx="489661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gh</a:t>
            </a:r>
            <a:r>
              <a:rPr b="0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la herramienta oficial de GitHub para usar desde la terminal, sin abrir el navegador.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3"/>
          <p:cNvSpPr/>
          <p:nvPr/>
        </p:nvSpPr>
        <p:spPr>
          <a:xfrm>
            <a:off x="381000" y="1943398"/>
            <a:ext cx="4800600" cy="1365349"/>
          </a:xfrm>
          <a:prstGeom prst="roundRect">
            <a:avLst>
              <a:gd fmla="val 558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3"/>
          <p:cNvSpPr/>
          <p:nvPr/>
        </p:nvSpPr>
        <p:spPr>
          <a:xfrm>
            <a:off x="514350" y="2076748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¿Qué puedes hacer?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3"/>
          <p:cNvSpPr/>
          <p:nvPr/>
        </p:nvSpPr>
        <p:spPr>
          <a:xfrm>
            <a:off x="514350" y="2339578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Crear Pull Requests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3"/>
          <p:cNvSpPr/>
          <p:nvPr/>
        </p:nvSpPr>
        <p:spPr>
          <a:xfrm>
            <a:off x="514350" y="2560439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Ver y crear Issues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514350" y="2781300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Clonar repos más fácil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3"/>
          <p:cNvSpPr/>
          <p:nvPr/>
        </p:nvSpPr>
        <p:spPr>
          <a:xfrm>
            <a:off x="514350" y="3002161"/>
            <a:ext cx="462457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✓ Autenticarte sin tokens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3"/>
          <p:cNvSpPr/>
          <p:nvPr/>
        </p:nvSpPr>
        <p:spPr>
          <a:xfrm>
            <a:off x="381000" y="3442097"/>
            <a:ext cx="4800600" cy="1064716"/>
          </a:xfrm>
          <a:prstGeom prst="roundRect">
            <a:avLst>
              <a:gd fmla="val 7157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3"/>
          <p:cNvSpPr/>
          <p:nvPr/>
        </p:nvSpPr>
        <p:spPr>
          <a:xfrm>
            <a:off x="514350" y="3575447"/>
            <a:ext cx="462457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863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8636"/>
                </a:solidFill>
                <a:latin typeface="Arial"/>
                <a:ea typeface="Arial"/>
                <a:cs typeface="Arial"/>
                <a:sym typeface="Arial"/>
              </a:rPr>
              <a:t>Instalación: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3"/>
          <p:cNvSpPr/>
          <p:nvPr/>
        </p:nvSpPr>
        <p:spPr>
          <a:xfrm>
            <a:off x="514350" y="3838277"/>
            <a:ext cx="4533900" cy="535186"/>
          </a:xfrm>
          <a:prstGeom prst="roundRect">
            <a:avLst>
              <a:gd fmla="val 10679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3"/>
          <p:cNvSpPr/>
          <p:nvPr/>
        </p:nvSpPr>
        <p:spPr>
          <a:xfrm>
            <a:off x="609600" y="3933527"/>
            <a:ext cx="443026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Windows (winget):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3"/>
          <p:cNvSpPr/>
          <p:nvPr/>
        </p:nvSpPr>
        <p:spPr>
          <a:xfrm>
            <a:off x="609600" y="4118223"/>
            <a:ext cx="443026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winget install GitHub.cli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3"/>
          <p:cNvSpPr/>
          <p:nvPr/>
        </p:nvSpPr>
        <p:spPr>
          <a:xfrm>
            <a:off x="5410200" y="1123950"/>
            <a:ext cx="3352800" cy="3581251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3"/>
          <p:cNvSpPr/>
          <p:nvPr/>
        </p:nvSpPr>
        <p:spPr>
          <a:xfrm>
            <a:off x="5600700" y="1314450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Comandos útiles: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3"/>
          <p:cNvSpPr/>
          <p:nvPr/>
        </p:nvSpPr>
        <p:spPr>
          <a:xfrm>
            <a:off x="5600700" y="1741140"/>
            <a:ext cx="2971800" cy="521940"/>
          </a:xfrm>
          <a:prstGeom prst="roundRect">
            <a:avLst>
              <a:gd fmla="val 1095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3"/>
          <p:cNvSpPr/>
          <p:nvPr/>
        </p:nvSpPr>
        <p:spPr>
          <a:xfrm>
            <a:off x="5695950" y="1836390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gh auth login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3"/>
          <p:cNvSpPr/>
          <p:nvPr/>
        </p:nvSpPr>
        <p:spPr>
          <a:xfrm>
            <a:off x="5695950" y="2034480"/>
            <a:ext cx="28369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Autenticarte con GitHub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3"/>
          <p:cNvSpPr/>
          <p:nvPr/>
        </p:nvSpPr>
        <p:spPr>
          <a:xfrm>
            <a:off x="5600700" y="2491680"/>
            <a:ext cx="2971800" cy="521940"/>
          </a:xfrm>
          <a:prstGeom prst="roundRect">
            <a:avLst>
              <a:gd fmla="val 1095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3"/>
          <p:cNvSpPr/>
          <p:nvPr/>
        </p:nvSpPr>
        <p:spPr>
          <a:xfrm>
            <a:off x="5695950" y="2586930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gh repo clone usuario/repo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3"/>
          <p:cNvSpPr/>
          <p:nvPr/>
        </p:nvSpPr>
        <p:spPr>
          <a:xfrm>
            <a:off x="5695950" y="2785021"/>
            <a:ext cx="28369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Clonar sin escribir URL completa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3"/>
          <p:cNvSpPr/>
          <p:nvPr/>
        </p:nvSpPr>
        <p:spPr>
          <a:xfrm>
            <a:off x="5600700" y="3242221"/>
            <a:ext cx="2971800" cy="521940"/>
          </a:xfrm>
          <a:prstGeom prst="roundRect">
            <a:avLst>
              <a:gd fmla="val 1095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3"/>
          <p:cNvSpPr/>
          <p:nvPr/>
        </p:nvSpPr>
        <p:spPr>
          <a:xfrm>
            <a:off x="5695950" y="3337471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gh pr create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3"/>
          <p:cNvSpPr/>
          <p:nvPr/>
        </p:nvSpPr>
        <p:spPr>
          <a:xfrm>
            <a:off x="5695950" y="3535561"/>
            <a:ext cx="28369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Crear Pull Request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3"/>
          <p:cNvSpPr/>
          <p:nvPr/>
        </p:nvSpPr>
        <p:spPr>
          <a:xfrm>
            <a:off x="5600700" y="3992761"/>
            <a:ext cx="2971800" cy="521940"/>
          </a:xfrm>
          <a:prstGeom prst="roundRect">
            <a:avLst>
              <a:gd fmla="val 10950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3"/>
          <p:cNvSpPr/>
          <p:nvPr/>
        </p:nvSpPr>
        <p:spPr>
          <a:xfrm>
            <a:off x="5695950" y="4088011"/>
            <a:ext cx="283692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gh issue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3"/>
          <p:cNvSpPr/>
          <p:nvPr/>
        </p:nvSpPr>
        <p:spPr>
          <a:xfrm>
            <a:off x="5695950" y="4286101"/>
            <a:ext cx="28369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Ver issues del repo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4"/>
          <p:cNvSpPr/>
          <p:nvPr/>
        </p:nvSpPr>
        <p:spPr>
          <a:xfrm>
            <a:off x="381000" y="266700"/>
            <a:ext cx="46925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Markdown - Formatear texto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4"/>
          <p:cNvSpPr/>
          <p:nvPr/>
        </p:nvSpPr>
        <p:spPr>
          <a:xfrm>
            <a:off x="381000" y="1354485"/>
            <a:ext cx="493547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5032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05032"/>
                </a:solidFill>
                <a:latin typeface="Arial"/>
                <a:ea typeface="Arial"/>
                <a:cs typeface="Arial"/>
                <a:sym typeface="Arial"/>
              </a:rPr>
              <a:t>Markdown</a:t>
            </a:r>
            <a:r>
              <a:rPr b="0" i="0" lang="en-US" sz="1125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 es un lenguaje simple para dar formato a texto. Se usa en README, documentación, issues, PRs.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4"/>
          <p:cNvSpPr/>
          <p:nvPr/>
        </p:nvSpPr>
        <p:spPr>
          <a:xfrm>
            <a:off x="381000" y="1925985"/>
            <a:ext cx="4838700" cy="2510582"/>
          </a:xfrm>
          <a:prstGeom prst="roundRect">
            <a:avLst>
              <a:gd fmla="val 3035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4"/>
          <p:cNvSpPr/>
          <p:nvPr/>
        </p:nvSpPr>
        <p:spPr>
          <a:xfrm>
            <a:off x="495300" y="2040285"/>
            <a:ext cx="470230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00D9FF"/>
                </a:solidFill>
                <a:latin typeface="Arial"/>
                <a:ea typeface="Arial"/>
                <a:cs typeface="Arial"/>
                <a:sym typeface="Arial"/>
              </a:rPr>
              <a:t>Sintaxis básica: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4"/>
          <p:cNvSpPr/>
          <p:nvPr/>
        </p:nvSpPr>
        <p:spPr>
          <a:xfrm>
            <a:off x="495300" y="2289721"/>
            <a:ext cx="22928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Escribes: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495300" y="2474416"/>
            <a:ext cx="2247900" cy="1847850"/>
          </a:xfrm>
          <a:prstGeom prst="roundRect">
            <a:avLst>
              <a:gd fmla="val 206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4"/>
          <p:cNvSpPr/>
          <p:nvPr/>
        </p:nvSpPr>
        <p:spPr>
          <a:xfrm>
            <a:off x="571500" y="2550616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# Título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4"/>
          <p:cNvSpPr/>
          <p:nvPr/>
        </p:nvSpPr>
        <p:spPr>
          <a:xfrm>
            <a:off x="571500" y="2836366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## Subtítulo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4"/>
          <p:cNvSpPr/>
          <p:nvPr/>
        </p:nvSpPr>
        <p:spPr>
          <a:xfrm>
            <a:off x="571500" y="3122116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**negrita**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4"/>
          <p:cNvSpPr/>
          <p:nvPr/>
        </p:nvSpPr>
        <p:spPr>
          <a:xfrm>
            <a:off x="571500" y="3407866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*cursiva*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4"/>
          <p:cNvSpPr/>
          <p:nvPr/>
        </p:nvSpPr>
        <p:spPr>
          <a:xfrm>
            <a:off x="571500" y="3693616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guion lista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4"/>
          <p:cNvSpPr/>
          <p:nvPr/>
        </p:nvSpPr>
        <p:spPr>
          <a:xfrm>
            <a:off x="571500" y="3979366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`código`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4"/>
          <p:cNvSpPr/>
          <p:nvPr/>
        </p:nvSpPr>
        <p:spPr>
          <a:xfrm>
            <a:off x="2857500" y="2356396"/>
            <a:ext cx="229285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Se ve: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4"/>
          <p:cNvSpPr/>
          <p:nvPr/>
        </p:nvSpPr>
        <p:spPr>
          <a:xfrm>
            <a:off x="2857500" y="2541091"/>
            <a:ext cx="2247900" cy="1714351"/>
          </a:xfrm>
          <a:prstGeom prst="roundRect">
            <a:avLst>
              <a:gd fmla="val 222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4"/>
          <p:cNvSpPr/>
          <p:nvPr/>
        </p:nvSpPr>
        <p:spPr>
          <a:xfrm>
            <a:off x="2933700" y="2617291"/>
            <a:ext cx="213741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4"/>
          <p:cNvSpPr/>
          <p:nvPr/>
        </p:nvSpPr>
        <p:spPr>
          <a:xfrm>
            <a:off x="2933700" y="2849612"/>
            <a:ext cx="21374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4"/>
          <p:cNvSpPr/>
          <p:nvPr/>
        </p:nvSpPr>
        <p:spPr>
          <a:xfrm>
            <a:off x="2933700" y="3055293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negrita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4"/>
          <p:cNvSpPr/>
          <p:nvPr/>
        </p:nvSpPr>
        <p:spPr>
          <a:xfrm>
            <a:off x="2933700" y="3341043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cursiva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4"/>
          <p:cNvSpPr/>
          <p:nvPr/>
        </p:nvSpPr>
        <p:spPr>
          <a:xfrm>
            <a:off x="2933700" y="3626793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lista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4"/>
          <p:cNvSpPr/>
          <p:nvPr/>
        </p:nvSpPr>
        <p:spPr>
          <a:xfrm>
            <a:off x="2933700" y="3912543"/>
            <a:ext cx="21374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4"/>
          <p:cNvSpPr/>
          <p:nvPr/>
        </p:nvSpPr>
        <p:spPr>
          <a:xfrm>
            <a:off x="5410200" y="634454"/>
            <a:ext cx="3352800" cy="4522440"/>
          </a:xfrm>
          <a:prstGeom prst="roundRect">
            <a:avLst>
              <a:gd fmla="val 2841" name="adj"/>
            </a:avLst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4"/>
          <p:cNvSpPr/>
          <p:nvPr/>
        </p:nvSpPr>
        <p:spPr>
          <a:xfrm>
            <a:off x="5600700" y="824954"/>
            <a:ext cx="303123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Más sintaxis: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4"/>
          <p:cNvSpPr/>
          <p:nvPr/>
        </p:nvSpPr>
        <p:spPr>
          <a:xfrm>
            <a:off x="5600700" y="1232595"/>
            <a:ext cx="2971800" cy="742950"/>
          </a:xfrm>
          <a:prstGeom prst="roundRect">
            <a:avLst>
              <a:gd fmla="val 769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4"/>
          <p:cNvSpPr/>
          <p:nvPr/>
        </p:nvSpPr>
        <p:spPr>
          <a:xfrm>
            <a:off x="5695950" y="132784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[link](url)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4"/>
          <p:cNvSpPr/>
          <p:nvPr/>
        </p:nvSpPr>
        <p:spPr>
          <a:xfrm>
            <a:off x="5695950" y="161359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 enlace clickeable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4"/>
          <p:cNvSpPr/>
          <p:nvPr/>
        </p:nvSpPr>
        <p:spPr>
          <a:xfrm>
            <a:off x="5600700" y="2204145"/>
            <a:ext cx="2971800" cy="742950"/>
          </a:xfrm>
          <a:prstGeom prst="roundRect">
            <a:avLst>
              <a:gd fmla="val 7692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4"/>
          <p:cNvSpPr/>
          <p:nvPr/>
        </p:nvSpPr>
        <p:spPr>
          <a:xfrm>
            <a:off x="5695950" y="229939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![alt](imagen.png)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4"/>
          <p:cNvSpPr/>
          <p:nvPr/>
        </p:nvSpPr>
        <p:spPr>
          <a:xfrm>
            <a:off x="5695950" y="258514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 imagen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4"/>
          <p:cNvSpPr/>
          <p:nvPr/>
        </p:nvSpPr>
        <p:spPr>
          <a:xfrm>
            <a:off x="5600700" y="3175695"/>
            <a:ext cx="2971800" cy="1276350"/>
          </a:xfrm>
          <a:prstGeom prst="roundRect">
            <a:avLst>
              <a:gd fmla="val 4478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4"/>
          <p:cNvSpPr/>
          <p:nvPr/>
        </p:nvSpPr>
        <p:spPr>
          <a:xfrm>
            <a:off x="5695950" y="327094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```python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4"/>
          <p:cNvSpPr/>
          <p:nvPr/>
        </p:nvSpPr>
        <p:spPr>
          <a:xfrm>
            <a:off x="5695950" y="353764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4"/>
          <p:cNvSpPr/>
          <p:nvPr/>
        </p:nvSpPr>
        <p:spPr>
          <a:xfrm>
            <a:off x="5695950" y="380434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EDF3"/>
                </a:solidFill>
                <a:latin typeface="Arial"/>
                <a:ea typeface="Arial"/>
                <a:cs typeface="Arial"/>
                <a:sym typeface="Arial"/>
              </a:rPr>
              <a:t>```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4"/>
          <p:cNvSpPr/>
          <p:nvPr/>
        </p:nvSpPr>
        <p:spPr>
          <a:xfrm>
            <a:off x="5695950" y="4090095"/>
            <a:ext cx="28369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→ bloque de código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4"/>
          <p:cNvSpPr/>
          <p:nvPr/>
        </p:nvSpPr>
        <p:spPr>
          <a:xfrm>
            <a:off x="5600700" y="4680645"/>
            <a:ext cx="2971800" cy="285750"/>
          </a:xfrm>
          <a:prstGeom prst="roundRect">
            <a:avLst>
              <a:gd fmla="val 20000" name="adj"/>
            </a:avLst>
          </a:prstGeom>
          <a:solidFill>
            <a:srgbClr val="FFD43B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9" name="Google Shape;1069;p34"/>
          <p:cNvCxnSpPr/>
          <p:nvPr/>
        </p:nvCxnSpPr>
        <p:spPr>
          <a:xfrm>
            <a:off x="5614988" y="4680645"/>
            <a:ext cx="0" cy="285750"/>
          </a:xfrm>
          <a:prstGeom prst="straightConnector1">
            <a:avLst/>
          </a:prstGeom>
          <a:noFill/>
          <a:ln cap="flat" cmpd="sng" w="28575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0" name="Google Shape;1070;p34"/>
          <p:cNvSpPr/>
          <p:nvPr/>
        </p:nvSpPr>
        <p:spPr>
          <a:xfrm>
            <a:off x="5705475" y="4756845"/>
            <a:ext cx="28466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D43B"/>
                </a:solidFill>
                <a:latin typeface="Arial"/>
                <a:ea typeface="Arial"/>
                <a:cs typeface="Arial"/>
                <a:sym typeface="Arial"/>
              </a:rPr>
              <a:t>Los archivos .md se renderizan automáticamente en GitHub.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2026-01-09T16:58:53Z</dcterms:created>
  <dc:creator>Curso Python</dc:creator>
</cp:coreProperties>
</file>