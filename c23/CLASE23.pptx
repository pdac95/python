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5143500" cy="9144000"/>
  <p:embeddedFontLst>
    <p:embeddedFont>
      <p:font typeface="Arial Blac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yueEvrxpEGkewvlchC/VRmALr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BF9D33-3E8C-40E8-A0FD-6E2D45B2A028}">
  <a:tblStyle styleId="{21BF9D33-3E8C-40E8-A0FD-6E2D45B2A02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rialBlack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1463040" y="4572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CLASE 23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463040" y="118872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SQL Fundamentals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463040" y="18288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"Guardando datos de verdad"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463040" y="2560320"/>
            <a:ext cx="6400800" cy="201168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737360" y="265176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Hoy aprenderan: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737360" y="3017520"/>
            <a:ext cx="5943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Que es una base de datos y para que sirve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Crear tablas para organizar informacion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Los 4 comandos: INSERT, SELECT, UPDATE, DELETE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Filtrar datos con WHERE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Construir la base de datos de nuestra biblioteca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463040" y="4709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Herramienta: DB Browser for SQLite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Que es una base de datos?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914400" y="685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Analogia: Excel con superpoderes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1188720"/>
            <a:ext cx="38404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1188720"/>
            <a:ext cx="3840480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" y="1325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Excel / Hojas de calculo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169164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 archivo con varias hojas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Cada hoja tiene filas y columnas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Los datos estan en celdas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846320" y="1188720"/>
            <a:ext cx="38404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029200" y="169164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 archivo con varias TABLAS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Cada tabla tiene FILAS y COLUMNAS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Los datos estan en REGISTROS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Los superpoderes: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3611880"/>
            <a:ext cx="196596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36576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Mas rapida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393192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Busca entre millones de registros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606040" y="3611880"/>
            <a:ext cx="196596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697480" y="36576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697480" y="393192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Conecta tablas entre 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754880" y="3611880"/>
            <a:ext cx="196596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846320" y="36576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Concurrencia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846320" y="393192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Multiples usuarios a la vez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903720" y="3611880"/>
            <a:ext cx="196596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995160" y="36576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Integridad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995160" y="393192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Reglas para proteger datos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7" name="Google Shape;5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6177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868680" y="4572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SQL = Structured Query Language = El idioma para hablar con la BD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Anatomia de una tabla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914400" y="685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Tabla = Coleccion de datos del mismo tipo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8" name="Google Shape;68;p3"/>
          <p:cNvGraphicFramePr/>
          <p:nvPr/>
        </p:nvGraphicFramePr>
        <p:xfrm>
          <a:off x="73152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{21BF9D33-3E8C-40E8-A0FD-6E2D45B2A028}</a:tableStyleId>
              </a:tblPr>
              <a:tblGrid>
                <a:gridCol w="731525"/>
                <a:gridCol w="2743200"/>
                <a:gridCol w="2560325"/>
                <a:gridCol w="7315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titulo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anio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AB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1984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George Orwell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Cien anios de soledad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Garcia Marquez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1967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principito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Saint-Exupery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" name="Google Shape;69;p3"/>
          <p:cNvSpPr/>
          <p:nvPr/>
        </p:nvSpPr>
        <p:spPr>
          <a:xfrm>
            <a:off x="7589520" y="16916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Fila (registro)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31520" y="2606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Columnas (campos) - definen QUE datos guardamos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Vocabulario: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57200" y="3429000"/>
            <a:ext cx="19659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3429000"/>
            <a:ext cx="196596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48640" y="352044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TABLA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48640" y="37947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Donde guardamos un tipo de datos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606040" y="3429000"/>
            <a:ext cx="19659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606040" y="3429000"/>
            <a:ext cx="196596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697480" y="352044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COLUMNA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697480" y="37947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 tipo de informacion (titulo, autor)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754880" y="3429000"/>
            <a:ext cx="19659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754880" y="3429000"/>
            <a:ext cx="196596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846320" y="352044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FILA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846320" y="37947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 registro completo (un libro)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903720" y="3429000"/>
            <a:ext cx="19659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903720" y="3429000"/>
            <a:ext cx="196596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995160" y="352044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995160" y="37947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 dato especifico (el titulo de un libro)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6177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868680" y="4572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Cada tabla guarda UN tipo de cosa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De clases Python a tablas SQL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57200" y="1005840"/>
            <a:ext cx="38404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57200" y="1005840"/>
            <a:ext cx="38404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Lo que ya conocen (Python):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40080" y="146304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class Libro: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titulo, autor, isbn):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     self.titulo = titulo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     self.autor =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     self.isbn = isbn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     self.disponible = 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846320" y="1005840"/>
            <a:ext cx="38404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46320" y="1005840"/>
            <a:ext cx="384048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Lo que aprenderan hoy (SQL):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Tabla: libros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" name="Google Shape;107;p4"/>
          <p:cNvGraphicFramePr/>
          <p:nvPr/>
        </p:nvGraphicFramePr>
        <p:xfrm>
          <a:off x="50292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{21BF9D33-3E8C-40E8-A0FD-6E2D45B2A028}</a:tableStyleId>
              </a:tblPr>
              <a:tblGrid>
                <a:gridCol w="914400"/>
                <a:gridCol w="822950"/>
                <a:gridCol w="822950"/>
                <a:gridCol w="9144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titulo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isbn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disponible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AB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(texto)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(texto)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(texto)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(si/no)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p4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371600" y="35661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Atributos de clase  --&gt;  Columnas de tabla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Objetos creados  --&gt;  Filas en la tabla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1" name="Google Shape;11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73659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822960" y="47091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OOP y SQL se complementan perfectamente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Tipos de datos en SQLite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Cada columna tiene un TIPO de dato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5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{21BF9D33-3E8C-40E8-A0FD-6E2D45B2A028}</a:tableStyleId>
              </a:tblPr>
              <a:tblGrid>
                <a:gridCol w="1645925"/>
                <a:gridCol w="2743200"/>
                <a:gridCol w="384047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 guarda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AB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Numeros enteros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 42, -10, 1000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Numeros decimales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3.14, 99.99, -0.5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Texto / cadenas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"Hola", "1984", "abc"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Datos binarios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Imagenes, archivos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vacio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(sin valor)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5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Equivalencias con Python: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57200" y="3611880"/>
            <a:ext cx="19659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48640" y="37033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INTEGER  =  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606040" y="3611880"/>
            <a:ext cx="19659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697480" y="37033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REAL  =  float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754880" y="3611880"/>
            <a:ext cx="19659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846320" y="37033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TEXT  =  str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903720" y="3611880"/>
            <a:ext cx="19659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995160" y="37033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NULL  =  None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3" name="Google Shape;1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6177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/>
          <p:nvPr/>
        </p:nvSpPr>
        <p:spPr>
          <a:xfrm>
            <a:off x="868680" y="4572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SQLite es flexible con tipos, pero es buena practica definirlos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CREATE TABLE - Crear tablas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Para crear una tabla necesitamos definir: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Nombre de la tabla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2. Columnas y sus tipos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3. Restricciones (opcional pero recomendado)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57200" y="1920240"/>
            <a:ext cx="502920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48640" y="196596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Estructura basica: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731520" y="224028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CREATE TABLE nombre_tabla 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    columna1  TIPO,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    columna2  TIPO,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    columna3  TIPO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760720" y="19202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Restricciones utiles: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760720" y="2286000"/>
            <a:ext cx="2926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852160" y="230428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PRIMARY KEY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040880" y="230428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ID unico (no se repite)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760720" y="2743200"/>
            <a:ext cx="2926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852160" y="276148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NOT NULL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7040880" y="276148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 puede estar vacio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760720" y="3200400"/>
            <a:ext cx="2926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852160" y="321868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UNIQUE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7040880" y="321868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 se puede repetir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760720" y="3657600"/>
            <a:ext cx="2926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852160" y="367588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DEFAULT valor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040880" y="367588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Valor por defecto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Veamos como se hace en DB Browser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Nuestras tablas para la biblioteca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Vamos a crear 3 tablas: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57200" y="1097280"/>
            <a:ext cx="26517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57200" y="1097280"/>
            <a:ext cx="265176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57200" y="109728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4008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id (PK)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titulo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40080" y="2240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40080" y="25603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isbn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40080" y="2880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40080" y="3200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disponible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291840" y="1097280"/>
            <a:ext cx="26517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291840" y="1097280"/>
            <a:ext cx="265176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291840" y="109728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47472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id (PK)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474720" y="1920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nombre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474720" y="2240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474720" y="25603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fecha_registro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126480" y="1097280"/>
            <a:ext cx="26517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126480" y="1097280"/>
            <a:ext cx="265176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126480" y="109728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prestamos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30936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id (PK)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309360" y="1920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libro_id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309360" y="2240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usuario_id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309360" y="25603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fecha_prestamo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309360" y="2880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fecha_devolucion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PK = Primary Key (identificador unico)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40080" y="43434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Las tablas se RELACIONAN: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prestamos.libro_id conecta con libros.id  |  prestamos.usuario_id conecta con usuarios.id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INSERT - Agregar datos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48640" y="8412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Estructura basica: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731520" y="105156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INSERT INTO tabla (columna1, columna2, ...)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VALUES (valor1, valor2, ...);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57200" y="1920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Reglas importantes: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57200" y="2194560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Los textos van entre comillas simples: 'Hola'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Los numeros van sin comillas: 42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El orden de valores debe coincidir con las columnas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 una columna tiene DEFAULT, puedes omitirla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846320" y="1920240"/>
            <a:ext cx="384048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937760" y="193852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Insertar multiples filas: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029200" y="219456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INSERT INTO tabla (col1, col2)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    (valor1a, valor2a),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    (valor1b, valor2b),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    (valor1c, valor2c);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Agreguemos libros a nuestra biblioteca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9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Errores comunes de INSERT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48640" y="1115568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48640" y="111556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1097280" y="9601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Olvidar comillas en texto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097280" y="12344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VALUES (1984, George Orwell)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754880" y="12344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VALUES ('1984', 'George Orwell')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548640" y="2075688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48640" y="207568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97280" y="1920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Violar UNIQUE (valor repetido)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097280" y="21945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Insertar dos libros con el mismo ISBN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754880" y="21945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Error: UNIQUE constraint failed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48640" y="3035808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548640" y="303580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097280" y="28803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Violar NOT NULL (campo vacio)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097280" y="31546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INSERT INTO libros (autor) VALUES ('Orwell')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754880" y="31546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Error: NOT NULL constraint failed: libros.titulo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548640" y="3995928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48640" y="39959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097280" y="3840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Orden incorrecto de columnas/valores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097280" y="41148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INSERT INTO libros (titulo, autor) VALUES ('Orwell', '1984')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754880" y="41148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Guarda al reves: titulo='Orwell', autor='1984'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EBFF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9" name="Google Shape;24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73659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9"/>
          <p:cNvSpPr/>
          <p:nvPr/>
        </p:nvSpPr>
        <p:spPr>
          <a:xfrm>
            <a:off x="868680" y="47091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Si hay error, SQLite NO inserta nada y te avisa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0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SELECT - Consultar datos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SELECT es el comando mas usado en SQL: "Dame estos datos de esta tabla"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548640" y="111556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Estructura basica: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731520" y="13258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SELECT columnas FROM tabla;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457200" y="2011680"/>
            <a:ext cx="54864" cy="640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731520" y="202996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SELECT * FROM libros;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731520" y="23317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Todas las columnas, todos los libros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57200" y="2788920"/>
            <a:ext cx="54864" cy="640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731520" y="280720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SELECT titulo, autor FROM libros;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731520" y="31089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Solo titulo y autor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457200" y="3566160"/>
            <a:ext cx="54864" cy="640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731520" y="358444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SELECT titulo AS nombre_libro FROM libros;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731520" y="38862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Renombrar columna en el resultado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6" name="Google Shape;27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4348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0"/>
          <p:cNvSpPr/>
          <p:nvPr/>
        </p:nvSpPr>
        <p:spPr>
          <a:xfrm>
            <a:off x="868680" y="4389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* = "todas las columnas" (asterisco = todo)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4" name="Google Shape;2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1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SELECT - Practica en vivo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Probemos juntos estas consultas en DB Browser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731520" y="1188720"/>
            <a:ext cx="76809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914400" y="132588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914400" y="1325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1463040" y="12344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Ver todos los libros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1463040" y="15544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Usa SELECT * FROM 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731520" y="2011680"/>
            <a:ext cx="76809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914400" y="214884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914400" y="21488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1463040" y="20574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Ver solo titulos y autores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1463040" y="23774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Selecciona columnas especificas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731520" y="2834640"/>
            <a:ext cx="76809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914400" y="297180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914400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463040" y="2880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Renombrar columnas con 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1463040" y="32004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Dale nombres mas descriptivos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731520" y="3657600"/>
            <a:ext cx="76809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914400" y="379476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914400" y="3794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1463040" y="37033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Ver todos los usuarios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1463040" y="40233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Cambia la tabla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Intenten escribir las consultas ustedes mismos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86AB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5" name="Google Shape;3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920" y="73152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BREAK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E0F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B8E0F0"/>
                </a:solidFill>
                <a:latin typeface="Calibri"/>
                <a:ea typeface="Calibri"/>
                <a:cs typeface="Calibri"/>
                <a:sym typeface="Calibri"/>
              </a:rPr>
              <a:t>10 MINUTOS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2743200" y="3200400"/>
            <a:ext cx="36576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Volvemos con: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- Filtrar datos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 y DELETE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3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WHERE - Filtrar datos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WHERE aniade condiciones al SELECT: "Dame los libros DONDE el autor sea Orwell"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457200" y="1051560"/>
            <a:ext cx="4572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640080" y="109728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SELECT columnas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FROM tabla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WHERE condicion;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5303520" y="10515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Operadores de comparacion: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2" name="Google Shape;332;p13"/>
          <p:cNvGraphicFramePr/>
          <p:nvPr/>
        </p:nvGraphicFramePr>
        <p:xfrm>
          <a:off x="53035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{21BF9D33-3E8C-40E8-A0FD-6E2D45B2A028}</a:tableStyleId>
              </a:tblPr>
              <a:tblGrid>
                <a:gridCol w="1097275"/>
                <a:gridCol w="237745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Significado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A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6A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E86A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Igual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6A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E86A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!= o &lt;&gt;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Diferente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6A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E86A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 &gt;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Menor / Mayor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6A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E86A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&lt;= &gt;=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Menor o igual / Mayor o igual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6A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E86A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LIKE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Busqueda de patrones (% y _)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6A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E86A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 en una lista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6A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E86A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BETWEEN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 dos valores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3" name="Google Shape;333;p13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Combinando condiciones: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457200" y="3749040"/>
            <a:ext cx="26517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548640" y="37947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548640" y="40690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Ambas condiciones deben cumplirse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3291840" y="3749040"/>
            <a:ext cx="26517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3383280" y="37947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3383280" y="40690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 menos una condicion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6126480" y="3749040"/>
            <a:ext cx="26517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217920" y="37947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6217920" y="40690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Esta en una lista de valores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Filtremos nuestra biblioteca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1" name="Google Shape;3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4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WHERE - Practiquen ustedes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Intenten escribir estas consultas (5 minutos)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731520" y="1188720"/>
            <a:ext cx="76809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914400" y="128016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914400" y="12801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1463040" y="123444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Buscar libros publicados despues de 1900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731520" y="1920240"/>
            <a:ext cx="76809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914400" y="201168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914400" y="20116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463040" y="196596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Buscar usuarios cuyo nombre contenga 'a'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731520" y="2651760"/>
            <a:ext cx="76809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914400" y="274320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914400" y="27432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1463040" y="269748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Buscar libros que NO sean de Orwell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731520" y="3383280"/>
            <a:ext cx="76809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914400" y="347472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914400" y="34747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1463040" y="342900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Buscar libros entre 1800 y 1960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6" name="Google Shape;3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5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UPDATE - Modificar datos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Para cambiar datos existentes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UPDATE tabla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SET columna1 = valor1, columna2 = valor2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WHERE condicion;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457200" y="2286000"/>
            <a:ext cx="3840480" cy="1280160"/>
          </a:xfrm>
          <a:prstGeom prst="rect">
            <a:avLst/>
          </a:prstGeom>
          <a:solidFill>
            <a:srgbClr val="FEF2F2"/>
          </a:solidFill>
          <a:ln cap="flat" cmpd="sng" w="254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2" name="Google Shape;38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" y="23317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5"/>
          <p:cNvSpPr/>
          <p:nvPr/>
        </p:nvSpPr>
        <p:spPr>
          <a:xfrm>
            <a:off x="914400" y="23317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Sin WHERE: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640080" y="26517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UPDATE libros SET disponible = 0;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640080" y="29260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Cambia TODOS los libros a no disponible!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4846320" y="2286000"/>
            <a:ext cx="3840480" cy="1280160"/>
          </a:xfrm>
          <a:prstGeom prst="rect">
            <a:avLst/>
          </a:prstGeom>
          <a:solidFill>
            <a:srgbClr val="EBFFEB"/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7" name="Google Shape;38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3480" y="23317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5"/>
          <p:cNvSpPr/>
          <p:nvPr/>
        </p:nvSpPr>
        <p:spPr>
          <a:xfrm>
            <a:off x="5303520" y="23317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Con WHERE: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5029200" y="26517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UPDATE libros SET disponible =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WHERE id = 1;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5029200" y="30175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Solo cambia el libro con id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FF8DC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Regla de oro: SIEMPRE WHERE en UPDATE (y DELETE)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6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9" name="Google Shape;3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6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DELETE - Eliminar datos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Para borrar filas de una tabla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731520" y="11887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DELETE FROM tabla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WHERE condicion;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457200" y="2011680"/>
            <a:ext cx="3840480" cy="1188720"/>
          </a:xfrm>
          <a:prstGeom prst="rect">
            <a:avLst/>
          </a:prstGeom>
          <a:solidFill>
            <a:srgbClr val="FEF2F2"/>
          </a:solidFill>
          <a:ln cap="flat" cmpd="sng" w="254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5" name="Google Shape;40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" y="20574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6"/>
          <p:cNvSpPr/>
          <p:nvPr/>
        </p:nvSpPr>
        <p:spPr>
          <a:xfrm>
            <a:off x="914400" y="2057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Sin WHERE: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640080" y="23774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DELETE FROM libros;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640080" y="26517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Borra TODOS los libros!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4846320" y="2011680"/>
            <a:ext cx="3840480" cy="1188720"/>
          </a:xfrm>
          <a:prstGeom prst="rect">
            <a:avLst/>
          </a:prstGeom>
          <a:solidFill>
            <a:srgbClr val="EBFFEB"/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0" name="Google Shape;41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3480" y="20574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6"/>
          <p:cNvSpPr/>
          <p:nvPr/>
        </p:nvSpPr>
        <p:spPr>
          <a:xfrm>
            <a:off x="5303520" y="2057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Con WHERE: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5029200" y="23774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DELETE FROM libros WHERE id = 5;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5029200" y="26517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Solo borra el libro con id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FFF8DC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640080" y="34747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DELETE no se puede deshacer (a menos que tengas backup). Piensa dos veces antes de ejecutar.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7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2" name="Google Shape;4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7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 Black"/>
              <a:buNone/>
            </a:pPr>
            <a:r>
              <a:rPr b="0" i="0" lang="en-US" sz="26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EJERCICIO: Sistema de prestamos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Usando la base de datos biblioteca.db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457200" y="1051560"/>
            <a:ext cx="384048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457200" y="1051560"/>
            <a:ext cx="384048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640080" y="11430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PARTE 1 - Consultas (SELECT):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640080" y="146304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Mostrar todos los libros disponibles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2. Mostrar usuarios ordenados por nombre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3. Buscar libros que contengan "el" en el titulo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4846320" y="1051560"/>
            <a:ext cx="384048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4846320" y="1051560"/>
            <a:ext cx="3840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5029200" y="11430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PARTE 2 - Operaciones: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5029200" y="146304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Char char="•"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4. Registrar un prestamo: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- Usuario id=1 pide libro id=2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- Marcar libro como no disponible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- Crear registro en prestamos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Char char="•"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5. Devolver el libro: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- Marcar libro como disponible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- Poner fecha de devolucion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457200" y="2880360"/>
            <a:ext cx="8229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457200" y="2880360"/>
            <a:ext cx="82296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640080" y="2971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PARTE 3 - Verificacion: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640080" y="324612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6. Mostrar todos los prestamos con los datos del libro y usuario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8" name="Google Shape;4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" y="39044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7"/>
          <p:cNvSpPr/>
          <p:nvPr/>
        </p:nvSpPr>
        <p:spPr>
          <a:xfrm>
            <a:off x="914400" y="38404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Tiempo: 15 minutos  |  Pueden trabajar en parejas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Slide #18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7" name="Google Shape;4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74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8"/>
          <p:cNvSpPr/>
          <p:nvPr/>
        </p:nvSpPr>
        <p:spPr>
          <a:xfrm>
            <a:off x="1371600" y="27432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Resumen - SQL Fundamentals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9" name="Google Shape;449;p18"/>
          <p:cNvGraphicFramePr/>
          <p:nvPr/>
        </p:nvGraphicFramePr>
        <p:xfrm>
          <a:off x="7315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{21BF9D33-3E8C-40E8-A0FD-6E2D45B2A028}</a:tableStyleId>
              </a:tblPr>
              <a:tblGrid>
                <a:gridCol w="2286000"/>
                <a:gridCol w="53949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Comando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 que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AB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ADE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 TABLE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la estructura de una tabla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ADE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INSERT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Agregar nuevos datos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ADE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Consultar / leer datos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ADE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Filtrar resultados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ADE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UPDATE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Modificar datos existentes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ADE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DELETE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Eliminar datos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415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0" name="Google Shape;450;p18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Reglas de oro: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Textos entre comillas simples: 'valor'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SIEMPRE WHERE en UPDATE y DELETE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PRIMARY KEY para identificadores unicos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914400" y="44348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Proxima clase: ORDER BY, funciones agregadas, JOINs - "Consultas mas poderosas"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2026-03-06T18:30:53Z</dcterms:created>
  <dc:creator>Instructor</dc:creator>
</cp:coreProperties>
</file>