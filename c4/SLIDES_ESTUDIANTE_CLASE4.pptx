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8" roundtripDataSignature="AMtx7miaoxAfghiRVTX9rOYZWInTL+UT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customschemas.google.com/relationships/presentationmetadata" Target="meta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Clase 4: Operadores y String Methods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457200" y="3107260"/>
            <a:ext cx="8229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8F9FA"/>
                </a:solidFill>
                <a:latin typeface="Arial"/>
                <a:ea typeface="Arial"/>
                <a:cs typeface="Arial"/>
                <a:sym typeface="Arial"/>
              </a:rPr>
              <a:t>Fundamentos de Python</a:t>
            </a:r>
            <a:endParaRPr/>
          </a:p>
        </p:txBody>
      </p:sp>
      <p:sp>
        <p:nvSpPr>
          <p:cNvPr id="87" name="Google Shape;87;p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/>
        </p:nvSpPr>
        <p:spPr>
          <a:xfrm>
            <a:off x="384048" y="32004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Arial"/>
                <a:ea typeface="Arial"/>
                <a:cs typeface="Arial"/>
                <a:sym typeface="Arial"/>
              </a:rPr>
              <a:t>Objetivos de Hoy</a:t>
            </a:r>
            <a:endParaRPr/>
          </a:p>
        </p:txBody>
      </p:sp>
      <p:sp>
        <p:nvSpPr>
          <p:cNvPr id="93" name="Google Shape;93;p2"/>
          <p:cNvSpPr txBox="1"/>
          <p:nvPr/>
        </p:nvSpPr>
        <p:spPr>
          <a:xfrm>
            <a:off x="384048" y="86868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Al finalizar esta clase podras:</a:t>
            </a:r>
            <a:endParaRPr/>
          </a:p>
        </p:txBody>
      </p:sp>
      <p:sp>
        <p:nvSpPr>
          <p:cNvPr id="94" name="Google Shape;94;p2"/>
          <p:cNvSpPr txBox="1"/>
          <p:nvPr/>
        </p:nvSpPr>
        <p:spPr>
          <a:xfrm>
            <a:off x="731520" y="128016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* Usar operadores aritmeticos para calculos</a:t>
            </a:r>
            <a:endParaRPr/>
          </a:p>
        </p:txBody>
      </p:sp>
      <p:sp>
        <p:nvSpPr>
          <p:cNvPr id="95" name="Google Shape;95;p2"/>
          <p:cNvSpPr txBox="1"/>
          <p:nvPr/>
        </p:nvSpPr>
        <p:spPr>
          <a:xfrm>
            <a:off x="731520" y="1627631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* Comparar valores con operadores de comparacion</a:t>
            </a:r>
            <a:endParaRPr/>
          </a:p>
        </p:txBody>
      </p:sp>
      <p:sp>
        <p:nvSpPr>
          <p:cNvPr id="96" name="Google Shape;96;p2"/>
          <p:cNvSpPr txBox="1"/>
          <p:nvPr/>
        </p:nvSpPr>
        <p:spPr>
          <a:xfrm>
            <a:off x="731520" y="1975103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* Combinar condiciones con operadores logicos</a:t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731520" y="2322575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* Manipular texto con string methods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731520" y="2670047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* Crear un procesador de texto simple</a:t>
            </a:r>
            <a:endParaRPr/>
          </a:p>
        </p:txBody>
      </p:sp>
      <p:sp>
        <p:nvSpPr>
          <p:cNvPr id="99" name="Google Shape;99;p2"/>
          <p:cNvSpPr txBox="1"/>
          <p:nvPr>
            <p:ph idx="12" type="sldNum"/>
          </p:nvPr>
        </p:nvSpPr>
        <p:spPr>
          <a:xfrm>
            <a:off x="6855750" y="45152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384048" y="32004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Arial"/>
                <a:ea typeface="Arial"/>
                <a:cs typeface="Arial"/>
                <a:sym typeface="Arial"/>
              </a:rPr>
              <a:t>Operadores Aritmeticos</a:t>
            </a:r>
            <a:endParaRPr/>
          </a:p>
        </p:txBody>
      </p:sp>
      <p:sp>
        <p:nvSpPr>
          <p:cNvPr id="105" name="Google Shape;105;p3"/>
          <p:cNvSpPr txBox="1"/>
          <p:nvPr/>
        </p:nvSpPr>
        <p:spPr>
          <a:xfrm>
            <a:off x="384048" y="86868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Python puede realizar todas las operaciones matematicas:</a:t>
            </a:r>
            <a:endParaRPr/>
          </a:p>
        </p:txBody>
      </p:sp>
      <p:sp>
        <p:nvSpPr>
          <p:cNvPr id="106" name="Google Shape;106;p3"/>
          <p:cNvSpPr txBox="1"/>
          <p:nvPr/>
        </p:nvSpPr>
        <p:spPr>
          <a:xfrm>
            <a:off x="457200" y="1280160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E86AB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endParaRPr/>
          </a:p>
        </p:txBody>
      </p:sp>
      <p:sp>
        <p:nvSpPr>
          <p:cNvPr id="107" name="Google Shape;107;p3"/>
          <p:cNvSpPr txBox="1"/>
          <p:nvPr/>
        </p:nvSpPr>
        <p:spPr>
          <a:xfrm>
            <a:off x="1280160" y="128016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Suma</a:t>
            </a:r>
            <a:endParaRPr/>
          </a:p>
        </p:txBody>
      </p:sp>
      <p:sp>
        <p:nvSpPr>
          <p:cNvPr id="108" name="Google Shape;108;p3"/>
          <p:cNvSpPr txBox="1"/>
          <p:nvPr/>
        </p:nvSpPr>
        <p:spPr>
          <a:xfrm>
            <a:off x="3657600" y="1280160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10 + 3 = 13</a:t>
            </a:r>
            <a:endParaRPr/>
          </a:p>
        </p:txBody>
      </p:sp>
      <p:sp>
        <p:nvSpPr>
          <p:cNvPr id="109" name="Google Shape;109;p3"/>
          <p:cNvSpPr txBox="1"/>
          <p:nvPr/>
        </p:nvSpPr>
        <p:spPr>
          <a:xfrm>
            <a:off x="457200" y="1664207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E86AB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endParaRPr/>
          </a:p>
        </p:txBody>
      </p:sp>
      <p:sp>
        <p:nvSpPr>
          <p:cNvPr id="110" name="Google Shape;110;p3"/>
          <p:cNvSpPr txBox="1"/>
          <p:nvPr/>
        </p:nvSpPr>
        <p:spPr>
          <a:xfrm>
            <a:off x="1280160" y="1664207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Resta</a:t>
            </a:r>
            <a:endParaRPr/>
          </a:p>
        </p:txBody>
      </p:sp>
      <p:sp>
        <p:nvSpPr>
          <p:cNvPr id="111" name="Google Shape;111;p3"/>
          <p:cNvSpPr txBox="1"/>
          <p:nvPr/>
        </p:nvSpPr>
        <p:spPr>
          <a:xfrm>
            <a:off x="3657600" y="1664207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10 - 3 = 7</a:t>
            </a:r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457200" y="2048255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E86AB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endParaRPr/>
          </a:p>
        </p:txBody>
      </p:sp>
      <p:sp>
        <p:nvSpPr>
          <p:cNvPr id="113" name="Google Shape;113;p3"/>
          <p:cNvSpPr txBox="1"/>
          <p:nvPr/>
        </p:nvSpPr>
        <p:spPr>
          <a:xfrm>
            <a:off x="1280160" y="2048255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Multiplicacion</a:t>
            </a:r>
            <a:endParaRPr/>
          </a:p>
        </p:txBody>
      </p:sp>
      <p:sp>
        <p:nvSpPr>
          <p:cNvPr id="114" name="Google Shape;114;p3"/>
          <p:cNvSpPr txBox="1"/>
          <p:nvPr/>
        </p:nvSpPr>
        <p:spPr>
          <a:xfrm>
            <a:off x="3657600" y="2048255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10 * 3 = 30</a:t>
            </a:r>
            <a:endParaRPr/>
          </a:p>
        </p:txBody>
      </p:sp>
      <p:sp>
        <p:nvSpPr>
          <p:cNvPr id="115" name="Google Shape;115;p3"/>
          <p:cNvSpPr txBox="1"/>
          <p:nvPr/>
        </p:nvSpPr>
        <p:spPr>
          <a:xfrm>
            <a:off x="457200" y="2432303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E86AB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endParaRPr/>
          </a:p>
        </p:txBody>
      </p:sp>
      <p:sp>
        <p:nvSpPr>
          <p:cNvPr id="116" name="Google Shape;116;p3"/>
          <p:cNvSpPr txBox="1"/>
          <p:nvPr/>
        </p:nvSpPr>
        <p:spPr>
          <a:xfrm>
            <a:off x="1280160" y="2432303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Division</a:t>
            </a:r>
            <a:endParaRPr/>
          </a:p>
        </p:txBody>
      </p:sp>
      <p:sp>
        <p:nvSpPr>
          <p:cNvPr id="117" name="Google Shape;117;p3"/>
          <p:cNvSpPr txBox="1"/>
          <p:nvPr/>
        </p:nvSpPr>
        <p:spPr>
          <a:xfrm>
            <a:off x="3657600" y="2432303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10 / 3 = 3.33</a:t>
            </a:r>
            <a:endParaRPr/>
          </a:p>
        </p:txBody>
      </p:sp>
      <p:sp>
        <p:nvSpPr>
          <p:cNvPr id="118" name="Google Shape;118;p3"/>
          <p:cNvSpPr txBox="1"/>
          <p:nvPr/>
        </p:nvSpPr>
        <p:spPr>
          <a:xfrm>
            <a:off x="457200" y="2816351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E86AB"/>
                </a:solidFill>
                <a:latin typeface="Courier New"/>
                <a:ea typeface="Courier New"/>
                <a:cs typeface="Courier New"/>
                <a:sym typeface="Courier New"/>
              </a:rPr>
              <a:t>//</a:t>
            </a:r>
            <a:endParaRPr/>
          </a:p>
        </p:txBody>
      </p:sp>
      <p:sp>
        <p:nvSpPr>
          <p:cNvPr id="119" name="Google Shape;119;p3"/>
          <p:cNvSpPr txBox="1"/>
          <p:nvPr/>
        </p:nvSpPr>
        <p:spPr>
          <a:xfrm>
            <a:off x="1280160" y="2816351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Division entera</a:t>
            </a:r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3657600" y="2816351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10 // 3 = 3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457200" y="3200399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E86AB"/>
                </a:solidFill>
                <a:latin typeface="Courier New"/>
                <a:ea typeface="Courier New"/>
                <a:cs typeface="Courier New"/>
                <a:sym typeface="Courier New"/>
              </a:rPr>
              <a:t>%</a:t>
            </a:r>
            <a:endParaRPr/>
          </a:p>
        </p:txBody>
      </p:sp>
      <p:sp>
        <p:nvSpPr>
          <p:cNvPr id="122" name="Google Shape;122;p3"/>
          <p:cNvSpPr txBox="1"/>
          <p:nvPr/>
        </p:nvSpPr>
        <p:spPr>
          <a:xfrm>
            <a:off x="1280160" y="3200399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Modulo (residuo)</a:t>
            </a:r>
            <a:endParaRPr/>
          </a:p>
        </p:txBody>
      </p:sp>
      <p:sp>
        <p:nvSpPr>
          <p:cNvPr id="123" name="Google Shape;123;p3"/>
          <p:cNvSpPr txBox="1"/>
          <p:nvPr/>
        </p:nvSpPr>
        <p:spPr>
          <a:xfrm>
            <a:off x="3657600" y="3200399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10 % 3 = 1</a:t>
            </a:r>
            <a:endParaRPr/>
          </a:p>
        </p:txBody>
      </p:sp>
      <p:sp>
        <p:nvSpPr>
          <p:cNvPr id="124" name="Google Shape;124;p3"/>
          <p:cNvSpPr txBox="1"/>
          <p:nvPr/>
        </p:nvSpPr>
        <p:spPr>
          <a:xfrm>
            <a:off x="457200" y="3584447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E86AB"/>
                </a:solidFill>
                <a:latin typeface="Courier New"/>
                <a:ea typeface="Courier New"/>
                <a:cs typeface="Courier New"/>
                <a:sym typeface="Courier New"/>
              </a:rPr>
              <a:t>**</a:t>
            </a:r>
            <a:endParaRPr/>
          </a:p>
        </p:txBody>
      </p:sp>
      <p:sp>
        <p:nvSpPr>
          <p:cNvPr id="125" name="Google Shape;125;p3"/>
          <p:cNvSpPr txBox="1"/>
          <p:nvPr/>
        </p:nvSpPr>
        <p:spPr>
          <a:xfrm>
            <a:off x="1280160" y="3584447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Potencia</a:t>
            </a:r>
            <a:endParaRPr/>
          </a:p>
        </p:txBody>
      </p:sp>
      <p:sp>
        <p:nvSpPr>
          <p:cNvPr id="126" name="Google Shape;126;p3"/>
          <p:cNvSpPr txBox="1"/>
          <p:nvPr/>
        </p:nvSpPr>
        <p:spPr>
          <a:xfrm>
            <a:off x="3657600" y="3584447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10 ** 3 = 1000</a:t>
            </a:r>
            <a:endParaRPr/>
          </a:p>
        </p:txBody>
      </p:sp>
      <p:sp>
        <p:nvSpPr>
          <p:cNvPr id="127" name="Google Shape;127;p3"/>
          <p:cNvSpPr txBox="1"/>
          <p:nvPr>
            <p:ph idx="12" type="sldNum"/>
          </p:nvPr>
        </p:nvSpPr>
        <p:spPr>
          <a:xfrm>
            <a:off x="6662925" y="447660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"/>
          <p:cNvSpPr txBox="1"/>
          <p:nvPr/>
        </p:nvSpPr>
        <p:spPr>
          <a:xfrm>
            <a:off x="384048" y="32004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Arial"/>
                <a:ea typeface="Arial"/>
                <a:cs typeface="Arial"/>
                <a:sym typeface="Arial"/>
              </a:rPr>
              <a:t>Ejemplo: Operadores Aritmeticos</a:t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384048" y="868680"/>
            <a:ext cx="8412480" cy="384048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384048" y="868680"/>
            <a:ext cx="73152" cy="3840480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 txBox="1"/>
          <p:nvPr/>
        </p:nvSpPr>
        <p:spPr>
          <a:xfrm>
            <a:off x="566928" y="1005839"/>
            <a:ext cx="8138159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a = 10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b = 3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print(f"Suma: {a + b}")           # 13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print(f"Resta: {a - b}")          # 7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print(f"Division: {a / b}")       # 3.333...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print(f"Division entera: {a // b}") # 3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print(f"Residuo: {a % b}")        # 1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print(f"Potencia: {a ** b}")      # 1000</a:t>
            </a:r>
            <a:endParaRPr/>
          </a:p>
        </p:txBody>
      </p:sp>
      <p:sp>
        <p:nvSpPr>
          <p:cNvPr id="136" name="Google Shape;136;p4"/>
          <p:cNvSpPr txBox="1"/>
          <p:nvPr>
            <p:ph idx="12" type="sldNum"/>
          </p:nvPr>
        </p:nvSpPr>
        <p:spPr>
          <a:xfrm>
            <a:off x="6899775" y="47091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"/>
          <p:cNvSpPr txBox="1"/>
          <p:nvPr/>
        </p:nvSpPr>
        <p:spPr>
          <a:xfrm>
            <a:off x="384048" y="32004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Arial"/>
                <a:ea typeface="Arial"/>
                <a:cs typeface="Arial"/>
                <a:sym typeface="Arial"/>
              </a:rPr>
              <a:t>Ejercicio 1: Calculadora Basica</a:t>
            </a:r>
            <a:endParaRPr/>
          </a:p>
        </p:txBody>
      </p:sp>
      <p:sp>
        <p:nvSpPr>
          <p:cNvPr id="142" name="Google Shape;142;p5"/>
          <p:cNvSpPr txBox="1"/>
          <p:nvPr/>
        </p:nvSpPr>
        <p:spPr>
          <a:xfrm>
            <a:off x="384048" y="86868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Crea un programa que:</a:t>
            </a:r>
            <a:endParaRPr/>
          </a:p>
        </p:txBody>
      </p:sp>
      <p:sp>
        <p:nvSpPr>
          <p:cNvPr id="143" name="Google Shape;143;p5"/>
          <p:cNvSpPr txBox="1"/>
          <p:nvPr/>
        </p:nvSpPr>
        <p:spPr>
          <a:xfrm>
            <a:off x="548640" y="1280160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1. Pida dos numeros al usuario</a:t>
            </a:r>
            <a:endParaRPr/>
          </a:p>
        </p:txBody>
      </p:sp>
      <p:sp>
        <p:nvSpPr>
          <p:cNvPr id="144" name="Google Shape;144;p5"/>
          <p:cNvSpPr txBox="1"/>
          <p:nvPr/>
        </p:nvSpPr>
        <p:spPr>
          <a:xfrm>
            <a:off x="548640" y="1645919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2. Muestre el resultado de TODAS las operaciones</a:t>
            </a:r>
            <a:endParaRPr/>
          </a:p>
        </p:txBody>
      </p:sp>
      <p:sp>
        <p:nvSpPr>
          <p:cNvPr id="145" name="Google Shape;145;p5"/>
          <p:cNvSpPr txBox="1"/>
          <p:nvPr/>
        </p:nvSpPr>
        <p:spPr>
          <a:xfrm>
            <a:off x="548640" y="2011679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3. Use f-strings para formatear la salida</a:t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384048" y="4114800"/>
            <a:ext cx="8412480" cy="502920"/>
          </a:xfrm>
          <a:prstGeom prst="rect">
            <a:avLst/>
          </a:prstGeom>
          <a:solidFill>
            <a:srgbClr val="E3F2F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384048" y="4114800"/>
            <a:ext cx="73152" cy="502920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 txBox="1"/>
          <p:nvPr/>
        </p:nvSpPr>
        <p:spPr>
          <a:xfrm>
            <a:off x="566928" y="4224528"/>
            <a:ext cx="813815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Recuerda: input() devuelve texto. Usa int() o float() para convertir.</a:t>
            </a:r>
            <a:endParaRPr/>
          </a:p>
        </p:txBody>
      </p:sp>
      <p:sp>
        <p:nvSpPr>
          <p:cNvPr id="149" name="Google Shape;149;p5"/>
          <p:cNvSpPr txBox="1"/>
          <p:nvPr>
            <p:ph idx="12" type="sldNum"/>
          </p:nvPr>
        </p:nvSpPr>
        <p:spPr>
          <a:xfrm>
            <a:off x="6906200" y="470250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"/>
          <p:cNvSpPr txBox="1"/>
          <p:nvPr/>
        </p:nvSpPr>
        <p:spPr>
          <a:xfrm>
            <a:off x="384048" y="32004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Arial"/>
                <a:ea typeface="Arial"/>
                <a:cs typeface="Arial"/>
                <a:sym typeface="Arial"/>
              </a:rPr>
              <a:t>Orden de Operaciones (PEMDAS)</a:t>
            </a:r>
            <a:endParaRPr/>
          </a:p>
        </p:txBody>
      </p:sp>
      <p:sp>
        <p:nvSpPr>
          <p:cNvPr id="155" name="Google Shape;155;p6"/>
          <p:cNvSpPr txBox="1"/>
          <p:nvPr/>
        </p:nvSpPr>
        <p:spPr>
          <a:xfrm>
            <a:off x="384048" y="82296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Python sigue el orden matematico estandar:</a:t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384048" y="1188720"/>
            <a:ext cx="8412480" cy="27432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384048" y="1188720"/>
            <a:ext cx="73152" cy="2743200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 txBox="1"/>
          <p:nvPr/>
        </p:nvSpPr>
        <p:spPr>
          <a:xfrm>
            <a:off x="566928" y="1325880"/>
            <a:ext cx="8138159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# Sin parentesis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resultado = 2 + 3 * 4      # = 14 (no 20!)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# Con parentesis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resultado = (2 + 3) * 4    # = 20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# Orden: Parentesis &gt; Exponentes &gt; Mult/Div &gt; Suma/Resta</a:t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384048" y="4069080"/>
            <a:ext cx="8412480" cy="502920"/>
          </a:xfrm>
          <a:prstGeom prst="rect">
            <a:avLst/>
          </a:prstGeom>
          <a:solidFill>
            <a:srgbClr val="E3F2F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384048" y="4069080"/>
            <a:ext cx="73152" cy="502920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 txBox="1"/>
          <p:nvPr/>
        </p:nvSpPr>
        <p:spPr>
          <a:xfrm>
            <a:off x="566928" y="4178808"/>
            <a:ext cx="813815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Usa parentesis cuando quieras forzar un orden diferente.</a:t>
            </a:r>
            <a:endParaRPr/>
          </a:p>
        </p:txBody>
      </p:sp>
      <p:sp>
        <p:nvSpPr>
          <p:cNvPr id="162" name="Google Shape;162;p6"/>
          <p:cNvSpPr txBox="1"/>
          <p:nvPr>
            <p:ph idx="12" type="sldNum"/>
          </p:nvPr>
        </p:nvSpPr>
        <p:spPr>
          <a:xfrm>
            <a:off x="6636875" y="47091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"/>
          <p:cNvSpPr txBox="1"/>
          <p:nvPr/>
        </p:nvSpPr>
        <p:spPr>
          <a:xfrm>
            <a:off x="384048" y="32004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Arial"/>
                <a:ea typeface="Arial"/>
                <a:cs typeface="Arial"/>
                <a:sym typeface="Arial"/>
              </a:rPr>
              <a:t>Ejercicio 2: Calculos Practicos</a:t>
            </a:r>
            <a:endParaRPr/>
          </a:p>
        </p:txBody>
      </p:sp>
      <p:sp>
        <p:nvSpPr>
          <p:cNvPr id="168" name="Google Shape;168;p7"/>
          <p:cNvSpPr txBox="1"/>
          <p:nvPr/>
        </p:nvSpPr>
        <p:spPr>
          <a:xfrm>
            <a:off x="384048" y="86868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Resuelve estos problemas:</a:t>
            </a:r>
            <a:endParaRPr/>
          </a:p>
        </p:txBody>
      </p:sp>
      <p:sp>
        <p:nvSpPr>
          <p:cNvPr id="169" name="Google Shape;169;p7"/>
          <p:cNvSpPr txBox="1"/>
          <p:nvPr/>
        </p:nvSpPr>
        <p:spPr>
          <a:xfrm>
            <a:off x="548640" y="1280160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1. Area del circulo: area = pi * radio ** 2</a:t>
            </a:r>
            <a:endParaRPr/>
          </a:p>
        </p:txBody>
      </p:sp>
      <p:sp>
        <p:nvSpPr>
          <p:cNvPr id="170" name="Google Shape;170;p7"/>
          <p:cNvSpPr txBox="1"/>
          <p:nvPr/>
        </p:nvSpPr>
        <p:spPr>
          <a:xfrm>
            <a:off x="548640" y="1645919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2. Conversion: celsius = (fahrenheit - 32) * 5 / 9</a:t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384048" y="4114800"/>
            <a:ext cx="8412480" cy="502920"/>
          </a:xfrm>
          <a:prstGeom prst="rect">
            <a:avLst/>
          </a:prstGeom>
          <a:solidFill>
            <a:srgbClr val="E3F2F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384048" y="4114800"/>
            <a:ext cx="73152" cy="502920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 txBox="1"/>
          <p:nvPr/>
        </p:nvSpPr>
        <p:spPr>
          <a:xfrm>
            <a:off x="566928" y="4224528"/>
            <a:ext cx="813815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Pide los valores al usuario y muestra los resultados.</a:t>
            </a:r>
            <a:endParaRPr/>
          </a:p>
        </p:txBody>
      </p:sp>
      <p:sp>
        <p:nvSpPr>
          <p:cNvPr id="174" name="Google Shape;174;p7"/>
          <p:cNvSpPr txBox="1"/>
          <p:nvPr>
            <p:ph idx="12" type="sldNum"/>
          </p:nvPr>
        </p:nvSpPr>
        <p:spPr>
          <a:xfrm>
            <a:off x="6662925" y="472122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"/>
          <p:cNvSpPr txBox="1"/>
          <p:nvPr/>
        </p:nvSpPr>
        <p:spPr>
          <a:xfrm>
            <a:off x="384048" y="32004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Arial"/>
                <a:ea typeface="Arial"/>
                <a:cs typeface="Arial"/>
                <a:sym typeface="Arial"/>
              </a:rPr>
              <a:t>Operadores de Comparacion</a:t>
            </a:r>
            <a:endParaRPr/>
          </a:p>
        </p:txBody>
      </p:sp>
      <p:sp>
        <p:nvSpPr>
          <p:cNvPr id="180" name="Google Shape;180;p8"/>
          <p:cNvSpPr txBox="1"/>
          <p:nvPr/>
        </p:nvSpPr>
        <p:spPr>
          <a:xfrm>
            <a:off x="384048" y="86868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Comparan valores y devuelven True o False:</a:t>
            </a:r>
            <a:endParaRPr/>
          </a:p>
        </p:txBody>
      </p:sp>
      <p:sp>
        <p:nvSpPr>
          <p:cNvPr id="181" name="Google Shape;181;p8"/>
          <p:cNvSpPr txBox="1"/>
          <p:nvPr/>
        </p:nvSpPr>
        <p:spPr>
          <a:xfrm>
            <a:off x="457200" y="1280160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E86AB"/>
                </a:solidFill>
                <a:latin typeface="Courier New"/>
                <a:ea typeface="Courier New"/>
                <a:cs typeface="Courier New"/>
                <a:sym typeface="Courier New"/>
              </a:rPr>
              <a:t>==</a:t>
            </a:r>
            <a:endParaRPr/>
          </a:p>
        </p:txBody>
      </p:sp>
      <p:sp>
        <p:nvSpPr>
          <p:cNvPr id="182" name="Google Shape;182;p8"/>
          <p:cNvSpPr txBox="1"/>
          <p:nvPr/>
        </p:nvSpPr>
        <p:spPr>
          <a:xfrm>
            <a:off x="1280160" y="128016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Igual a</a:t>
            </a:r>
            <a:endParaRPr/>
          </a:p>
        </p:txBody>
      </p:sp>
      <p:sp>
        <p:nvSpPr>
          <p:cNvPr id="183" name="Google Shape;183;p8"/>
          <p:cNvSpPr txBox="1"/>
          <p:nvPr/>
        </p:nvSpPr>
        <p:spPr>
          <a:xfrm>
            <a:off x="3657600" y="1280160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5 == 5  -&gt;  True</a:t>
            </a:r>
            <a:endParaRPr/>
          </a:p>
        </p:txBody>
      </p:sp>
      <p:sp>
        <p:nvSpPr>
          <p:cNvPr id="184" name="Google Shape;184;p8"/>
          <p:cNvSpPr txBox="1"/>
          <p:nvPr/>
        </p:nvSpPr>
        <p:spPr>
          <a:xfrm>
            <a:off x="457200" y="1664207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E86AB"/>
                </a:solidFill>
                <a:latin typeface="Courier New"/>
                <a:ea typeface="Courier New"/>
                <a:cs typeface="Courier New"/>
                <a:sym typeface="Courier New"/>
              </a:rPr>
              <a:t>!=</a:t>
            </a:r>
            <a:endParaRPr/>
          </a:p>
        </p:txBody>
      </p:sp>
      <p:sp>
        <p:nvSpPr>
          <p:cNvPr id="185" name="Google Shape;185;p8"/>
          <p:cNvSpPr txBox="1"/>
          <p:nvPr/>
        </p:nvSpPr>
        <p:spPr>
          <a:xfrm>
            <a:off x="1280160" y="1664207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Diferente de</a:t>
            </a:r>
            <a:endParaRPr/>
          </a:p>
        </p:txBody>
      </p:sp>
      <p:sp>
        <p:nvSpPr>
          <p:cNvPr id="186" name="Google Shape;186;p8"/>
          <p:cNvSpPr txBox="1"/>
          <p:nvPr/>
        </p:nvSpPr>
        <p:spPr>
          <a:xfrm>
            <a:off x="3657600" y="1664207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5 != 3  -&gt;  True</a:t>
            </a:r>
            <a:endParaRPr/>
          </a:p>
        </p:txBody>
      </p:sp>
      <p:sp>
        <p:nvSpPr>
          <p:cNvPr id="187" name="Google Shape;187;p8"/>
          <p:cNvSpPr txBox="1"/>
          <p:nvPr/>
        </p:nvSpPr>
        <p:spPr>
          <a:xfrm>
            <a:off x="457200" y="2048255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E86AB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/>
          </a:p>
        </p:txBody>
      </p:sp>
      <p:sp>
        <p:nvSpPr>
          <p:cNvPr id="188" name="Google Shape;188;p8"/>
          <p:cNvSpPr txBox="1"/>
          <p:nvPr/>
        </p:nvSpPr>
        <p:spPr>
          <a:xfrm>
            <a:off x="1280160" y="2048255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Mayor que</a:t>
            </a:r>
            <a:endParaRPr/>
          </a:p>
        </p:txBody>
      </p:sp>
      <p:sp>
        <p:nvSpPr>
          <p:cNvPr id="189" name="Google Shape;189;p8"/>
          <p:cNvSpPr txBox="1"/>
          <p:nvPr/>
        </p:nvSpPr>
        <p:spPr>
          <a:xfrm>
            <a:off x="3657600" y="2048255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5 &gt; 3   -&gt;  True</a:t>
            </a:r>
            <a:endParaRPr/>
          </a:p>
        </p:txBody>
      </p:sp>
      <p:sp>
        <p:nvSpPr>
          <p:cNvPr id="190" name="Google Shape;190;p8"/>
          <p:cNvSpPr txBox="1"/>
          <p:nvPr/>
        </p:nvSpPr>
        <p:spPr>
          <a:xfrm>
            <a:off x="457200" y="2432303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E86AB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endParaRPr/>
          </a:p>
        </p:txBody>
      </p:sp>
      <p:sp>
        <p:nvSpPr>
          <p:cNvPr id="191" name="Google Shape;191;p8"/>
          <p:cNvSpPr txBox="1"/>
          <p:nvPr/>
        </p:nvSpPr>
        <p:spPr>
          <a:xfrm>
            <a:off x="1280160" y="2432303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Menor que</a:t>
            </a:r>
            <a:endParaRPr/>
          </a:p>
        </p:txBody>
      </p:sp>
      <p:sp>
        <p:nvSpPr>
          <p:cNvPr id="192" name="Google Shape;192;p8"/>
          <p:cNvSpPr txBox="1"/>
          <p:nvPr/>
        </p:nvSpPr>
        <p:spPr>
          <a:xfrm>
            <a:off x="3657600" y="2432303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5 &lt; 3   -&gt;  False</a:t>
            </a:r>
            <a:endParaRPr/>
          </a:p>
        </p:txBody>
      </p:sp>
      <p:sp>
        <p:nvSpPr>
          <p:cNvPr id="193" name="Google Shape;193;p8"/>
          <p:cNvSpPr txBox="1"/>
          <p:nvPr/>
        </p:nvSpPr>
        <p:spPr>
          <a:xfrm>
            <a:off x="457200" y="2816351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E86AB"/>
                </a:solidFill>
                <a:latin typeface="Courier New"/>
                <a:ea typeface="Courier New"/>
                <a:cs typeface="Courier New"/>
                <a:sym typeface="Courier New"/>
              </a:rPr>
              <a:t>&gt;=</a:t>
            </a:r>
            <a:endParaRPr/>
          </a:p>
        </p:txBody>
      </p:sp>
      <p:sp>
        <p:nvSpPr>
          <p:cNvPr id="194" name="Google Shape;194;p8"/>
          <p:cNvSpPr txBox="1"/>
          <p:nvPr/>
        </p:nvSpPr>
        <p:spPr>
          <a:xfrm>
            <a:off x="1280160" y="2816351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Mayor o igual</a:t>
            </a:r>
            <a:endParaRPr/>
          </a:p>
        </p:txBody>
      </p:sp>
      <p:sp>
        <p:nvSpPr>
          <p:cNvPr id="195" name="Google Shape;195;p8"/>
          <p:cNvSpPr txBox="1"/>
          <p:nvPr/>
        </p:nvSpPr>
        <p:spPr>
          <a:xfrm>
            <a:off x="3657600" y="2816351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5 &gt;= 5  -&gt;  True</a:t>
            </a:r>
            <a:endParaRPr/>
          </a:p>
        </p:txBody>
      </p:sp>
      <p:sp>
        <p:nvSpPr>
          <p:cNvPr id="196" name="Google Shape;196;p8"/>
          <p:cNvSpPr txBox="1"/>
          <p:nvPr/>
        </p:nvSpPr>
        <p:spPr>
          <a:xfrm>
            <a:off x="457200" y="3200399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E86AB"/>
                </a:solidFill>
                <a:latin typeface="Courier New"/>
                <a:ea typeface="Courier New"/>
                <a:cs typeface="Courier New"/>
                <a:sym typeface="Courier New"/>
              </a:rPr>
              <a:t>&lt;=</a:t>
            </a:r>
            <a:endParaRPr/>
          </a:p>
        </p:txBody>
      </p:sp>
      <p:sp>
        <p:nvSpPr>
          <p:cNvPr id="197" name="Google Shape;197;p8"/>
          <p:cNvSpPr txBox="1"/>
          <p:nvPr/>
        </p:nvSpPr>
        <p:spPr>
          <a:xfrm>
            <a:off x="1280160" y="3200399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Menor o igual</a:t>
            </a:r>
            <a:endParaRPr/>
          </a:p>
        </p:txBody>
      </p:sp>
      <p:sp>
        <p:nvSpPr>
          <p:cNvPr id="198" name="Google Shape;198;p8"/>
          <p:cNvSpPr txBox="1"/>
          <p:nvPr/>
        </p:nvSpPr>
        <p:spPr>
          <a:xfrm>
            <a:off x="3657600" y="3200399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5 &lt;= 3  -&gt;  False</a:t>
            </a:r>
            <a:endParaRPr/>
          </a:p>
        </p:txBody>
      </p:sp>
      <p:sp>
        <p:nvSpPr>
          <p:cNvPr id="199" name="Google Shape;199;p8"/>
          <p:cNvSpPr txBox="1"/>
          <p:nvPr>
            <p:ph idx="12" type="sldNum"/>
          </p:nvPr>
        </p:nvSpPr>
        <p:spPr>
          <a:xfrm>
            <a:off x="6720575" y="459892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"/>
          <p:cNvSpPr txBox="1"/>
          <p:nvPr/>
        </p:nvSpPr>
        <p:spPr>
          <a:xfrm>
            <a:off x="384048" y="32004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Arial"/>
                <a:ea typeface="Arial"/>
                <a:cs typeface="Arial"/>
                <a:sym typeface="Arial"/>
              </a:rPr>
              <a:t>Importante: = vs ==</a:t>
            </a:r>
            <a:endParaRPr/>
          </a:p>
        </p:txBody>
      </p:sp>
      <p:sp>
        <p:nvSpPr>
          <p:cNvPr id="205" name="Google Shape;205;p9"/>
          <p:cNvSpPr txBox="1"/>
          <p:nvPr/>
        </p:nvSpPr>
        <p:spPr>
          <a:xfrm>
            <a:off x="384048" y="91440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8A745"/>
                </a:solidFill>
                <a:latin typeface="Arial"/>
                <a:ea typeface="Arial"/>
                <a:cs typeface="Arial"/>
                <a:sym typeface="Arial"/>
              </a:rPr>
              <a:t>Asignacion =</a:t>
            </a: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384048" y="1280160"/>
            <a:ext cx="3931920" cy="18288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384048" y="1280160"/>
            <a:ext cx="73152" cy="1828800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 txBox="1"/>
          <p:nvPr/>
        </p:nvSpPr>
        <p:spPr>
          <a:xfrm>
            <a:off x="566928" y="1417319"/>
            <a:ext cx="36576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x = 5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# Guarda el valor 5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# en la variable x</a:t>
            </a:r>
            <a:endParaRPr/>
          </a:p>
        </p:txBody>
      </p:sp>
      <p:sp>
        <p:nvSpPr>
          <p:cNvPr id="209" name="Google Shape;209;p9"/>
          <p:cNvSpPr txBox="1"/>
          <p:nvPr/>
        </p:nvSpPr>
        <p:spPr>
          <a:xfrm>
            <a:off x="4663440" y="91440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E86AB"/>
                </a:solidFill>
                <a:latin typeface="Arial"/>
                <a:ea typeface="Arial"/>
                <a:cs typeface="Arial"/>
                <a:sym typeface="Arial"/>
              </a:rPr>
              <a:t>Comparacion ==</a:t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4663440" y="1280160"/>
            <a:ext cx="3931920" cy="18288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4663440" y="1280160"/>
            <a:ext cx="73152" cy="1828800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 txBox="1"/>
          <p:nvPr/>
        </p:nvSpPr>
        <p:spPr>
          <a:xfrm>
            <a:off x="4846320" y="1417319"/>
            <a:ext cx="36576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x == 5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# Pregunta: es x igual a 5?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# Devuelve True o False</a:t>
            </a:r>
            <a:endParaRPr/>
          </a:p>
        </p:txBody>
      </p:sp>
      <p:sp>
        <p:nvSpPr>
          <p:cNvPr id="213" name="Google Shape;213;p9"/>
          <p:cNvSpPr txBox="1"/>
          <p:nvPr>
            <p:ph idx="12" type="sldNum"/>
          </p:nvPr>
        </p:nvSpPr>
        <p:spPr>
          <a:xfrm>
            <a:off x="6604700" y="456672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"/>
          <p:cNvSpPr txBox="1"/>
          <p:nvPr/>
        </p:nvSpPr>
        <p:spPr>
          <a:xfrm>
            <a:off x="384048" y="32004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Arial"/>
                <a:ea typeface="Arial"/>
                <a:cs typeface="Arial"/>
                <a:sym typeface="Arial"/>
              </a:rPr>
              <a:t>Ejercicio 3: Comparador de Numeros</a:t>
            </a:r>
            <a:endParaRPr/>
          </a:p>
        </p:txBody>
      </p:sp>
      <p:sp>
        <p:nvSpPr>
          <p:cNvPr id="219" name="Google Shape;219;p10"/>
          <p:cNvSpPr txBox="1"/>
          <p:nvPr/>
        </p:nvSpPr>
        <p:spPr>
          <a:xfrm>
            <a:off x="384048" y="86868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Crea un programa que:</a:t>
            </a:r>
            <a:endParaRPr/>
          </a:p>
        </p:txBody>
      </p:sp>
      <p:sp>
        <p:nvSpPr>
          <p:cNvPr id="220" name="Google Shape;220;p10"/>
          <p:cNvSpPr txBox="1"/>
          <p:nvPr/>
        </p:nvSpPr>
        <p:spPr>
          <a:xfrm>
            <a:off x="548640" y="1280160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1. Pida dos numeros al usuario</a:t>
            </a:r>
            <a:endParaRPr/>
          </a:p>
        </p:txBody>
      </p:sp>
      <p:sp>
        <p:nvSpPr>
          <p:cNvPr id="221" name="Google Shape;221;p10"/>
          <p:cNvSpPr txBox="1"/>
          <p:nvPr/>
        </p:nvSpPr>
        <p:spPr>
          <a:xfrm>
            <a:off x="548640" y="1645919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2. Muestre el resultado de TODAS las comparaciones</a:t>
            </a:r>
            <a:endParaRPr/>
          </a:p>
        </p:txBody>
      </p:sp>
      <p:sp>
        <p:nvSpPr>
          <p:cNvPr id="222" name="Google Shape;222;p10"/>
          <p:cNvSpPr txBox="1"/>
          <p:nvPr/>
        </p:nvSpPr>
        <p:spPr>
          <a:xfrm>
            <a:off x="548640" y="2011679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3. Ejemplo: 10 == 5: False, 10 &gt; 5: True, etc.</a:t>
            </a:r>
            <a:endParaRPr/>
          </a:p>
        </p:txBody>
      </p:sp>
      <p:sp>
        <p:nvSpPr>
          <p:cNvPr id="223" name="Google Shape;223;p10"/>
          <p:cNvSpPr txBox="1"/>
          <p:nvPr>
            <p:ph idx="12" type="sldNum"/>
          </p:nvPr>
        </p:nvSpPr>
        <p:spPr>
          <a:xfrm>
            <a:off x="6739875" y="45860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1"/>
          <p:cNvSpPr txBox="1"/>
          <p:nvPr/>
        </p:nvSpPr>
        <p:spPr>
          <a:xfrm>
            <a:off x="384048" y="32004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Arial"/>
                <a:ea typeface="Arial"/>
                <a:cs typeface="Arial"/>
                <a:sym typeface="Arial"/>
              </a:rPr>
              <a:t>Operadores Logicos</a:t>
            </a:r>
            <a:endParaRPr/>
          </a:p>
        </p:txBody>
      </p:sp>
      <p:sp>
        <p:nvSpPr>
          <p:cNvPr id="229" name="Google Shape;229;p11"/>
          <p:cNvSpPr txBox="1"/>
          <p:nvPr/>
        </p:nvSpPr>
        <p:spPr>
          <a:xfrm>
            <a:off x="384048" y="86868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Combinan condiciones booleanas:</a:t>
            </a:r>
            <a:endParaRPr/>
          </a:p>
        </p:txBody>
      </p:sp>
      <p:sp>
        <p:nvSpPr>
          <p:cNvPr id="230" name="Google Shape;230;p11"/>
          <p:cNvSpPr txBox="1"/>
          <p:nvPr/>
        </p:nvSpPr>
        <p:spPr>
          <a:xfrm>
            <a:off x="457200" y="1280160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E86AB"/>
                </a:solidFill>
                <a:latin typeface="Courier New"/>
                <a:ea typeface="Courier New"/>
                <a:cs typeface="Courier New"/>
                <a:sym typeface="Courier New"/>
              </a:rPr>
              <a:t>and</a:t>
            </a:r>
            <a:endParaRPr/>
          </a:p>
        </p:txBody>
      </p:sp>
      <p:sp>
        <p:nvSpPr>
          <p:cNvPr id="231" name="Google Shape;231;p11"/>
          <p:cNvSpPr txBox="1"/>
          <p:nvPr/>
        </p:nvSpPr>
        <p:spPr>
          <a:xfrm>
            <a:off x="1280160" y="128016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Ambas deben ser True</a:t>
            </a:r>
            <a:endParaRPr/>
          </a:p>
        </p:txBody>
      </p:sp>
      <p:sp>
        <p:nvSpPr>
          <p:cNvPr id="232" name="Google Shape;232;p11"/>
          <p:cNvSpPr txBox="1"/>
          <p:nvPr/>
        </p:nvSpPr>
        <p:spPr>
          <a:xfrm>
            <a:off x="3657600" y="1280160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True and True = True</a:t>
            </a:r>
            <a:endParaRPr/>
          </a:p>
        </p:txBody>
      </p:sp>
      <p:sp>
        <p:nvSpPr>
          <p:cNvPr id="233" name="Google Shape;233;p11"/>
          <p:cNvSpPr txBox="1"/>
          <p:nvPr/>
        </p:nvSpPr>
        <p:spPr>
          <a:xfrm>
            <a:off x="457200" y="1664207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E86AB"/>
                </a:solidFill>
                <a:latin typeface="Courier New"/>
                <a:ea typeface="Courier New"/>
                <a:cs typeface="Courier New"/>
                <a:sym typeface="Courier New"/>
              </a:rPr>
              <a:t>or</a:t>
            </a:r>
            <a:endParaRPr/>
          </a:p>
        </p:txBody>
      </p:sp>
      <p:sp>
        <p:nvSpPr>
          <p:cNvPr id="234" name="Google Shape;234;p11"/>
          <p:cNvSpPr txBox="1"/>
          <p:nvPr/>
        </p:nvSpPr>
        <p:spPr>
          <a:xfrm>
            <a:off x="1280160" y="1664207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Al menos una True</a:t>
            </a:r>
            <a:endParaRPr/>
          </a:p>
        </p:txBody>
      </p:sp>
      <p:sp>
        <p:nvSpPr>
          <p:cNvPr id="235" name="Google Shape;235;p11"/>
          <p:cNvSpPr txBox="1"/>
          <p:nvPr/>
        </p:nvSpPr>
        <p:spPr>
          <a:xfrm>
            <a:off x="3657600" y="1664207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True or False = True</a:t>
            </a:r>
            <a:endParaRPr/>
          </a:p>
        </p:txBody>
      </p:sp>
      <p:sp>
        <p:nvSpPr>
          <p:cNvPr id="236" name="Google Shape;236;p11"/>
          <p:cNvSpPr txBox="1"/>
          <p:nvPr/>
        </p:nvSpPr>
        <p:spPr>
          <a:xfrm>
            <a:off x="457200" y="2048255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E86AB"/>
                </a:solidFill>
                <a:latin typeface="Courier New"/>
                <a:ea typeface="Courier New"/>
                <a:cs typeface="Courier New"/>
                <a:sym typeface="Courier New"/>
              </a:rPr>
              <a:t>not</a:t>
            </a:r>
            <a:endParaRPr/>
          </a:p>
        </p:txBody>
      </p:sp>
      <p:sp>
        <p:nvSpPr>
          <p:cNvPr id="237" name="Google Shape;237;p11"/>
          <p:cNvSpPr txBox="1"/>
          <p:nvPr/>
        </p:nvSpPr>
        <p:spPr>
          <a:xfrm>
            <a:off x="1280160" y="2048255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Invierte el valor</a:t>
            </a:r>
            <a:endParaRPr/>
          </a:p>
        </p:txBody>
      </p:sp>
      <p:sp>
        <p:nvSpPr>
          <p:cNvPr id="238" name="Google Shape;238;p11"/>
          <p:cNvSpPr txBox="1"/>
          <p:nvPr/>
        </p:nvSpPr>
        <p:spPr>
          <a:xfrm>
            <a:off x="3657600" y="2048255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not True = False</a:t>
            </a:r>
            <a:endParaRPr/>
          </a:p>
        </p:txBody>
      </p:sp>
      <p:sp>
        <p:nvSpPr>
          <p:cNvPr id="239" name="Google Shape;239;p11"/>
          <p:cNvSpPr txBox="1"/>
          <p:nvPr>
            <p:ph idx="12" type="sldNum"/>
          </p:nvPr>
        </p:nvSpPr>
        <p:spPr>
          <a:xfrm>
            <a:off x="6804250" y="452167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2"/>
          <p:cNvSpPr txBox="1"/>
          <p:nvPr/>
        </p:nvSpPr>
        <p:spPr>
          <a:xfrm>
            <a:off x="384048" y="32004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Arial"/>
                <a:ea typeface="Arial"/>
                <a:cs typeface="Arial"/>
                <a:sym typeface="Arial"/>
              </a:rPr>
              <a:t>Ejemplo: Operadores Logicos</a:t>
            </a:r>
            <a:endParaRPr/>
          </a:p>
        </p:txBody>
      </p:sp>
      <p:sp>
        <p:nvSpPr>
          <p:cNvPr id="245" name="Google Shape;245;p12"/>
          <p:cNvSpPr/>
          <p:nvPr/>
        </p:nvSpPr>
        <p:spPr>
          <a:xfrm>
            <a:off x="384048" y="868680"/>
            <a:ext cx="8412480" cy="384048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384048" y="868680"/>
            <a:ext cx="73152" cy="3840480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2"/>
          <p:cNvSpPr txBox="1"/>
          <p:nvPr/>
        </p:nvSpPr>
        <p:spPr>
          <a:xfrm>
            <a:off x="566928" y="1005839"/>
            <a:ext cx="8138159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edad = 25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tiene_licencia = True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# AND: ambas condiciones deben cumplirse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puede_manejar = edad &gt;= 18 and tiene_licencia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print(puede_manejar)  # True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# OR: al menos una debe cumplirse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es_fin_de_semana = True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es_feriado = False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puede_descansar = es_fin_de_semana or es_feriado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print(puede_descansar)  # True</a:t>
            </a:r>
            <a:endParaRPr/>
          </a:p>
        </p:txBody>
      </p:sp>
      <p:sp>
        <p:nvSpPr>
          <p:cNvPr id="248" name="Google Shape;248;p12"/>
          <p:cNvSpPr txBox="1"/>
          <p:nvPr>
            <p:ph idx="12" type="sldNum"/>
          </p:nvPr>
        </p:nvSpPr>
        <p:spPr>
          <a:xfrm>
            <a:off x="6662925" y="477840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3"/>
          <p:cNvSpPr txBox="1"/>
          <p:nvPr/>
        </p:nvSpPr>
        <p:spPr>
          <a:xfrm>
            <a:off x="384048" y="32004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Arial"/>
                <a:ea typeface="Arial"/>
                <a:cs typeface="Arial"/>
                <a:sym typeface="Arial"/>
              </a:rPr>
              <a:t>Ejercicio 4: Validador de Password</a:t>
            </a:r>
            <a:endParaRPr/>
          </a:p>
        </p:txBody>
      </p:sp>
      <p:sp>
        <p:nvSpPr>
          <p:cNvPr id="254" name="Google Shape;254;p13"/>
          <p:cNvSpPr txBox="1"/>
          <p:nvPr/>
        </p:nvSpPr>
        <p:spPr>
          <a:xfrm>
            <a:off x="384048" y="86868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Reglas de password valida:</a:t>
            </a:r>
            <a:endParaRPr/>
          </a:p>
        </p:txBody>
      </p:sp>
      <p:sp>
        <p:nvSpPr>
          <p:cNvPr id="255" name="Google Shape;255;p13"/>
          <p:cNvSpPr txBox="1"/>
          <p:nvPr/>
        </p:nvSpPr>
        <p:spPr>
          <a:xfrm>
            <a:off x="548640" y="1280160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1. Longitud &gt;= 8 caracteres (usa len())</a:t>
            </a:r>
            <a:endParaRPr/>
          </a:p>
        </p:txBody>
      </p:sp>
      <p:sp>
        <p:nvSpPr>
          <p:cNvPr id="256" name="Google Shape;256;p13"/>
          <p:cNvSpPr txBox="1"/>
          <p:nvPr/>
        </p:nvSpPr>
        <p:spPr>
          <a:xfrm>
            <a:off x="548640" y="1645919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2. NO puede ser 'password' ni '12345678'</a:t>
            </a:r>
            <a:endParaRPr/>
          </a:p>
        </p:txBody>
      </p:sp>
      <p:sp>
        <p:nvSpPr>
          <p:cNvPr id="257" name="Google Shape;257;p13"/>
          <p:cNvSpPr txBox="1"/>
          <p:nvPr/>
        </p:nvSpPr>
        <p:spPr>
          <a:xfrm>
            <a:off x="548640" y="2011679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3. Mostrar si es valida o no</a:t>
            </a:r>
            <a:endParaRPr/>
          </a:p>
        </p:txBody>
      </p:sp>
      <p:sp>
        <p:nvSpPr>
          <p:cNvPr id="258" name="Google Shape;258;p13"/>
          <p:cNvSpPr/>
          <p:nvPr/>
        </p:nvSpPr>
        <p:spPr>
          <a:xfrm>
            <a:off x="384048" y="4114800"/>
            <a:ext cx="8412480" cy="502920"/>
          </a:xfrm>
          <a:prstGeom prst="rect">
            <a:avLst/>
          </a:prstGeom>
          <a:solidFill>
            <a:srgbClr val="E3F2F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3"/>
          <p:cNvSpPr/>
          <p:nvPr/>
        </p:nvSpPr>
        <p:spPr>
          <a:xfrm>
            <a:off x="384048" y="4114800"/>
            <a:ext cx="73152" cy="502920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3"/>
          <p:cNvSpPr txBox="1"/>
          <p:nvPr/>
        </p:nvSpPr>
        <p:spPr>
          <a:xfrm>
            <a:off x="566928" y="4224528"/>
            <a:ext cx="813815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Combina condiciones con 'and' para verificar todas las reglas.</a:t>
            </a:r>
            <a:endParaRPr/>
          </a:p>
        </p:txBody>
      </p:sp>
      <p:sp>
        <p:nvSpPr>
          <p:cNvPr id="261" name="Google Shape;261;p13"/>
          <p:cNvSpPr txBox="1"/>
          <p:nvPr>
            <p:ph idx="12" type="sldNum"/>
          </p:nvPr>
        </p:nvSpPr>
        <p:spPr>
          <a:xfrm>
            <a:off x="6662925" y="47212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4"/>
          <p:cNvSpPr txBox="1"/>
          <p:nvPr/>
        </p:nvSpPr>
        <p:spPr>
          <a:xfrm>
            <a:off x="384048" y="32004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Arial"/>
                <a:ea typeface="Arial"/>
                <a:cs typeface="Arial"/>
                <a:sym typeface="Arial"/>
              </a:rPr>
              <a:t>Errores Comunes con Operadores</a:t>
            </a:r>
            <a:endParaRPr/>
          </a:p>
        </p:txBody>
      </p:sp>
      <p:sp>
        <p:nvSpPr>
          <p:cNvPr id="267" name="Google Shape;267;p14"/>
          <p:cNvSpPr txBox="1"/>
          <p:nvPr/>
        </p:nvSpPr>
        <p:spPr>
          <a:xfrm>
            <a:off x="384048" y="91440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DC3545"/>
                </a:solidFill>
                <a:latin typeface="Arial"/>
                <a:ea typeface="Arial"/>
                <a:cs typeface="Arial"/>
                <a:sym typeface="Arial"/>
              </a:rPr>
              <a:t>Usar = en lugar de ==</a:t>
            </a:r>
            <a:endParaRPr/>
          </a:p>
        </p:txBody>
      </p:sp>
      <p:sp>
        <p:nvSpPr>
          <p:cNvPr id="268" name="Google Shape;268;p14"/>
          <p:cNvSpPr/>
          <p:nvPr/>
        </p:nvSpPr>
        <p:spPr>
          <a:xfrm>
            <a:off x="384048" y="1280160"/>
            <a:ext cx="8412480" cy="411480"/>
          </a:xfrm>
          <a:prstGeom prst="rect">
            <a:avLst/>
          </a:prstGeom>
          <a:solidFill>
            <a:srgbClr val="FFEBE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4"/>
          <p:cNvSpPr txBox="1"/>
          <p:nvPr/>
        </p:nvSpPr>
        <p:spPr>
          <a:xfrm>
            <a:off x="548640" y="1353312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if x = 5:  # Error de sintaxis!</a:t>
            </a:r>
            <a:endParaRPr/>
          </a:p>
        </p:txBody>
      </p:sp>
      <p:sp>
        <p:nvSpPr>
          <p:cNvPr id="270" name="Google Shape;270;p14"/>
          <p:cNvSpPr txBox="1"/>
          <p:nvPr/>
        </p:nvSpPr>
        <p:spPr>
          <a:xfrm>
            <a:off x="384048" y="192024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DC3545"/>
                </a:solidFill>
                <a:latin typeface="Arial"/>
                <a:ea typeface="Arial"/>
                <a:cs typeface="Arial"/>
                <a:sym typeface="Arial"/>
              </a:rPr>
              <a:t>Division por cero</a:t>
            </a:r>
            <a:endParaRPr/>
          </a:p>
        </p:txBody>
      </p:sp>
      <p:sp>
        <p:nvSpPr>
          <p:cNvPr id="271" name="Google Shape;271;p14"/>
          <p:cNvSpPr/>
          <p:nvPr/>
        </p:nvSpPr>
        <p:spPr>
          <a:xfrm>
            <a:off x="384048" y="2286000"/>
            <a:ext cx="8412480" cy="411480"/>
          </a:xfrm>
          <a:prstGeom prst="rect">
            <a:avLst/>
          </a:prstGeom>
          <a:solidFill>
            <a:srgbClr val="FFEBE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4"/>
          <p:cNvSpPr txBox="1"/>
          <p:nvPr/>
        </p:nvSpPr>
        <p:spPr>
          <a:xfrm>
            <a:off x="548640" y="2359152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10 / 0  # ZeroDivisionError</a:t>
            </a:r>
            <a:endParaRPr/>
          </a:p>
        </p:txBody>
      </p:sp>
      <p:sp>
        <p:nvSpPr>
          <p:cNvPr id="273" name="Google Shape;273;p14"/>
          <p:cNvSpPr txBox="1"/>
          <p:nvPr/>
        </p:nvSpPr>
        <p:spPr>
          <a:xfrm>
            <a:off x="384048" y="292608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DC3545"/>
                </a:solidFill>
                <a:latin typeface="Arial"/>
                <a:ea typeface="Arial"/>
                <a:cs typeface="Arial"/>
                <a:sym typeface="Arial"/>
              </a:rPr>
              <a:t>Olvidar convertir input</a:t>
            </a:r>
            <a:endParaRPr/>
          </a:p>
        </p:txBody>
      </p:sp>
      <p:sp>
        <p:nvSpPr>
          <p:cNvPr id="274" name="Google Shape;274;p14"/>
          <p:cNvSpPr/>
          <p:nvPr/>
        </p:nvSpPr>
        <p:spPr>
          <a:xfrm>
            <a:off x="384048" y="3291840"/>
            <a:ext cx="8412480" cy="411480"/>
          </a:xfrm>
          <a:prstGeom prst="rect">
            <a:avLst/>
          </a:prstGeom>
          <a:solidFill>
            <a:srgbClr val="FFEBE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4"/>
          <p:cNvSpPr txBox="1"/>
          <p:nvPr/>
        </p:nvSpPr>
        <p:spPr>
          <a:xfrm>
            <a:off x="548640" y="3364992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num = input(); num + 5  # Error!</a:t>
            </a:r>
            <a:endParaRPr/>
          </a:p>
        </p:txBody>
      </p:sp>
      <p:sp>
        <p:nvSpPr>
          <p:cNvPr id="276" name="Google Shape;276;p14"/>
          <p:cNvSpPr txBox="1"/>
          <p:nvPr>
            <p:ph idx="12" type="sldNum"/>
          </p:nvPr>
        </p:nvSpPr>
        <p:spPr>
          <a:xfrm>
            <a:off x="6817125" y="459247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5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BREAK - 10 MINUTOS</a:t>
            </a:r>
            <a:endParaRPr/>
          </a:p>
        </p:txBody>
      </p:sp>
      <p:sp>
        <p:nvSpPr>
          <p:cNvPr id="283" name="Google Shape;283;p15"/>
          <p:cNvSpPr txBox="1"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8F9FA"/>
                </a:solidFill>
                <a:latin typeface="Arial"/>
                <a:ea typeface="Arial"/>
                <a:cs typeface="Arial"/>
                <a:sym typeface="Arial"/>
              </a:rPr>
              <a:t>Descansen y preparen VS Code</a:t>
            </a:r>
            <a:endParaRPr/>
          </a:p>
        </p:txBody>
      </p:sp>
      <p:sp>
        <p:nvSpPr>
          <p:cNvPr id="284" name="Google Shape;284;p15"/>
          <p:cNvSpPr txBox="1"/>
          <p:nvPr>
            <p:ph idx="12" type="sldNum"/>
          </p:nvPr>
        </p:nvSpPr>
        <p:spPr>
          <a:xfrm>
            <a:off x="6752775" y="461180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6"/>
          <p:cNvSpPr txBox="1"/>
          <p:nvPr/>
        </p:nvSpPr>
        <p:spPr>
          <a:xfrm>
            <a:off x="384048" y="32004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Arial"/>
                <a:ea typeface="Arial"/>
                <a:cs typeface="Arial"/>
                <a:sym typeface="Arial"/>
              </a:rPr>
              <a:t>String Methods</a:t>
            </a:r>
            <a:endParaRPr/>
          </a:p>
        </p:txBody>
      </p:sp>
      <p:sp>
        <p:nvSpPr>
          <p:cNvPr id="290" name="Google Shape;290;p16"/>
          <p:cNvSpPr txBox="1"/>
          <p:nvPr/>
        </p:nvSpPr>
        <p:spPr>
          <a:xfrm>
            <a:off x="384048" y="82296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Los strings tienen metodos incorporados:</a:t>
            </a:r>
            <a:endParaRPr/>
          </a:p>
        </p:txBody>
      </p:sp>
      <p:sp>
        <p:nvSpPr>
          <p:cNvPr id="291" name="Google Shape;291;p16"/>
          <p:cNvSpPr/>
          <p:nvPr/>
        </p:nvSpPr>
        <p:spPr>
          <a:xfrm>
            <a:off x="384048" y="1188720"/>
            <a:ext cx="8412480" cy="27432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6"/>
          <p:cNvSpPr/>
          <p:nvPr/>
        </p:nvSpPr>
        <p:spPr>
          <a:xfrm>
            <a:off x="384048" y="1188720"/>
            <a:ext cx="73152" cy="2743200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6"/>
          <p:cNvSpPr txBox="1"/>
          <p:nvPr/>
        </p:nvSpPr>
        <p:spPr>
          <a:xfrm>
            <a:off x="566928" y="1325880"/>
            <a:ext cx="8138159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texto = "python"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print(texto.upper())  # PYTHON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# Los metodos NO modifican el original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print(texto)  # python (sin cambios)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# Para guardar el cambio: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texto = texto.upper()</a:t>
            </a:r>
            <a:endParaRPr/>
          </a:p>
        </p:txBody>
      </p:sp>
      <p:sp>
        <p:nvSpPr>
          <p:cNvPr id="294" name="Google Shape;294;p16"/>
          <p:cNvSpPr/>
          <p:nvPr/>
        </p:nvSpPr>
        <p:spPr>
          <a:xfrm>
            <a:off x="384048" y="4069080"/>
            <a:ext cx="8412480" cy="502920"/>
          </a:xfrm>
          <a:prstGeom prst="rect">
            <a:avLst/>
          </a:prstGeom>
          <a:solidFill>
            <a:srgbClr val="E3F2F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6"/>
          <p:cNvSpPr/>
          <p:nvPr/>
        </p:nvSpPr>
        <p:spPr>
          <a:xfrm>
            <a:off x="384048" y="4069080"/>
            <a:ext cx="73152" cy="502920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6"/>
          <p:cNvSpPr txBox="1"/>
          <p:nvPr/>
        </p:nvSpPr>
        <p:spPr>
          <a:xfrm>
            <a:off x="566928" y="4178808"/>
            <a:ext cx="813815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Un metodo devuelve un NUEVO string. El original no cambia.</a:t>
            </a:r>
            <a:endParaRPr/>
          </a:p>
        </p:txBody>
      </p:sp>
      <p:sp>
        <p:nvSpPr>
          <p:cNvPr id="297" name="Google Shape;297;p16"/>
          <p:cNvSpPr txBox="1"/>
          <p:nvPr>
            <p:ph idx="12" type="sldNum"/>
          </p:nvPr>
        </p:nvSpPr>
        <p:spPr>
          <a:xfrm>
            <a:off x="6849325" y="47091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7"/>
          <p:cNvSpPr txBox="1"/>
          <p:nvPr/>
        </p:nvSpPr>
        <p:spPr>
          <a:xfrm>
            <a:off x="384048" y="32004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Arial"/>
                <a:ea typeface="Arial"/>
                <a:cs typeface="Arial"/>
                <a:sym typeface="Arial"/>
              </a:rPr>
              <a:t>Metodos de Transformacion</a:t>
            </a:r>
            <a:endParaRPr/>
          </a:p>
        </p:txBody>
      </p:sp>
      <p:sp>
        <p:nvSpPr>
          <p:cNvPr id="303" name="Google Shape;303;p17"/>
          <p:cNvSpPr txBox="1"/>
          <p:nvPr/>
        </p:nvSpPr>
        <p:spPr>
          <a:xfrm>
            <a:off x="384048" y="868680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E86AB"/>
                </a:solidFill>
                <a:latin typeface="Arial"/>
                <a:ea typeface="Arial"/>
                <a:cs typeface="Arial"/>
                <a:sym typeface="Arial"/>
              </a:rPr>
              <a:t>Metodo</a:t>
            </a:r>
            <a:endParaRPr/>
          </a:p>
        </p:txBody>
      </p:sp>
      <p:sp>
        <p:nvSpPr>
          <p:cNvPr id="304" name="Google Shape;304;p17"/>
          <p:cNvSpPr txBox="1"/>
          <p:nvPr/>
        </p:nvSpPr>
        <p:spPr>
          <a:xfrm>
            <a:off x="1645920" y="86868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E86AB"/>
                </a:solidFill>
                <a:latin typeface="Arial"/>
                <a:ea typeface="Arial"/>
                <a:cs typeface="Arial"/>
                <a:sym typeface="Arial"/>
              </a:rPr>
              <a:t>Descripcion</a:t>
            </a:r>
            <a:endParaRPr/>
          </a:p>
        </p:txBody>
      </p:sp>
      <p:sp>
        <p:nvSpPr>
          <p:cNvPr id="305" name="Google Shape;305;p17"/>
          <p:cNvSpPr txBox="1"/>
          <p:nvPr/>
        </p:nvSpPr>
        <p:spPr>
          <a:xfrm>
            <a:off x="3840480" y="86868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E86AB"/>
                </a:solidFill>
                <a:latin typeface="Arial"/>
                <a:ea typeface="Arial"/>
                <a:cs typeface="Arial"/>
                <a:sym typeface="Arial"/>
              </a:rPr>
              <a:t>Ejemplo</a:t>
            </a:r>
            <a:endParaRPr/>
          </a:p>
        </p:txBody>
      </p:sp>
      <p:sp>
        <p:nvSpPr>
          <p:cNvPr id="306" name="Google Shape;306;p17"/>
          <p:cNvSpPr txBox="1"/>
          <p:nvPr/>
        </p:nvSpPr>
        <p:spPr>
          <a:xfrm>
            <a:off x="6858000" y="86868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E86AB"/>
                </a:solidFill>
                <a:latin typeface="Arial"/>
                <a:ea typeface="Arial"/>
                <a:cs typeface="Arial"/>
                <a:sym typeface="Arial"/>
              </a:rPr>
              <a:t>Resultado</a:t>
            </a:r>
            <a:endParaRPr/>
          </a:p>
        </p:txBody>
      </p:sp>
      <p:sp>
        <p:nvSpPr>
          <p:cNvPr id="307" name="Google Shape;307;p17"/>
          <p:cNvSpPr txBox="1"/>
          <p:nvPr/>
        </p:nvSpPr>
        <p:spPr>
          <a:xfrm>
            <a:off x="384048" y="1234440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ourier New"/>
                <a:ea typeface="Courier New"/>
                <a:cs typeface="Courier New"/>
                <a:sym typeface="Courier New"/>
              </a:rPr>
              <a:t>.upper()</a:t>
            </a:r>
            <a:endParaRPr/>
          </a:p>
        </p:txBody>
      </p:sp>
      <p:sp>
        <p:nvSpPr>
          <p:cNvPr id="308" name="Google Shape;308;p17"/>
          <p:cNvSpPr txBox="1"/>
          <p:nvPr/>
        </p:nvSpPr>
        <p:spPr>
          <a:xfrm>
            <a:off x="1645920" y="123444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Todo mayusculas</a:t>
            </a:r>
            <a:endParaRPr/>
          </a:p>
        </p:txBody>
      </p:sp>
      <p:sp>
        <p:nvSpPr>
          <p:cNvPr id="309" name="Google Shape;309;p17"/>
          <p:cNvSpPr txBox="1"/>
          <p:nvPr/>
        </p:nvSpPr>
        <p:spPr>
          <a:xfrm>
            <a:off x="3840480" y="123444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"hola".upper()</a:t>
            </a:r>
            <a:endParaRPr/>
          </a:p>
        </p:txBody>
      </p:sp>
      <p:sp>
        <p:nvSpPr>
          <p:cNvPr id="310" name="Google Shape;310;p17"/>
          <p:cNvSpPr txBox="1"/>
          <p:nvPr/>
        </p:nvSpPr>
        <p:spPr>
          <a:xfrm>
            <a:off x="6858000" y="12344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8A745"/>
                </a:solidFill>
                <a:latin typeface="Courier New"/>
                <a:ea typeface="Courier New"/>
                <a:cs typeface="Courier New"/>
                <a:sym typeface="Courier New"/>
              </a:rPr>
              <a:t>"HOLA"</a:t>
            </a:r>
            <a:endParaRPr/>
          </a:p>
        </p:txBody>
      </p:sp>
      <p:sp>
        <p:nvSpPr>
          <p:cNvPr id="311" name="Google Shape;311;p17"/>
          <p:cNvSpPr txBox="1"/>
          <p:nvPr/>
        </p:nvSpPr>
        <p:spPr>
          <a:xfrm>
            <a:off x="384048" y="1737360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ourier New"/>
                <a:ea typeface="Courier New"/>
                <a:cs typeface="Courier New"/>
                <a:sym typeface="Courier New"/>
              </a:rPr>
              <a:t>.lower()</a:t>
            </a:r>
            <a:endParaRPr/>
          </a:p>
        </p:txBody>
      </p:sp>
      <p:sp>
        <p:nvSpPr>
          <p:cNvPr id="312" name="Google Shape;312;p17"/>
          <p:cNvSpPr txBox="1"/>
          <p:nvPr/>
        </p:nvSpPr>
        <p:spPr>
          <a:xfrm>
            <a:off x="1645920" y="173736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Todo minusculas</a:t>
            </a:r>
            <a:endParaRPr/>
          </a:p>
        </p:txBody>
      </p:sp>
      <p:sp>
        <p:nvSpPr>
          <p:cNvPr id="313" name="Google Shape;313;p17"/>
          <p:cNvSpPr txBox="1"/>
          <p:nvPr/>
        </p:nvSpPr>
        <p:spPr>
          <a:xfrm>
            <a:off x="3840480" y="173736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"HOLA".lower()</a:t>
            </a:r>
            <a:endParaRPr/>
          </a:p>
        </p:txBody>
      </p:sp>
      <p:sp>
        <p:nvSpPr>
          <p:cNvPr id="314" name="Google Shape;314;p17"/>
          <p:cNvSpPr txBox="1"/>
          <p:nvPr/>
        </p:nvSpPr>
        <p:spPr>
          <a:xfrm>
            <a:off x="6858000" y="173736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8A745"/>
                </a:solidFill>
                <a:latin typeface="Courier New"/>
                <a:ea typeface="Courier New"/>
                <a:cs typeface="Courier New"/>
                <a:sym typeface="Courier New"/>
              </a:rPr>
              <a:t>"hola"</a:t>
            </a:r>
            <a:endParaRPr/>
          </a:p>
        </p:txBody>
      </p:sp>
      <p:sp>
        <p:nvSpPr>
          <p:cNvPr id="315" name="Google Shape;315;p17"/>
          <p:cNvSpPr txBox="1"/>
          <p:nvPr/>
        </p:nvSpPr>
        <p:spPr>
          <a:xfrm>
            <a:off x="384048" y="2240280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ourier New"/>
                <a:ea typeface="Courier New"/>
                <a:cs typeface="Courier New"/>
                <a:sym typeface="Courier New"/>
              </a:rPr>
              <a:t>.title()</a:t>
            </a:r>
            <a:endParaRPr/>
          </a:p>
        </p:txBody>
      </p:sp>
      <p:sp>
        <p:nvSpPr>
          <p:cNvPr id="316" name="Google Shape;316;p17"/>
          <p:cNvSpPr txBox="1"/>
          <p:nvPr/>
        </p:nvSpPr>
        <p:spPr>
          <a:xfrm>
            <a:off x="1645920" y="224028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Capitaliza palabras</a:t>
            </a:r>
            <a:endParaRPr/>
          </a:p>
        </p:txBody>
      </p:sp>
      <p:sp>
        <p:nvSpPr>
          <p:cNvPr id="317" name="Google Shape;317;p17"/>
          <p:cNvSpPr txBox="1"/>
          <p:nvPr/>
        </p:nvSpPr>
        <p:spPr>
          <a:xfrm>
            <a:off x="3840480" y="224028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"hola mundo".title()</a:t>
            </a:r>
            <a:endParaRPr/>
          </a:p>
        </p:txBody>
      </p:sp>
      <p:sp>
        <p:nvSpPr>
          <p:cNvPr id="318" name="Google Shape;318;p17"/>
          <p:cNvSpPr txBox="1"/>
          <p:nvPr/>
        </p:nvSpPr>
        <p:spPr>
          <a:xfrm>
            <a:off x="6858000" y="224028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8A745"/>
                </a:solidFill>
                <a:latin typeface="Courier New"/>
                <a:ea typeface="Courier New"/>
                <a:cs typeface="Courier New"/>
                <a:sym typeface="Courier New"/>
              </a:rPr>
              <a:t>"Hola Mundo"</a:t>
            </a:r>
            <a:endParaRPr/>
          </a:p>
        </p:txBody>
      </p:sp>
      <p:sp>
        <p:nvSpPr>
          <p:cNvPr id="319" name="Google Shape;319;p17"/>
          <p:cNvSpPr txBox="1"/>
          <p:nvPr/>
        </p:nvSpPr>
        <p:spPr>
          <a:xfrm>
            <a:off x="384048" y="2743200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ourier New"/>
                <a:ea typeface="Courier New"/>
                <a:cs typeface="Courier New"/>
                <a:sym typeface="Courier New"/>
              </a:rPr>
              <a:t>.capitalize()</a:t>
            </a:r>
            <a:endParaRPr/>
          </a:p>
        </p:txBody>
      </p:sp>
      <p:sp>
        <p:nvSpPr>
          <p:cNvPr id="320" name="Google Shape;320;p17"/>
          <p:cNvSpPr txBox="1"/>
          <p:nvPr/>
        </p:nvSpPr>
        <p:spPr>
          <a:xfrm>
            <a:off x="1645920" y="274320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Solo primera letra</a:t>
            </a:r>
            <a:endParaRPr/>
          </a:p>
        </p:txBody>
      </p:sp>
      <p:sp>
        <p:nvSpPr>
          <p:cNvPr id="321" name="Google Shape;321;p17"/>
          <p:cNvSpPr txBox="1"/>
          <p:nvPr/>
        </p:nvSpPr>
        <p:spPr>
          <a:xfrm>
            <a:off x="3840480" y="274320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"hola mundo".capitalize()</a:t>
            </a:r>
            <a:endParaRPr/>
          </a:p>
        </p:txBody>
      </p:sp>
      <p:sp>
        <p:nvSpPr>
          <p:cNvPr id="322" name="Google Shape;322;p17"/>
          <p:cNvSpPr txBox="1"/>
          <p:nvPr/>
        </p:nvSpPr>
        <p:spPr>
          <a:xfrm>
            <a:off x="6858000" y="27432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8A745"/>
                </a:solidFill>
                <a:latin typeface="Courier New"/>
                <a:ea typeface="Courier New"/>
                <a:cs typeface="Courier New"/>
                <a:sym typeface="Courier New"/>
              </a:rPr>
              <a:t>"Hola mundo"</a:t>
            </a:r>
            <a:endParaRPr/>
          </a:p>
        </p:txBody>
      </p:sp>
      <p:sp>
        <p:nvSpPr>
          <p:cNvPr id="323" name="Google Shape;323;p17"/>
          <p:cNvSpPr txBox="1"/>
          <p:nvPr>
            <p:ph idx="12" type="sldNum"/>
          </p:nvPr>
        </p:nvSpPr>
        <p:spPr>
          <a:xfrm>
            <a:off x="6766550" y="455387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8"/>
          <p:cNvSpPr txBox="1"/>
          <p:nvPr/>
        </p:nvSpPr>
        <p:spPr>
          <a:xfrm>
            <a:off x="384048" y="32004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Arial"/>
                <a:ea typeface="Arial"/>
                <a:cs typeface="Arial"/>
                <a:sym typeface="Arial"/>
              </a:rPr>
              <a:t>Metodos de Limpieza: strip()</a:t>
            </a:r>
            <a:endParaRPr/>
          </a:p>
        </p:txBody>
      </p:sp>
      <p:sp>
        <p:nvSpPr>
          <p:cNvPr id="329" name="Google Shape;329;p18"/>
          <p:cNvSpPr/>
          <p:nvPr/>
        </p:nvSpPr>
        <p:spPr>
          <a:xfrm>
            <a:off x="384048" y="868680"/>
            <a:ext cx="8412480" cy="384048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8"/>
          <p:cNvSpPr/>
          <p:nvPr/>
        </p:nvSpPr>
        <p:spPr>
          <a:xfrm>
            <a:off x="384048" y="868680"/>
            <a:ext cx="73152" cy="3840480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8"/>
          <p:cNvSpPr txBox="1"/>
          <p:nvPr/>
        </p:nvSpPr>
        <p:spPr>
          <a:xfrm>
            <a:off x="566928" y="1005839"/>
            <a:ext cx="8138159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texto = "   espacios extra   "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texto.strip()   # "espacios extra"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texto.lstrip()  # "espacios extra   "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texto.rstrip()  # "   espacios extra"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# Muy util con input()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nombre = input("Tu nombre: ").strip()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# Tambien elimina otros caracteres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"***hola***".strip("*")  # "hola"</a:t>
            </a:r>
            <a:endParaRPr/>
          </a:p>
        </p:txBody>
      </p:sp>
      <p:sp>
        <p:nvSpPr>
          <p:cNvPr id="332" name="Google Shape;332;p18"/>
          <p:cNvSpPr txBox="1"/>
          <p:nvPr>
            <p:ph idx="12" type="sldNum"/>
          </p:nvPr>
        </p:nvSpPr>
        <p:spPr>
          <a:xfrm>
            <a:off x="6662925" y="47091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9"/>
          <p:cNvSpPr txBox="1"/>
          <p:nvPr/>
        </p:nvSpPr>
        <p:spPr>
          <a:xfrm>
            <a:off x="384048" y="32004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Arial"/>
                <a:ea typeface="Arial"/>
                <a:cs typeface="Arial"/>
                <a:sym typeface="Arial"/>
              </a:rPr>
              <a:t>Metodo replace()</a:t>
            </a:r>
            <a:endParaRPr/>
          </a:p>
        </p:txBody>
      </p:sp>
      <p:sp>
        <p:nvSpPr>
          <p:cNvPr id="338" name="Google Shape;338;p19"/>
          <p:cNvSpPr/>
          <p:nvPr/>
        </p:nvSpPr>
        <p:spPr>
          <a:xfrm>
            <a:off x="384048" y="868680"/>
            <a:ext cx="8412480" cy="384048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9"/>
          <p:cNvSpPr/>
          <p:nvPr/>
        </p:nvSpPr>
        <p:spPr>
          <a:xfrm>
            <a:off x="384048" y="868680"/>
            <a:ext cx="73152" cy="3840480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9"/>
          <p:cNvSpPr txBox="1"/>
          <p:nvPr/>
        </p:nvSpPr>
        <p:spPr>
          <a:xfrm>
            <a:off x="566928" y="1005839"/>
            <a:ext cx="8138159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texto = "Hola Mundo"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nuevo = texto.replace("Mundo", "Python")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print(nuevo)  # "Hola Python"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# Reemplaza TODAS las ocurrencias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texto = "a-b-c-d"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print(texto.replace("-", " "))  # "a b c d"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# Truco: eliminar caracteres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tel = "555-123-4567"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print(tel.replace("-", ""))  # "5551234567"</a:t>
            </a:r>
            <a:endParaRPr/>
          </a:p>
        </p:txBody>
      </p:sp>
      <p:sp>
        <p:nvSpPr>
          <p:cNvPr id="341" name="Google Shape;341;p19"/>
          <p:cNvSpPr txBox="1"/>
          <p:nvPr>
            <p:ph idx="12" type="sldNum"/>
          </p:nvPr>
        </p:nvSpPr>
        <p:spPr>
          <a:xfrm>
            <a:off x="6662925" y="47091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0"/>
          <p:cNvSpPr txBox="1"/>
          <p:nvPr/>
        </p:nvSpPr>
        <p:spPr>
          <a:xfrm>
            <a:off x="384048" y="32004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Arial"/>
                <a:ea typeface="Arial"/>
                <a:cs typeface="Arial"/>
                <a:sym typeface="Arial"/>
              </a:rPr>
              <a:t>Ejercicio 5: Limpiador de Texto</a:t>
            </a:r>
            <a:endParaRPr/>
          </a:p>
        </p:txBody>
      </p:sp>
      <p:sp>
        <p:nvSpPr>
          <p:cNvPr id="347" name="Google Shape;347;p20"/>
          <p:cNvSpPr txBox="1"/>
          <p:nvPr/>
        </p:nvSpPr>
        <p:spPr>
          <a:xfrm>
            <a:off x="384048" y="86868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Pide un texto y muestra:</a:t>
            </a:r>
            <a:endParaRPr/>
          </a:p>
        </p:txBody>
      </p:sp>
      <p:sp>
        <p:nvSpPr>
          <p:cNvPr id="348" name="Google Shape;348;p20"/>
          <p:cNvSpPr txBox="1"/>
          <p:nvPr/>
        </p:nvSpPr>
        <p:spPr>
          <a:xfrm>
            <a:off x="548640" y="1280160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1. En MAYUSCULAS</a:t>
            </a:r>
            <a:endParaRPr/>
          </a:p>
        </p:txBody>
      </p:sp>
      <p:sp>
        <p:nvSpPr>
          <p:cNvPr id="349" name="Google Shape;349;p20"/>
          <p:cNvSpPr txBox="1"/>
          <p:nvPr/>
        </p:nvSpPr>
        <p:spPr>
          <a:xfrm>
            <a:off x="548640" y="1645919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2. En minusculas</a:t>
            </a:r>
            <a:endParaRPr/>
          </a:p>
        </p:txBody>
      </p:sp>
      <p:sp>
        <p:nvSpPr>
          <p:cNvPr id="350" name="Google Shape;350;p20"/>
          <p:cNvSpPr txBox="1"/>
          <p:nvPr/>
        </p:nvSpPr>
        <p:spPr>
          <a:xfrm>
            <a:off x="548640" y="2011679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3. Con formato Titulo</a:t>
            </a:r>
            <a:endParaRPr/>
          </a:p>
        </p:txBody>
      </p:sp>
      <p:sp>
        <p:nvSpPr>
          <p:cNvPr id="351" name="Google Shape;351;p20"/>
          <p:cNvSpPr txBox="1"/>
          <p:nvPr/>
        </p:nvSpPr>
        <p:spPr>
          <a:xfrm>
            <a:off x="548640" y="2377439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4. Sin espacios extra (strip)</a:t>
            </a:r>
            <a:endParaRPr/>
          </a:p>
        </p:txBody>
      </p:sp>
      <p:sp>
        <p:nvSpPr>
          <p:cNvPr id="352" name="Google Shape;352;p20"/>
          <p:cNvSpPr txBox="1"/>
          <p:nvPr>
            <p:ph idx="12" type="sldNum"/>
          </p:nvPr>
        </p:nvSpPr>
        <p:spPr>
          <a:xfrm>
            <a:off x="6617575" y="452167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1"/>
          <p:cNvSpPr txBox="1"/>
          <p:nvPr/>
        </p:nvSpPr>
        <p:spPr>
          <a:xfrm>
            <a:off x="384048" y="32004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Arial"/>
                <a:ea typeface="Arial"/>
                <a:cs typeface="Arial"/>
                <a:sym typeface="Arial"/>
              </a:rPr>
              <a:t>Metodos split() y join()</a:t>
            </a:r>
            <a:endParaRPr/>
          </a:p>
        </p:txBody>
      </p:sp>
      <p:sp>
        <p:nvSpPr>
          <p:cNvPr id="358" name="Google Shape;358;p21"/>
          <p:cNvSpPr/>
          <p:nvPr/>
        </p:nvSpPr>
        <p:spPr>
          <a:xfrm>
            <a:off x="384048" y="868680"/>
            <a:ext cx="8412480" cy="384048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1"/>
          <p:cNvSpPr/>
          <p:nvPr/>
        </p:nvSpPr>
        <p:spPr>
          <a:xfrm>
            <a:off x="384048" y="868680"/>
            <a:ext cx="73152" cy="3840480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1"/>
          <p:cNvSpPr txBox="1"/>
          <p:nvPr/>
        </p:nvSpPr>
        <p:spPr>
          <a:xfrm>
            <a:off x="566928" y="1005839"/>
            <a:ext cx="8138159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# split() - Divide string en lista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texto = "uno,dos,tres"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lista = texto.split(",")  # ["uno", "dos", "tres"]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frase = "Hola Mundo"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palabras = frase.split()  # ["Hola", "Mundo"]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# join() - Une lista en string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lista = ["a", "b", "c"]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print("-".join(lista))  # "a-b-c"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print(" ".join(lista))  # "a b c"</a:t>
            </a:r>
            <a:endParaRPr/>
          </a:p>
        </p:txBody>
      </p:sp>
      <p:sp>
        <p:nvSpPr>
          <p:cNvPr id="361" name="Google Shape;361;p21"/>
          <p:cNvSpPr txBox="1"/>
          <p:nvPr>
            <p:ph idx="12" type="sldNum"/>
          </p:nvPr>
        </p:nvSpPr>
        <p:spPr>
          <a:xfrm>
            <a:off x="6604700" y="47091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2"/>
          <p:cNvSpPr txBox="1"/>
          <p:nvPr/>
        </p:nvSpPr>
        <p:spPr>
          <a:xfrm>
            <a:off x="384048" y="32004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Arial"/>
                <a:ea typeface="Arial"/>
                <a:cs typeface="Arial"/>
                <a:sym typeface="Arial"/>
              </a:rPr>
              <a:t>startswith() y endswith()</a:t>
            </a:r>
            <a:endParaRPr/>
          </a:p>
        </p:txBody>
      </p:sp>
      <p:sp>
        <p:nvSpPr>
          <p:cNvPr id="367" name="Google Shape;367;p22"/>
          <p:cNvSpPr/>
          <p:nvPr/>
        </p:nvSpPr>
        <p:spPr>
          <a:xfrm>
            <a:off x="384048" y="868680"/>
            <a:ext cx="8412480" cy="384048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2"/>
          <p:cNvSpPr/>
          <p:nvPr/>
        </p:nvSpPr>
        <p:spPr>
          <a:xfrm>
            <a:off x="384048" y="868680"/>
            <a:ext cx="73152" cy="3840480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2"/>
          <p:cNvSpPr txBox="1"/>
          <p:nvPr/>
        </p:nvSpPr>
        <p:spPr>
          <a:xfrm>
            <a:off x="566928" y="1005839"/>
            <a:ext cx="8138159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archivo = "documento.pdf"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archivo.startswith("doc")   # True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archivo.startswith("img")   # False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archivo.endswith(".pdf")    # True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archivo.endswith(".txt")    # False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# Util para validar extensiones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if archivo.endswith(".py"):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    print("Es un archivo Python!")</a:t>
            </a:r>
            <a:endParaRPr/>
          </a:p>
        </p:txBody>
      </p:sp>
      <p:sp>
        <p:nvSpPr>
          <p:cNvPr id="370" name="Google Shape;370;p22"/>
          <p:cNvSpPr txBox="1"/>
          <p:nvPr>
            <p:ph idx="12" type="sldNum"/>
          </p:nvPr>
        </p:nvSpPr>
        <p:spPr>
          <a:xfrm>
            <a:off x="6662925" y="47091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3"/>
          <p:cNvSpPr txBox="1"/>
          <p:nvPr/>
        </p:nvSpPr>
        <p:spPr>
          <a:xfrm>
            <a:off x="384048" y="32004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Arial"/>
                <a:ea typeface="Arial"/>
                <a:cs typeface="Arial"/>
                <a:sym typeface="Arial"/>
              </a:rPr>
              <a:t>find() y count()</a:t>
            </a:r>
            <a:endParaRPr/>
          </a:p>
        </p:txBody>
      </p:sp>
      <p:sp>
        <p:nvSpPr>
          <p:cNvPr id="376" name="Google Shape;376;p23"/>
          <p:cNvSpPr/>
          <p:nvPr/>
        </p:nvSpPr>
        <p:spPr>
          <a:xfrm>
            <a:off x="384048" y="868680"/>
            <a:ext cx="8412480" cy="384048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3"/>
          <p:cNvSpPr/>
          <p:nvPr/>
        </p:nvSpPr>
        <p:spPr>
          <a:xfrm>
            <a:off x="384048" y="868680"/>
            <a:ext cx="73152" cy="3840480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3"/>
          <p:cNvSpPr txBox="1"/>
          <p:nvPr/>
        </p:nvSpPr>
        <p:spPr>
          <a:xfrm>
            <a:off x="566928" y="1005839"/>
            <a:ext cx="8138159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texto = "Hola Mundo"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# find() - Posicion del texto (-1 si no existe)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texto.find("Mundo")   # 5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texto.find("Python")  # -1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# count() - Cuantas veces aparece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texto = "abracadabra"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texto.count("a")      # 5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texto.count("bra")    # 2</a:t>
            </a:r>
            <a:endParaRPr/>
          </a:p>
        </p:txBody>
      </p:sp>
      <p:sp>
        <p:nvSpPr>
          <p:cNvPr id="379" name="Google Shape;379;p23"/>
          <p:cNvSpPr txBox="1"/>
          <p:nvPr>
            <p:ph idx="12" type="sldNum"/>
          </p:nvPr>
        </p:nvSpPr>
        <p:spPr>
          <a:xfrm>
            <a:off x="6662925" y="47091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4"/>
          <p:cNvSpPr txBox="1"/>
          <p:nvPr/>
        </p:nvSpPr>
        <p:spPr>
          <a:xfrm>
            <a:off x="384048" y="32004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Arial"/>
                <a:ea typeface="Arial"/>
                <a:cs typeface="Arial"/>
                <a:sym typeface="Arial"/>
              </a:rPr>
              <a:t>Ejercicio 6: Analizador de Email</a:t>
            </a:r>
            <a:endParaRPr/>
          </a:p>
        </p:txBody>
      </p:sp>
      <p:sp>
        <p:nvSpPr>
          <p:cNvPr id="385" name="Google Shape;385;p24"/>
          <p:cNvSpPr txBox="1"/>
          <p:nvPr/>
        </p:nvSpPr>
        <p:spPr>
          <a:xfrm>
            <a:off x="384048" y="86868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Pide un email y verifica:</a:t>
            </a:r>
            <a:endParaRPr/>
          </a:p>
        </p:txBody>
      </p:sp>
      <p:sp>
        <p:nvSpPr>
          <p:cNvPr id="386" name="Google Shape;386;p24"/>
          <p:cNvSpPr txBox="1"/>
          <p:nvPr/>
        </p:nvSpPr>
        <p:spPr>
          <a:xfrm>
            <a:off x="548640" y="1280160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1. Si contiene @ (usa find() o count())</a:t>
            </a:r>
            <a:endParaRPr/>
          </a:p>
        </p:txBody>
      </p:sp>
      <p:sp>
        <p:nvSpPr>
          <p:cNvPr id="387" name="Google Shape;387;p24"/>
          <p:cNvSpPr txBox="1"/>
          <p:nvPr/>
        </p:nvSpPr>
        <p:spPr>
          <a:xfrm>
            <a:off x="548640" y="1645919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2. Si termina en .com, .org, .net o .edu</a:t>
            </a:r>
            <a:endParaRPr/>
          </a:p>
        </p:txBody>
      </p:sp>
      <p:sp>
        <p:nvSpPr>
          <p:cNvPr id="388" name="Google Shape;388;p24"/>
          <p:cNvSpPr txBox="1"/>
          <p:nvPr/>
        </p:nvSpPr>
        <p:spPr>
          <a:xfrm>
            <a:off x="548640" y="2011679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3. Muestra el email en minusculas</a:t>
            </a:r>
            <a:endParaRPr/>
          </a:p>
        </p:txBody>
      </p:sp>
      <p:sp>
        <p:nvSpPr>
          <p:cNvPr id="389" name="Google Shape;389;p24"/>
          <p:cNvSpPr txBox="1"/>
          <p:nvPr>
            <p:ph idx="12" type="sldNum"/>
          </p:nvPr>
        </p:nvSpPr>
        <p:spPr>
          <a:xfrm>
            <a:off x="6733450" y="460537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5"/>
          <p:cNvSpPr txBox="1"/>
          <p:nvPr/>
        </p:nvSpPr>
        <p:spPr>
          <a:xfrm>
            <a:off x="384048" y="32004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Arial"/>
                <a:ea typeface="Arial"/>
                <a:cs typeface="Arial"/>
                <a:sym typeface="Arial"/>
              </a:rPr>
              <a:t>Ejercicio 7: Contador de Palabras</a:t>
            </a:r>
            <a:endParaRPr/>
          </a:p>
        </p:txBody>
      </p:sp>
      <p:sp>
        <p:nvSpPr>
          <p:cNvPr id="395" name="Google Shape;395;p25"/>
          <p:cNvSpPr txBox="1"/>
          <p:nvPr/>
        </p:nvSpPr>
        <p:spPr>
          <a:xfrm>
            <a:off x="384048" y="86868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Pide una oracion y muestra:</a:t>
            </a:r>
            <a:endParaRPr/>
          </a:p>
        </p:txBody>
      </p:sp>
      <p:sp>
        <p:nvSpPr>
          <p:cNvPr id="396" name="Google Shape;396;p25"/>
          <p:cNvSpPr txBox="1"/>
          <p:nvPr/>
        </p:nvSpPr>
        <p:spPr>
          <a:xfrm>
            <a:off x="548640" y="1280160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1. Numero total de caracteres (len)</a:t>
            </a:r>
            <a:endParaRPr/>
          </a:p>
        </p:txBody>
      </p:sp>
      <p:sp>
        <p:nvSpPr>
          <p:cNvPr id="397" name="Google Shape;397;p25"/>
          <p:cNvSpPr txBox="1"/>
          <p:nvPr/>
        </p:nvSpPr>
        <p:spPr>
          <a:xfrm>
            <a:off x="548640" y="1645919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2. Numero de palabras (split y len)</a:t>
            </a:r>
            <a:endParaRPr/>
          </a:p>
        </p:txBody>
      </p:sp>
      <p:sp>
        <p:nvSpPr>
          <p:cNvPr id="398" name="Google Shape;398;p25"/>
          <p:cNvSpPr txBox="1"/>
          <p:nvPr/>
        </p:nvSpPr>
        <p:spPr>
          <a:xfrm>
            <a:off x="548640" y="2011679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3. La oracion con palabras separadas por guion</a:t>
            </a:r>
            <a:endParaRPr/>
          </a:p>
        </p:txBody>
      </p:sp>
      <p:sp>
        <p:nvSpPr>
          <p:cNvPr id="399" name="Google Shape;399;p25"/>
          <p:cNvSpPr txBox="1"/>
          <p:nvPr>
            <p:ph idx="12" type="sldNum"/>
          </p:nvPr>
        </p:nvSpPr>
        <p:spPr>
          <a:xfrm>
            <a:off x="6611125" y="450880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6"/>
          <p:cNvSpPr txBox="1"/>
          <p:nvPr/>
        </p:nvSpPr>
        <p:spPr>
          <a:xfrm>
            <a:off x="384048" y="32004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Arial"/>
                <a:ea typeface="Arial"/>
                <a:cs typeface="Arial"/>
                <a:sym typeface="Arial"/>
              </a:rPr>
              <a:t>Encadenar Metodos (Chaining)</a:t>
            </a:r>
            <a:endParaRPr/>
          </a:p>
        </p:txBody>
      </p:sp>
      <p:sp>
        <p:nvSpPr>
          <p:cNvPr id="405" name="Google Shape;405;p26"/>
          <p:cNvSpPr txBox="1"/>
          <p:nvPr/>
        </p:nvSpPr>
        <p:spPr>
          <a:xfrm>
            <a:off x="384048" y="82296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Puedes aplicar varios metodos seguidos:</a:t>
            </a:r>
            <a:endParaRPr/>
          </a:p>
        </p:txBody>
      </p:sp>
      <p:sp>
        <p:nvSpPr>
          <p:cNvPr id="406" name="Google Shape;406;p26"/>
          <p:cNvSpPr/>
          <p:nvPr/>
        </p:nvSpPr>
        <p:spPr>
          <a:xfrm>
            <a:off x="384048" y="1188720"/>
            <a:ext cx="8412480" cy="27432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6"/>
          <p:cNvSpPr/>
          <p:nvPr/>
        </p:nvSpPr>
        <p:spPr>
          <a:xfrm>
            <a:off x="384048" y="1188720"/>
            <a:ext cx="73152" cy="2743200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6"/>
          <p:cNvSpPr txBox="1"/>
          <p:nvPr/>
        </p:nvSpPr>
        <p:spPr>
          <a:xfrm>
            <a:off x="566928" y="1325880"/>
            <a:ext cx="8138159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texto = "   HOLA MUNDO   "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# Encadenar: strip -&gt; lower -&gt; replace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resultado = texto.strip().lower().replace(" ", "-")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print(resultado)  # "hola-mundo"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# Muy comun con input()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nombre = input("Nombre: ").strip().title()</a:t>
            </a:r>
            <a:endParaRPr/>
          </a:p>
        </p:txBody>
      </p:sp>
      <p:sp>
        <p:nvSpPr>
          <p:cNvPr id="409" name="Google Shape;409;p26"/>
          <p:cNvSpPr/>
          <p:nvPr/>
        </p:nvSpPr>
        <p:spPr>
          <a:xfrm>
            <a:off x="384048" y="4069080"/>
            <a:ext cx="8412480" cy="502920"/>
          </a:xfrm>
          <a:prstGeom prst="rect">
            <a:avLst/>
          </a:prstGeom>
          <a:solidFill>
            <a:srgbClr val="E3F2F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6"/>
          <p:cNvSpPr/>
          <p:nvPr/>
        </p:nvSpPr>
        <p:spPr>
          <a:xfrm>
            <a:off x="384048" y="4069080"/>
            <a:ext cx="73152" cy="502920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6"/>
          <p:cNvSpPr txBox="1"/>
          <p:nvPr/>
        </p:nvSpPr>
        <p:spPr>
          <a:xfrm>
            <a:off x="566928" y="4178808"/>
            <a:ext cx="813815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Cada metodo devuelve un string, asi que puedes aplicar otro.</a:t>
            </a:r>
            <a:endParaRPr/>
          </a:p>
        </p:txBody>
      </p:sp>
      <p:sp>
        <p:nvSpPr>
          <p:cNvPr id="412" name="Google Shape;412;p26"/>
          <p:cNvSpPr txBox="1"/>
          <p:nvPr>
            <p:ph idx="12" type="sldNum"/>
          </p:nvPr>
        </p:nvSpPr>
        <p:spPr>
          <a:xfrm>
            <a:off x="6662925" y="464397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7"/>
          <p:cNvSpPr txBox="1"/>
          <p:nvPr/>
        </p:nvSpPr>
        <p:spPr>
          <a:xfrm>
            <a:off x="384048" y="32004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Arial"/>
                <a:ea typeface="Arial"/>
                <a:cs typeface="Arial"/>
                <a:sym typeface="Arial"/>
              </a:rPr>
              <a:t>Ejercicio 8: Generador de Username</a:t>
            </a:r>
            <a:endParaRPr/>
          </a:p>
        </p:txBody>
      </p:sp>
      <p:sp>
        <p:nvSpPr>
          <p:cNvPr id="418" name="Google Shape;418;p27"/>
          <p:cNvSpPr txBox="1"/>
          <p:nvPr/>
        </p:nvSpPr>
        <p:spPr>
          <a:xfrm>
            <a:off x="384048" y="86868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Crea username desde nombre completo:</a:t>
            </a:r>
            <a:endParaRPr/>
          </a:p>
        </p:txBody>
      </p:sp>
      <p:sp>
        <p:nvSpPr>
          <p:cNvPr id="419" name="Google Shape;419;p27"/>
          <p:cNvSpPr txBox="1"/>
          <p:nvPr/>
        </p:nvSpPr>
        <p:spPr>
          <a:xfrm>
            <a:off x="548640" y="1280160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1. Convertir a minusculas</a:t>
            </a:r>
            <a:endParaRPr/>
          </a:p>
        </p:txBody>
      </p:sp>
      <p:sp>
        <p:nvSpPr>
          <p:cNvPr id="420" name="Google Shape;420;p27"/>
          <p:cNvSpPr txBox="1"/>
          <p:nvPr/>
        </p:nvSpPr>
        <p:spPr>
          <a:xfrm>
            <a:off x="548640" y="1645919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2. Reemplazar espacios por guion bajo _</a:t>
            </a:r>
            <a:endParaRPr/>
          </a:p>
        </p:txBody>
      </p:sp>
      <p:sp>
        <p:nvSpPr>
          <p:cNvPr id="421" name="Google Shape;421;p27"/>
          <p:cNvSpPr txBox="1"/>
          <p:nvPr/>
        </p:nvSpPr>
        <p:spPr>
          <a:xfrm>
            <a:off x="548640" y="2011679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3. Eliminar espacios extra</a:t>
            </a:r>
            <a:endParaRPr/>
          </a:p>
        </p:txBody>
      </p:sp>
      <p:sp>
        <p:nvSpPr>
          <p:cNvPr id="422" name="Google Shape;422;p27"/>
          <p:cNvSpPr/>
          <p:nvPr/>
        </p:nvSpPr>
        <p:spPr>
          <a:xfrm>
            <a:off x="384048" y="4114800"/>
            <a:ext cx="8412480" cy="502920"/>
          </a:xfrm>
          <a:prstGeom prst="rect">
            <a:avLst/>
          </a:prstGeom>
          <a:solidFill>
            <a:srgbClr val="E3F2F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7"/>
          <p:cNvSpPr/>
          <p:nvPr/>
        </p:nvSpPr>
        <p:spPr>
          <a:xfrm>
            <a:off x="384048" y="4114800"/>
            <a:ext cx="73152" cy="502920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7"/>
          <p:cNvSpPr txBox="1"/>
          <p:nvPr/>
        </p:nvSpPr>
        <p:spPr>
          <a:xfrm>
            <a:off x="566928" y="4224528"/>
            <a:ext cx="813815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Ejemplo: "   Juan GARCIA   " -&gt; "juan_garcia"</a:t>
            </a:r>
            <a:endParaRPr/>
          </a:p>
        </p:txBody>
      </p:sp>
      <p:sp>
        <p:nvSpPr>
          <p:cNvPr id="425" name="Google Shape;425;p27"/>
          <p:cNvSpPr txBox="1"/>
          <p:nvPr>
            <p:ph idx="12" type="sldNum"/>
          </p:nvPr>
        </p:nvSpPr>
        <p:spPr>
          <a:xfrm>
            <a:off x="6662925" y="465042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8"/>
          <p:cNvSpPr txBox="1"/>
          <p:nvPr/>
        </p:nvSpPr>
        <p:spPr>
          <a:xfrm>
            <a:off x="384048" y="32004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Arial"/>
                <a:ea typeface="Arial"/>
                <a:cs typeface="Arial"/>
                <a:sym typeface="Arial"/>
              </a:rPr>
              <a:t>Tabla de Referencia Rapida</a:t>
            </a:r>
            <a:endParaRPr/>
          </a:p>
        </p:txBody>
      </p:sp>
      <p:sp>
        <p:nvSpPr>
          <p:cNvPr id="431" name="Google Shape;431;p28"/>
          <p:cNvSpPr txBox="1"/>
          <p:nvPr/>
        </p:nvSpPr>
        <p:spPr>
          <a:xfrm>
            <a:off x="384048" y="9144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E86AB"/>
                </a:solidFill>
                <a:latin typeface="Arial"/>
                <a:ea typeface="Arial"/>
                <a:cs typeface="Arial"/>
                <a:sym typeface="Arial"/>
              </a:rPr>
              <a:t>TRANSFORMAR:</a:t>
            </a:r>
            <a:endParaRPr/>
          </a:p>
        </p:txBody>
      </p:sp>
      <p:sp>
        <p:nvSpPr>
          <p:cNvPr id="432" name="Google Shape;432;p28"/>
          <p:cNvSpPr txBox="1"/>
          <p:nvPr/>
        </p:nvSpPr>
        <p:spPr>
          <a:xfrm>
            <a:off x="2286000" y="91440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.upper()  .lower()  .title()  .capitalize()</a:t>
            </a:r>
            <a:endParaRPr/>
          </a:p>
        </p:txBody>
      </p:sp>
      <p:sp>
        <p:nvSpPr>
          <p:cNvPr id="433" name="Google Shape;433;p28"/>
          <p:cNvSpPr txBox="1"/>
          <p:nvPr/>
        </p:nvSpPr>
        <p:spPr>
          <a:xfrm>
            <a:off x="384048" y="13716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E86AB"/>
                </a:solidFill>
                <a:latin typeface="Arial"/>
                <a:ea typeface="Arial"/>
                <a:cs typeface="Arial"/>
                <a:sym typeface="Arial"/>
              </a:rPr>
              <a:t>LIMPIAR:</a:t>
            </a:r>
            <a:endParaRPr/>
          </a:p>
        </p:txBody>
      </p:sp>
      <p:sp>
        <p:nvSpPr>
          <p:cNvPr id="434" name="Google Shape;434;p28"/>
          <p:cNvSpPr txBox="1"/>
          <p:nvPr/>
        </p:nvSpPr>
        <p:spPr>
          <a:xfrm>
            <a:off x="2286000" y="137160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.strip()  .lstrip()  .rstrip()</a:t>
            </a:r>
            <a:endParaRPr/>
          </a:p>
        </p:txBody>
      </p:sp>
      <p:sp>
        <p:nvSpPr>
          <p:cNvPr id="435" name="Google Shape;435;p28"/>
          <p:cNvSpPr txBox="1"/>
          <p:nvPr/>
        </p:nvSpPr>
        <p:spPr>
          <a:xfrm>
            <a:off x="384048" y="18288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E86AB"/>
                </a:solidFill>
                <a:latin typeface="Arial"/>
                <a:ea typeface="Arial"/>
                <a:cs typeface="Arial"/>
                <a:sym typeface="Arial"/>
              </a:rPr>
              <a:t>BUSCAR:</a:t>
            </a:r>
            <a:endParaRPr/>
          </a:p>
        </p:txBody>
      </p:sp>
      <p:sp>
        <p:nvSpPr>
          <p:cNvPr id="436" name="Google Shape;436;p28"/>
          <p:cNvSpPr txBox="1"/>
          <p:nvPr/>
        </p:nvSpPr>
        <p:spPr>
          <a:xfrm>
            <a:off x="2286000" y="182880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.find()  .count()  .replace()</a:t>
            </a:r>
            <a:endParaRPr/>
          </a:p>
        </p:txBody>
      </p:sp>
      <p:sp>
        <p:nvSpPr>
          <p:cNvPr id="437" name="Google Shape;437;p28"/>
          <p:cNvSpPr txBox="1"/>
          <p:nvPr/>
        </p:nvSpPr>
        <p:spPr>
          <a:xfrm>
            <a:off x="384048" y="22860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E86AB"/>
                </a:solidFill>
                <a:latin typeface="Arial"/>
                <a:ea typeface="Arial"/>
                <a:cs typeface="Arial"/>
                <a:sym typeface="Arial"/>
              </a:rPr>
              <a:t>VERIFICAR:</a:t>
            </a:r>
            <a:endParaRPr/>
          </a:p>
        </p:txBody>
      </p:sp>
      <p:sp>
        <p:nvSpPr>
          <p:cNvPr id="438" name="Google Shape;438;p28"/>
          <p:cNvSpPr txBox="1"/>
          <p:nvPr/>
        </p:nvSpPr>
        <p:spPr>
          <a:xfrm>
            <a:off x="2286000" y="228600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.startswith()  .endswith()</a:t>
            </a:r>
            <a:endParaRPr/>
          </a:p>
        </p:txBody>
      </p:sp>
      <p:sp>
        <p:nvSpPr>
          <p:cNvPr id="439" name="Google Shape;439;p28"/>
          <p:cNvSpPr txBox="1"/>
          <p:nvPr/>
        </p:nvSpPr>
        <p:spPr>
          <a:xfrm>
            <a:off x="384048" y="27432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E86AB"/>
                </a:solidFill>
                <a:latin typeface="Arial"/>
                <a:ea typeface="Arial"/>
                <a:cs typeface="Arial"/>
                <a:sym typeface="Arial"/>
              </a:rPr>
              <a:t>SEPARAR:</a:t>
            </a:r>
            <a:endParaRPr/>
          </a:p>
        </p:txBody>
      </p:sp>
      <p:sp>
        <p:nvSpPr>
          <p:cNvPr id="440" name="Google Shape;440;p28"/>
          <p:cNvSpPr txBox="1"/>
          <p:nvPr/>
        </p:nvSpPr>
        <p:spPr>
          <a:xfrm>
            <a:off x="2286000" y="274320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.split()  .join()</a:t>
            </a:r>
            <a:endParaRPr/>
          </a:p>
        </p:txBody>
      </p:sp>
      <p:sp>
        <p:nvSpPr>
          <p:cNvPr id="441" name="Google Shape;441;p28"/>
          <p:cNvSpPr txBox="1"/>
          <p:nvPr/>
        </p:nvSpPr>
        <p:spPr>
          <a:xfrm>
            <a:off x="384048" y="32004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E86AB"/>
                </a:solidFill>
                <a:latin typeface="Arial"/>
                <a:ea typeface="Arial"/>
                <a:cs typeface="Arial"/>
                <a:sym typeface="Arial"/>
              </a:rPr>
              <a:t>LONGITUD:</a:t>
            </a:r>
            <a:endParaRPr/>
          </a:p>
        </p:txBody>
      </p:sp>
      <p:sp>
        <p:nvSpPr>
          <p:cNvPr id="442" name="Google Shape;442;p28"/>
          <p:cNvSpPr txBox="1"/>
          <p:nvPr/>
        </p:nvSpPr>
        <p:spPr>
          <a:xfrm>
            <a:off x="2286000" y="320040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len(texto)  # Es funcion, no metodo</a:t>
            </a:r>
            <a:endParaRPr/>
          </a:p>
        </p:txBody>
      </p:sp>
      <p:sp>
        <p:nvSpPr>
          <p:cNvPr id="443" name="Google Shape;443;p28"/>
          <p:cNvSpPr txBox="1"/>
          <p:nvPr>
            <p:ph idx="12" type="sldNum"/>
          </p:nvPr>
        </p:nvSpPr>
        <p:spPr>
          <a:xfrm>
            <a:off x="6662925" y="45345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9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PROYECTO FINAL</a:t>
            </a:r>
            <a:endParaRPr/>
          </a:p>
        </p:txBody>
      </p:sp>
      <p:sp>
        <p:nvSpPr>
          <p:cNvPr id="450" name="Google Shape;450;p29"/>
          <p:cNvSpPr txBox="1"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8F9FA"/>
                </a:solidFill>
                <a:latin typeface="Arial"/>
                <a:ea typeface="Arial"/>
                <a:cs typeface="Arial"/>
                <a:sym typeface="Arial"/>
              </a:rPr>
              <a:t>Procesador de Texto Simple</a:t>
            </a:r>
            <a:endParaRPr/>
          </a:p>
        </p:txBody>
      </p:sp>
      <p:sp>
        <p:nvSpPr>
          <p:cNvPr id="451" name="Google Shape;451;p29"/>
          <p:cNvSpPr txBox="1"/>
          <p:nvPr>
            <p:ph idx="12" type="sldNum"/>
          </p:nvPr>
        </p:nvSpPr>
        <p:spPr>
          <a:xfrm>
            <a:off x="6707700" y="456030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0"/>
          <p:cNvSpPr txBox="1"/>
          <p:nvPr/>
        </p:nvSpPr>
        <p:spPr>
          <a:xfrm>
            <a:off x="384048" y="32004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Arial"/>
                <a:ea typeface="Arial"/>
                <a:cs typeface="Arial"/>
                <a:sym typeface="Arial"/>
              </a:rPr>
              <a:t>Proyecto: Procesador de Texto</a:t>
            </a:r>
            <a:endParaRPr/>
          </a:p>
        </p:txBody>
      </p:sp>
      <p:sp>
        <p:nvSpPr>
          <p:cNvPr id="457" name="Google Shape;457;p30"/>
          <p:cNvSpPr/>
          <p:nvPr/>
        </p:nvSpPr>
        <p:spPr>
          <a:xfrm>
            <a:off x="384048" y="868680"/>
            <a:ext cx="8412480" cy="384048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30"/>
          <p:cNvSpPr/>
          <p:nvPr/>
        </p:nvSpPr>
        <p:spPr>
          <a:xfrm>
            <a:off x="384048" y="868680"/>
            <a:ext cx="73152" cy="3840480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30"/>
          <p:cNvSpPr txBox="1"/>
          <p:nvPr/>
        </p:nvSpPr>
        <p:spPr>
          <a:xfrm>
            <a:off x="566928" y="1005839"/>
            <a:ext cx="8138159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print("=== PROCESADOR DE TEXTO ===")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texto = input("Ingresa tu texto: ")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print(f"\nOriginal: {texto}")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print(f"MAYUSCULAS: {texto.upper()}")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print(f"minusculas: {texto.lower()}")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print(f"Titulo: {texto.title()}")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palabras = texto.split()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print(f"\nPalabras: {len(palabras)}")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print(f"Caracteres: {len(texto)}")</a:t>
            </a:r>
            <a:endParaRPr/>
          </a:p>
        </p:txBody>
      </p:sp>
      <p:sp>
        <p:nvSpPr>
          <p:cNvPr id="460" name="Google Shape;460;p30"/>
          <p:cNvSpPr txBox="1"/>
          <p:nvPr>
            <p:ph idx="12" type="sldNum"/>
          </p:nvPr>
        </p:nvSpPr>
        <p:spPr>
          <a:xfrm>
            <a:off x="6662925" y="47405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1"/>
          <p:cNvSpPr txBox="1"/>
          <p:nvPr/>
        </p:nvSpPr>
        <p:spPr>
          <a:xfrm>
            <a:off x="384048" y="32004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Arial"/>
                <a:ea typeface="Arial"/>
                <a:cs typeface="Arial"/>
                <a:sym typeface="Arial"/>
              </a:rPr>
              <a:t>Errores Comunes con Strings</a:t>
            </a:r>
            <a:endParaRPr/>
          </a:p>
        </p:txBody>
      </p:sp>
      <p:sp>
        <p:nvSpPr>
          <p:cNvPr id="466" name="Google Shape;466;p31"/>
          <p:cNvSpPr txBox="1"/>
          <p:nvPr/>
        </p:nvSpPr>
        <p:spPr>
          <a:xfrm>
            <a:off x="384048" y="91440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DC3545"/>
                </a:solidFill>
                <a:latin typeface="Arial"/>
                <a:ea typeface="Arial"/>
                <a:cs typeface="Arial"/>
                <a:sym typeface="Arial"/>
              </a:rPr>
              <a:t>No guardar el resultado</a:t>
            </a:r>
            <a:endParaRPr/>
          </a:p>
        </p:txBody>
      </p:sp>
      <p:sp>
        <p:nvSpPr>
          <p:cNvPr id="467" name="Google Shape;467;p31"/>
          <p:cNvSpPr/>
          <p:nvPr/>
        </p:nvSpPr>
        <p:spPr>
          <a:xfrm>
            <a:off x="384048" y="1280160"/>
            <a:ext cx="8412480" cy="411480"/>
          </a:xfrm>
          <a:prstGeom prst="rect">
            <a:avLst/>
          </a:prstGeom>
          <a:solidFill>
            <a:srgbClr val="FFEBE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31"/>
          <p:cNvSpPr txBox="1"/>
          <p:nvPr/>
        </p:nvSpPr>
        <p:spPr>
          <a:xfrm>
            <a:off x="548640" y="1353312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nombre.upper()  # No se guarda!</a:t>
            </a:r>
            <a:endParaRPr/>
          </a:p>
        </p:txBody>
      </p:sp>
      <p:sp>
        <p:nvSpPr>
          <p:cNvPr id="469" name="Google Shape;469;p31"/>
          <p:cNvSpPr txBox="1"/>
          <p:nvPr/>
        </p:nvSpPr>
        <p:spPr>
          <a:xfrm>
            <a:off x="384048" y="192024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DC3545"/>
                </a:solidFill>
                <a:latin typeface="Arial"/>
                <a:ea typeface="Arial"/>
                <a:cs typeface="Arial"/>
                <a:sym typeface="Arial"/>
              </a:rPr>
              <a:t>Olvidar parentesis</a:t>
            </a:r>
            <a:endParaRPr/>
          </a:p>
        </p:txBody>
      </p:sp>
      <p:sp>
        <p:nvSpPr>
          <p:cNvPr id="470" name="Google Shape;470;p31"/>
          <p:cNvSpPr/>
          <p:nvPr/>
        </p:nvSpPr>
        <p:spPr>
          <a:xfrm>
            <a:off x="384048" y="2286000"/>
            <a:ext cx="8412480" cy="411480"/>
          </a:xfrm>
          <a:prstGeom prst="rect">
            <a:avLst/>
          </a:prstGeom>
          <a:solidFill>
            <a:srgbClr val="FFEBE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31"/>
          <p:cNvSpPr txBox="1"/>
          <p:nvPr/>
        </p:nvSpPr>
        <p:spPr>
          <a:xfrm>
            <a:off x="548640" y="2359152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texto.upper  # Falta ()</a:t>
            </a:r>
            <a:endParaRPr/>
          </a:p>
        </p:txBody>
      </p:sp>
      <p:sp>
        <p:nvSpPr>
          <p:cNvPr id="472" name="Google Shape;472;p31"/>
          <p:cNvSpPr txBox="1"/>
          <p:nvPr/>
        </p:nvSpPr>
        <p:spPr>
          <a:xfrm>
            <a:off x="384048" y="292608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DC3545"/>
                </a:solidFill>
                <a:latin typeface="Arial"/>
                <a:ea typeface="Arial"/>
                <a:cs typeface="Arial"/>
                <a:sym typeface="Arial"/>
              </a:rPr>
              <a:t>Confundir split/join</a:t>
            </a:r>
            <a:endParaRPr/>
          </a:p>
        </p:txBody>
      </p:sp>
      <p:sp>
        <p:nvSpPr>
          <p:cNvPr id="473" name="Google Shape;473;p31"/>
          <p:cNvSpPr/>
          <p:nvPr/>
        </p:nvSpPr>
        <p:spPr>
          <a:xfrm>
            <a:off x="384048" y="3291840"/>
            <a:ext cx="8412480" cy="411480"/>
          </a:xfrm>
          <a:prstGeom prst="rect">
            <a:avLst/>
          </a:prstGeom>
          <a:solidFill>
            <a:srgbClr val="FFEBE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31"/>
          <p:cNvSpPr txBox="1"/>
          <p:nvPr/>
        </p:nvSpPr>
        <p:spPr>
          <a:xfrm>
            <a:off x="548640" y="3364992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texto.split() -&gt; lista, '-'.join(lista) -&gt; string</a:t>
            </a:r>
            <a:endParaRPr/>
          </a:p>
        </p:txBody>
      </p:sp>
      <p:sp>
        <p:nvSpPr>
          <p:cNvPr id="475" name="Google Shape;475;p31"/>
          <p:cNvSpPr txBox="1"/>
          <p:nvPr>
            <p:ph idx="12" type="sldNum"/>
          </p:nvPr>
        </p:nvSpPr>
        <p:spPr>
          <a:xfrm>
            <a:off x="6591825" y="442512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2"/>
          <p:cNvSpPr txBox="1"/>
          <p:nvPr/>
        </p:nvSpPr>
        <p:spPr>
          <a:xfrm>
            <a:off x="384048" y="32004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Arial"/>
                <a:ea typeface="Arial"/>
                <a:cs typeface="Arial"/>
                <a:sym typeface="Arial"/>
              </a:rPr>
              <a:t>Resumen de la Clase 4</a:t>
            </a:r>
            <a:endParaRPr/>
          </a:p>
        </p:txBody>
      </p:sp>
      <p:sp>
        <p:nvSpPr>
          <p:cNvPr id="481" name="Google Shape;481;p32"/>
          <p:cNvSpPr txBox="1"/>
          <p:nvPr/>
        </p:nvSpPr>
        <p:spPr>
          <a:xfrm>
            <a:off x="384048" y="9144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Operadores Aritmeticos</a:t>
            </a:r>
            <a:endParaRPr/>
          </a:p>
        </p:txBody>
      </p:sp>
      <p:sp>
        <p:nvSpPr>
          <p:cNvPr id="482" name="Google Shape;482;p32"/>
          <p:cNvSpPr txBox="1"/>
          <p:nvPr/>
        </p:nvSpPr>
        <p:spPr>
          <a:xfrm>
            <a:off x="3200400" y="9144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E86AB"/>
                </a:solidFill>
                <a:latin typeface="Courier New"/>
                <a:ea typeface="Courier New"/>
                <a:cs typeface="Courier New"/>
                <a:sym typeface="Courier New"/>
              </a:rPr>
              <a:t>+ - * / // % **</a:t>
            </a:r>
            <a:endParaRPr/>
          </a:p>
        </p:txBody>
      </p:sp>
      <p:sp>
        <p:nvSpPr>
          <p:cNvPr id="483" name="Google Shape;483;p32"/>
          <p:cNvSpPr txBox="1"/>
          <p:nvPr/>
        </p:nvSpPr>
        <p:spPr>
          <a:xfrm>
            <a:off x="384048" y="13716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Operadores Comparacion</a:t>
            </a:r>
            <a:endParaRPr/>
          </a:p>
        </p:txBody>
      </p:sp>
      <p:sp>
        <p:nvSpPr>
          <p:cNvPr id="484" name="Google Shape;484;p32"/>
          <p:cNvSpPr txBox="1"/>
          <p:nvPr/>
        </p:nvSpPr>
        <p:spPr>
          <a:xfrm>
            <a:off x="3200400" y="13716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E86AB"/>
                </a:solidFill>
                <a:latin typeface="Courier New"/>
                <a:ea typeface="Courier New"/>
                <a:cs typeface="Courier New"/>
                <a:sym typeface="Courier New"/>
              </a:rPr>
              <a:t>== != &gt; &lt; &gt;= &lt;=</a:t>
            </a:r>
            <a:endParaRPr/>
          </a:p>
        </p:txBody>
      </p:sp>
      <p:sp>
        <p:nvSpPr>
          <p:cNvPr id="485" name="Google Shape;485;p32"/>
          <p:cNvSpPr txBox="1"/>
          <p:nvPr/>
        </p:nvSpPr>
        <p:spPr>
          <a:xfrm>
            <a:off x="384048" y="18288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Operadores Logicos</a:t>
            </a:r>
            <a:endParaRPr/>
          </a:p>
        </p:txBody>
      </p:sp>
      <p:sp>
        <p:nvSpPr>
          <p:cNvPr id="486" name="Google Shape;486;p32"/>
          <p:cNvSpPr txBox="1"/>
          <p:nvPr/>
        </p:nvSpPr>
        <p:spPr>
          <a:xfrm>
            <a:off x="3200400" y="18288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E86AB"/>
                </a:solidFill>
                <a:latin typeface="Courier New"/>
                <a:ea typeface="Courier New"/>
                <a:cs typeface="Courier New"/>
                <a:sym typeface="Courier New"/>
              </a:rPr>
              <a:t>and  or  not</a:t>
            </a:r>
            <a:endParaRPr/>
          </a:p>
        </p:txBody>
      </p:sp>
      <p:sp>
        <p:nvSpPr>
          <p:cNvPr id="487" name="Google Shape;487;p32"/>
          <p:cNvSpPr txBox="1"/>
          <p:nvPr/>
        </p:nvSpPr>
        <p:spPr>
          <a:xfrm>
            <a:off x="384048" y="22860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String Methods</a:t>
            </a:r>
            <a:endParaRPr/>
          </a:p>
        </p:txBody>
      </p:sp>
      <p:sp>
        <p:nvSpPr>
          <p:cNvPr id="488" name="Google Shape;488;p32"/>
          <p:cNvSpPr txBox="1"/>
          <p:nvPr/>
        </p:nvSpPr>
        <p:spPr>
          <a:xfrm>
            <a:off x="3200400" y="22860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E86AB"/>
                </a:solidFill>
                <a:latin typeface="Courier New"/>
                <a:ea typeface="Courier New"/>
                <a:cs typeface="Courier New"/>
                <a:sym typeface="Courier New"/>
              </a:rPr>
              <a:t>upper, lower, strip, replace, split, join</a:t>
            </a:r>
            <a:endParaRPr/>
          </a:p>
        </p:txBody>
      </p:sp>
      <p:sp>
        <p:nvSpPr>
          <p:cNvPr id="489" name="Google Shape;489;p32"/>
          <p:cNvSpPr/>
          <p:nvPr/>
        </p:nvSpPr>
        <p:spPr>
          <a:xfrm>
            <a:off x="384048" y="4114800"/>
            <a:ext cx="8412480" cy="502920"/>
          </a:xfrm>
          <a:prstGeom prst="rect">
            <a:avLst/>
          </a:prstGeom>
          <a:solidFill>
            <a:srgbClr val="E3F2F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32"/>
          <p:cNvSpPr/>
          <p:nvPr/>
        </p:nvSpPr>
        <p:spPr>
          <a:xfrm>
            <a:off x="384048" y="4114800"/>
            <a:ext cx="73152" cy="502920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32"/>
          <p:cNvSpPr txBox="1"/>
          <p:nvPr/>
        </p:nvSpPr>
        <p:spPr>
          <a:xfrm>
            <a:off x="566928" y="4224528"/>
            <a:ext cx="813815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Proxima clase: Condicionales (if, elif, else)</a:t>
            </a:r>
            <a:endParaRPr/>
          </a:p>
        </p:txBody>
      </p:sp>
      <p:sp>
        <p:nvSpPr>
          <p:cNvPr id="492" name="Google Shape;492;p32"/>
          <p:cNvSpPr txBox="1"/>
          <p:nvPr>
            <p:ph idx="12" type="sldNum"/>
          </p:nvPr>
        </p:nvSpPr>
        <p:spPr>
          <a:xfrm>
            <a:off x="6662925" y="466972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