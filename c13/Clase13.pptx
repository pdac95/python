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jAelFQSRaTVIRR6uY+zWV1+2Q5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CLASE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PERSISTENCIA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393192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8E6F0"/>
                </a:solidFill>
                <a:latin typeface="Calibri"/>
                <a:ea typeface="Calibri"/>
                <a:cs typeface="Calibri"/>
                <a:sym typeface="Calibri"/>
              </a:rPr>
              <a:t>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3657600" y="4846320"/>
            <a:ext cx="4876495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581238" y="1371600"/>
            <a:ext cx="5029200" cy="4114800"/>
          </a:xfrm>
          <a:prstGeom prst="roundRect">
            <a:avLst>
              <a:gd fmla="val 16667" name="adj"/>
            </a:avLst>
          </a:prstGeom>
          <a:solidFill>
            <a:srgbClr val="FFF0F0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  Tarea 1: Terminar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  Tarea 2: Comprar despensa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  Tarea 3: Hacer 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&gt;&gt;&gt; Cerrar programa...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&gt;&gt;&gt; Abrir de nuevo...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464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DESPUES: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  (vacio)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RAM vs DISCO - Concepto Fundamental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31520" y="1280160"/>
            <a:ext cx="5029200" cy="4389120"/>
          </a:xfrm>
          <a:prstGeom prst="roundRect">
            <a:avLst>
              <a:gd fmla="val 16667" name="adj"/>
            </a:avLst>
          </a:prstGeom>
          <a:solidFill>
            <a:srgbClr val="FFEBEB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MEMORIA 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E74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Rapida pero TEMPORAL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•  Variables de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•  Listas y diccionarios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•  Todo lo del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Al cerrar el programa: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TODO DESAPARECE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E74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Analogia: Post-it en tu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400800" y="1280160"/>
            <a:ext cx="5029200" cy="438912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DISCO DURO / SSD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Lenta pero PERMANENTE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•  Archivos (.txt, .json)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•  Documentos y fotos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•  Programas instalados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Al apagar la computadora: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LOS DATOS QUEDAN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Analogia: Cuaderno en tu librero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5303520" y="29260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31520" y="5943600"/>
            <a:ext cx="10789920" cy="457200"/>
          </a:xfrm>
          <a:prstGeom prst="roundRect">
            <a:avLst>
              <a:gd fmla="val 16667" name="adj"/>
            </a:avLst>
          </a:prstGeom>
          <a:solidFill>
            <a:srgbClr val="DCEDF5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Necesitamos ARCHIVOS para guardar datos en el DISCO y que persistan entre ejecuciones del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Que es un Archivo?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ARCHIVO = Datos guardados permanentemente en el disco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CARACTERISTICAS: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 Tiene un NOMBRE: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    tareas.txt, datos.csv, info.json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464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 Tiene un TIPO (extension):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    .txt, .csv, .json, .pdf, 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464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 Tiene una UBICACION: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    C:/documentos/tareas.txt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464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 Es PERMANENTE: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 Sobrevive al cerrar el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400800" y="1828800"/>
            <a:ext cx="5029200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TIPOS COMUNES: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.txt     Texto plano simple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.csv     Datos separados por comas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.json    Datos estructurados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.py      Codigo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.html    Paginas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Hoy nos enfocamos en: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.txt  y  .json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Las 3 Operaciones Basicas con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31520" y="1371600"/>
            <a:ext cx="3291840" cy="3200400"/>
          </a:xfrm>
          <a:prstGeom prst="roundRect">
            <a:avLst>
              <a:gd fmla="val 16667" name="adj"/>
            </a:avLst>
          </a:prstGeom>
          <a:solidFill>
            <a:srgbClr val="EBF8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182875" spcFirstLastPara="1" rIns="9142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1  ABRIR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open("archivo.txt", "modo")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Le dices a Python: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"Quiero trabajar con este archivo"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464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Analogia: Sacar un libro del librero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434840" y="1371600"/>
            <a:ext cx="3291840" cy="3200400"/>
          </a:xfrm>
          <a:prstGeom prst="roundRect">
            <a:avLst>
              <a:gd fmla="val 16667" name="adj"/>
            </a:avLst>
          </a:prstGeom>
          <a:solidFill>
            <a:srgbClr val="EBFFF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182875" spcFirstLastPara="1" rIns="9142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2  LEER / ESCRIBIR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read() / write()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Extraes datos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guardas nuevos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Analogia: Leer paginas o escribir en el libro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138160" y="1371600"/>
            <a:ext cx="3291840" cy="3200400"/>
          </a:xfrm>
          <a:prstGeom prst="roundRect">
            <a:avLst>
              <a:gd fmla="val 16667" name="adj"/>
            </a:avLst>
          </a:prstGeom>
          <a:solidFill>
            <a:srgbClr val="FFF0EB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182875" spcFirstLastPara="1" rIns="9142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3  CERRAR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F39C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close()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Le dices a Python: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"Termine, guarda todo"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464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Analogia: Guardar el libro en el librero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31520" y="5029200"/>
            <a:ext cx="10789920" cy="731520"/>
          </a:xfrm>
          <a:prstGeom prst="roundRect">
            <a:avLst>
              <a:gd fmla="val 16667" name="adj"/>
            </a:avLst>
          </a:prstGeom>
          <a:solidFill>
            <a:srgbClr val="FFF5E6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IMPORTANTE: Si no cierras el archivo, los datos pueden NO guardarse correctamente. Pero existe una forma MEJOR...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Abrir Archivos - open()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31520" y="1188720"/>
            <a:ext cx="10789920" cy="64008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archivo = open("ruta/nombre.txt", "modo")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731520" y="210312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1. RUTA - Donde esta el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"tareas.txt"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 En la carpeta 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"datos/tareas.txt"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 En subcarpeta 'datos'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"C:/docs/tareas.txt"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 Ruta absoluta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400800" y="2103120"/>
            <a:ext cx="5029200" cy="365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2. MODO - Que vas a hacer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"r"  Read (Leer)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  Solo lectura. Error si no existe.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464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74C3C"/>
                </a:solidFill>
                <a:latin typeface="Consolas"/>
                <a:ea typeface="Consolas"/>
                <a:cs typeface="Consolas"/>
                <a:sym typeface="Consolas"/>
              </a:rPr>
              <a:t>"w"  Write (Escribir)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  BORRA todo y escribe nuevo.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  Crea el archivo si no existe.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464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"a"  Append (Agregar)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  Agrega al FINAL sin borrar.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  Crea si no existe.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31520" y="5943600"/>
            <a:ext cx="10789920" cy="457200"/>
          </a:xfrm>
          <a:prstGeom prst="roundRect">
            <a:avLst>
              <a:gd fmla="val 16667" name="adj"/>
            </a:avLst>
          </a:prstGeom>
          <a:solidFill>
            <a:srgbClr val="DCEDF5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TIP: "r" es el modo por defecto. Si solo vas a leer, puedes omitirlo: open("archivo.txt")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Escribir en Archivos - write()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31520" y="118872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Abrir en modo escritura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archivo = open("datos.txt", "w")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Escribir lineas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archivo.write("Hola mundo\n")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archivo.write("Segunda linea\n")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IMPORTANTE: Cerrar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archivo.close()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Sin \n vs Con \n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400800" y="1828800"/>
            <a:ext cx="5029200" cy="1463040"/>
          </a:xfrm>
          <a:prstGeom prst="roundRect">
            <a:avLst>
              <a:gd fmla="val 16667" name="adj"/>
            </a:avLst>
          </a:prstGeom>
          <a:solidFill>
            <a:srgbClr val="FFF0F0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SIN \n: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archivo.write("Linea 1")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archivo.write("Linea 2")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Resultado: Linea 1Linea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400800" y="356616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CON \n: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archivo.write("Linea 1\n")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archivo.write("Linea 2\n")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Linea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Linea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31520" y="5760720"/>
            <a:ext cx="10789920" cy="548640"/>
          </a:xfrm>
          <a:prstGeom prst="roundRect">
            <a:avLst>
              <a:gd fmla="val 16667" name="adj"/>
            </a:avLst>
          </a:prstGeom>
          <a:solidFill>
            <a:srgbClr val="DCEDF5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TIP: \n = salto de linea (Enter). Sin \n todo queda en UNA sola linea. Siempre agrega \n al final de cada linea.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La Forma Correcta - with open()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Forma antigua (peligrosa):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31520" y="155448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Forma antigua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archivo = open("datos.txt", "w")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archivo.write("Hola\n")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archivo.close()  # Y si olvidas esto?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Forma moderna (segura):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731520" y="365760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Forma moderna - USAR SIEMPRE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with open("datos.txt", "w") as archivo: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archivo.write("Hola\n")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Se cierra AUTOMATICAMENTE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400800" y="1371600"/>
            <a:ext cx="5029200" cy="3931920"/>
          </a:xfrm>
          <a:prstGeom prst="roundRect">
            <a:avLst>
              <a:gd fmla="val 16667" name="adj"/>
            </a:avLst>
          </a:prstGeom>
          <a:solidFill>
            <a:srgbClr val="EBFFF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VENTAJAS de 'with':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 Cierra automaticamente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 Incluso si hay un error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 Codigo mas limpio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 Es el estandar profesional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Analogia: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Es como una puerta automatica: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se cierra 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31520" y="5760720"/>
            <a:ext cx="10789920" cy="548640"/>
          </a:xfrm>
          <a:prstGeom prst="roundRect">
            <a:avLst>
              <a:gd fmla="val 16667" name="adj"/>
            </a:avLst>
          </a:prstGeom>
          <a:solidFill>
            <a:srgbClr val="DCEDF5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REGLA DE ORO: SIEMPRE usen 'with' para trabajar con archivos. Es mas seguro, mas limpio y es lo que usan los profesionales.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Leer Archivos - read()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731520" y="118872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with open("datos.txt", "r") as archivo: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contenido = archivo.read()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print(contenido)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read() LEE TODO el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como UN solo 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400800" y="1188720"/>
            <a:ext cx="502920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Si datos.txt contiene: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Python es genial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Me gusta programar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Archivos son utiles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7AE6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Entonces contenido sera: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"Python es genial\n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Me gusta programar\n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Archivos son utiles\n"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type(contenido) = str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731520" y="320040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FFF5E6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182875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CUIDADO con archivos grandes: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39C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read() carga TODO en memoria.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Si el archivo tiene 1 millon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lineas, ocupa MUCHA RAM.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Leer Linea por Linea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731520" y="1097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readline() - UNA linea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731520" y="1554480"/>
            <a:ext cx="3383280" cy="146304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with open("datos.txt") as 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l1 = f.readline()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l2 = f.readline()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print(l1.strip())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print(l2.strip())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4389120" y="1097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readlines() - TODAS como lista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389120" y="1554480"/>
            <a:ext cx="3383280" cy="146304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with open("datos.txt") as 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lineas = f.readlines()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    # ["Linea 1\n",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    #  "Linea 2\n",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    #  "Linea 3\n"]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804672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Iterar directamente (MEJOR)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8046720" y="1554480"/>
            <a:ext cx="3657600" cy="146304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with open("datos.txt") as 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for linea in 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    print(linea.strip())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Lee una a una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NO carga todo en 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731525" y="3474726"/>
            <a:ext cx="10789800" cy="2432700"/>
          </a:xfrm>
          <a:prstGeom prst="roundRect">
            <a:avLst>
              <a:gd fmla="val 16667" name="adj"/>
            </a:avLst>
          </a:prstGeom>
          <a:solidFill>
            <a:srgbClr val="F5F5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strip() - Quita espacios y \n del inicio y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linea = "Hola mundo\n"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linea.strip()    # "Hola mundo"    (sin \n)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7AE6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linea = "  Hola  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linea.strip()    # "Hola"           (sin espacios)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731520" y="6114802"/>
            <a:ext cx="10789800" cy="548700"/>
          </a:xfrm>
          <a:prstGeom prst="roundRect">
            <a:avLst>
              <a:gd fmla="val 16667" name="adj"/>
            </a:avLst>
          </a:prstGeom>
          <a:solidFill>
            <a:srgbClr val="DCEDF5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RECOMENDACION: Iterar directamente con 'for linea in archivo' es la forma mas eficiente y pythonica. Siempre usa .strip() para limpiar cada linea.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Ejercicio 1: Guardar una Lista de Tareas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731520" y="1188720"/>
            <a:ext cx="5029200" cy="109728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tareas = ["Estudiar Python",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      "Hacer ejercicio",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      "Comprar leche"]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731520" y="256032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TU MISION: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1. Crear archivo "tareas.txt"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2. Guardar cada tarea en una linea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3. Verificar que se creo el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6400800" y="118872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RESULTADO ESPERADO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(tareas.txt):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464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Estudiar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Hacer 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Comprar leche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731520" y="5029200"/>
            <a:ext cx="10789920" cy="548640"/>
          </a:xfrm>
          <a:prstGeom prst="roundRect">
            <a:avLst>
              <a:gd fmla="val 16667" name="adj"/>
            </a:avLst>
          </a:prstGeom>
          <a:solidFill>
            <a:srgbClr val="DCEDF5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PISTA: Usa with open() en modo 'w' + un loop for + write() con \n al final de cada tarea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Ejercicio 2: Leer el Archivo de Tareas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TU MISION: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1. Abrir "tareas.txt"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2. Leer TODAS las lineas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3. Guardarlas en una lista de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4. Mostrar la lista con print()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6400800" y="118872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RESULTADO ESPERADO: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['Estudiar Python',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'Hacer ejercicio',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'Comprar leche']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6400800" y="292608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F5F0FF"/>
          </a:solidFill>
          <a:ln cap="flat" cmpd="sng" w="12700">
            <a:solidFill>
              <a:srgbClr val="9664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3CA0"/>
                </a:solidFill>
                <a:latin typeface="Calibri"/>
                <a:ea typeface="Calibri"/>
                <a:cs typeface="Calibri"/>
                <a:sym typeface="Calibri"/>
              </a:rPr>
              <a:t>BONUS (Clase 12):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643C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Solucion con comprehension: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with open('tareas.txt') as 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tareas = [l.strip()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          for l in f]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731520" y="5486400"/>
            <a:ext cx="10789920" cy="548640"/>
          </a:xfrm>
          <a:prstGeom prst="roundRect">
            <a:avLst>
              <a:gd fmla="val 16667" name="adj"/>
            </a:avLst>
          </a:prstGeom>
          <a:solidFill>
            <a:srgbClr val="DCEDF5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PISTA: Usa modo 'r' + for linea in archivo + .strip() para quitar \n + .append() para agregar a la lista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Ejercicio 3: Guardar Diccionarios en 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731520" y="118872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tareas = [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{"id": 1, "titulo": "Estudiar",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"prioridad": "alta"},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{"id": 2, "titulo": "Ejercicio",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"prioridad": "media"}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731520" y="310896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TU MISION: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1. Guardar en 'tareas_completas.txt'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2. Formato: id|titulo|prioridad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3. Una tarea por linea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6400800" y="118872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RESULTADO (tareas_completas.txt):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1|Estudiar|alta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2|Ejercicio|media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6400800" y="292608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FF5E6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PROBLEMA con este formato: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39C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Que pasa si el titulo tiene |?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Que pasa si hay mas campos?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Que pasa con tipos (int vs str)?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Necesitamos algo MEJOR...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731520" y="5303520"/>
            <a:ext cx="10789920" cy="457200"/>
          </a:xfrm>
          <a:prstGeom prst="roundRect">
            <a:avLst>
              <a:gd fmla="val 16667" name="adj"/>
            </a:avLst>
          </a:prstGeom>
          <a:solidFill>
            <a:srgbClr val="DCEDF5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PISTA: Usa f-strings para formatear: f"{tarea['id']}|{tarea['titulo']}|{tarea['prioridad']}\n"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JSON - La Forma Profesional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JSON = JavaScript Object Notation  |  El idioma universal de los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731525" y="1828800"/>
            <a:ext cx="5029200" cy="3736800"/>
          </a:xfrm>
          <a:prstGeom prst="roundRect">
            <a:avLst>
              <a:gd fmla="val 16667" name="adj"/>
            </a:avLst>
          </a:prstGeom>
          <a:solidFill>
            <a:srgbClr val="F0F8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{"id": 1, "titulo": "Estudiar"}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[1, 2, 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"Hola mundo"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True / 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42  /  3.14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6400800" y="1828800"/>
            <a:ext cx="5029200" cy="3736800"/>
          </a:xfrm>
          <a:prstGeom prst="roundRect">
            <a:avLst>
              <a:gd fmla="val 16667" name="adj"/>
            </a:avLst>
          </a:prstGeom>
          <a:solidFill>
            <a:srgbClr val="FFF8F0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{"id": 1, "titulo": "Estudiar"}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[1, 2, 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"Hola mundo"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true / 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42  /  3.14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5303520" y="2286000"/>
            <a:ext cx="15544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&lt;--&gt;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&lt;--&gt;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&lt;--&gt;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&lt;--&gt;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&lt;--&gt;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&lt;--&gt;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731520" y="5669280"/>
            <a:ext cx="10789920" cy="640080"/>
          </a:xfrm>
          <a:prstGeom prst="roundRect">
            <a:avLst>
              <a:gd fmla="val 16667" name="adj"/>
            </a:avLst>
          </a:prstGeom>
          <a:solidFill>
            <a:srgbClr val="DCEDF5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JSON es CASI identico a Python! Los diccionarios y listas se convierten automaticamente. Solo cambian: True-&gt;true, False-&gt;false, None-&gt;null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Guardar Datos con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731520" y="1188720"/>
            <a:ext cx="5029200" cy="27432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tareas = [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{"id": 1, "titulo": "Estudiar",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 "prioridad": "alta"},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{"id": 2, "titulo": "Ejercicio",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 "prioridad": "media"}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GUARDAR en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with open("tareas.json", "w") as archivo: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json.dump(tareas, archivo, indent=2)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6400800" y="1188720"/>
            <a:ext cx="5029200" cy="4114800"/>
          </a:xfrm>
          <a:prstGeom prst="roundRect">
            <a:avLst>
              <a:gd fmla="val 16667" name="adj"/>
            </a:avLst>
          </a:prstGeom>
          <a:solidFill>
            <a:srgbClr val="F5FFF5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RESULTADO (tareas.json):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"id": 1,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"titulo": "Estudiar",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"prioridad": "alta"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},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"id": 2,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"titulo": "Ejercicio",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"prioridad": "media"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731520" y="5669280"/>
            <a:ext cx="10789920" cy="640080"/>
          </a:xfrm>
          <a:prstGeom prst="roundRect">
            <a:avLst>
              <a:gd fmla="val 16667" name="adj"/>
            </a:avLst>
          </a:prstGeom>
          <a:solidFill>
            <a:srgbClr val="DCEDF5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json.dump() = 'volcar' datos de Python al archivo  |  indent=2 hace que el JSON sea legible para humanos  |  Sin indent todo queda en UNA linea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Leer Datos con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731520" y="1188720"/>
            <a:ext cx="5029200" cy="256032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LEER desde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with open("tareas.json", "r") as archivo: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tareas = json.load(archivo)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print(tareas)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print(type(tareas))     # &lt;class 'list'&gt;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print(type(tareas[0]))  # &lt;class 'dict'&gt;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print(tareas[0]["titulo"])  # "Estudiar"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6400800" y="1188720"/>
            <a:ext cx="502920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COMPARACION: TXT vs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Con TXT (7+ lineas):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  Abrir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  Leer cada linea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  split('|')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  int(partes[0])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  Crear diccionario manual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6464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Con JSON (2 lineas):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  with open('f.json') as 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      datos = json.load(f)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27AE6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Ya son diccionarios!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Cero conversion manual!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731520" y="5669280"/>
            <a:ext cx="10789920" cy="640080"/>
          </a:xfrm>
          <a:prstGeom prst="roundRect">
            <a:avLst>
              <a:gd fmla="val 16667" name="adj"/>
            </a:avLst>
          </a:prstGeom>
          <a:solidFill>
            <a:srgbClr val="DCEDF5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json.load() = 'cargar' datos del archivo a Python  |  Convierte texto JSON a diccionarios/listas de Python AUTOMATICAMENTE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Integracion al Proyecto: Sistema de Tareas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OBJETIVO: Que las tareas PERSISTAN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731525" y="1737349"/>
            <a:ext cx="5029200" cy="3566100"/>
          </a:xfrm>
          <a:prstGeom prst="roundRect">
            <a:avLst>
              <a:gd fmla="val 16667" name="adj"/>
            </a:avLst>
          </a:prstGeom>
          <a:solidFill>
            <a:srgbClr val="F0F8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PLAN: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1. Crear guardar_tareas()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Guarda lista a archivo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464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2. Crear cargar_tareas()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Lee archivo JSON a lista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464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3. Modificar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Cargar al 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Guardar al modificar y al cerrar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6400800" y="1737349"/>
            <a:ext cx="5029200" cy="35661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ESTRUCTURA DE ARCHIVOS:</a:t>
            </a:r>
            <a:endParaRPr b="1" i="0" sz="18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proyecto_tareas/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tareas.py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 Funciones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datos_prueba.py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 Datos de 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  main.py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    Menu principal (MODIFICAR)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  tareas.json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    NUEVO: Datos persistentes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731520" y="5303520"/>
            <a:ext cx="10789920" cy="548640"/>
          </a:xfrm>
          <a:prstGeom prst="roundRect">
            <a:avLst>
              <a:gd fmla="val 16667" name="adj"/>
            </a:avLst>
          </a:prstGeom>
          <a:solidFill>
            <a:srgbClr val="DCEDF5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Es como AutoSave en Word: cada vez que haces algo, se guarda automaticamente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Funcion guardar_tareas()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731520" y="1188720"/>
            <a:ext cx="6400800" cy="3200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En tareas.py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27AE6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def guardar_tareas(tareas, archivo="tareas.json"):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Guarda la lista de tareas en un archivo JSON.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    tareas: Lista de diccionarios de tareas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    archivo: Nombre del archivo (default: tareas.json)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with open(archivo, "w") as 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    json.dump(tareas, f, indent=2)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7589520" y="1188720"/>
            <a:ext cx="3840480" cy="3200400"/>
          </a:xfrm>
          <a:prstGeom prst="roundRect">
            <a:avLst>
              <a:gd fmla="val 16667" name="adj"/>
            </a:avLst>
          </a:prstGeom>
          <a:solidFill>
            <a:srgbClr val="F0F8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COMO FUNCIONA: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1. Abre archivo en modo 'w'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2. Convierte lista a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3. Guarda con formato legible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(indent=2)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464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4. Se cierra automaticamente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 (gracias a 'with')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731520" y="4754880"/>
            <a:ext cx="10789920" cy="914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# Llamadas posibles: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guardar_tareas(mis_tareas)                  # Usa tareas.json (default)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guardar_tareas(mis_tareas, "backup.json")   # Usa backup.json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Funcion cargar_tareas()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731525" y="1188726"/>
            <a:ext cx="6400800" cy="41511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import 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def cargar_tareas(archivo="tareas.json"):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Carga tareas desde un archivo JSON.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    archivo: Nombre del archivo (default: tareas.json)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Returns: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    list: Lista de tareas, o lista vacia si no existe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    # Si el archivo existe, cargarlo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if os.path.exists(archivo):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    with open(archivo, "r") as 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        return json.load(f)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C3C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    # Si no existe, retornar lista vacia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    return []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7589525" y="1188726"/>
            <a:ext cx="3840600" cy="4151100"/>
          </a:xfrm>
          <a:prstGeom prst="roundRect">
            <a:avLst>
              <a:gd fmla="val 16667" name="adj"/>
            </a:avLst>
          </a:prstGeom>
          <a:solidFill>
            <a:srgbClr val="F0F8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COMO FUNCIONA: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os.path.exists(archivo)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Pregunta: Existe este archivo?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Retorna True o 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464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SI existe: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  Abre y carga el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  Retorna la lista de tareas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NO existe: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  Retorna lista vacia []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  (primera vez que se ejecuta)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731520" y="5588276"/>
            <a:ext cx="10789800" cy="640200"/>
          </a:xfrm>
          <a:prstGeom prst="roundRect">
            <a:avLst>
              <a:gd fmla="val 16667" name="adj"/>
            </a:avLst>
          </a:prstGeom>
          <a:solidFill>
            <a:srgbClr val="DCEDF5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A73"/>
                </a:solidFill>
                <a:latin typeface="Calibri"/>
                <a:ea typeface="Calibri"/>
                <a:cs typeface="Calibri"/>
                <a:sym typeface="Calibri"/>
              </a:rPr>
              <a:t>os.path.exists() evita errores la primera vez que ejecutas el programa, cuando tareas.json aun no existe. Sin este check, Python daria un FileNotFoundError.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1066645" y="3063232"/>
            <a:ext cx="1005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Modificar main.py - Integracion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Demostracion Final - Probando 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731520" y="1188720"/>
            <a:ext cx="5029200" cy="118872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PRUEBA 1: Primera ejecucion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Carga datos de 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Crea tareas.json automaticamente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6400800" y="1188720"/>
            <a:ext cx="5029200" cy="118872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PRUEBA 2: Agregar tarea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Se guarda automaticamente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Verificar en tareas.json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731520" y="2651760"/>
            <a:ext cx="5029200" cy="118872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PRUEBA 3: Cerrar y reabrir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Las tareas SIGUEN AHI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Persistencia lograda!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6400800" y="2651760"/>
            <a:ext cx="5029200" cy="118872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PRUEBA 4: Editar JSON manualmente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Cambios se reflejan en el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✓ Bi-direccional!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731520" y="4114800"/>
            <a:ext cx="10789920" cy="2011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270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$ python main.py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Primera vez - cargando datos de ejemplo...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Bienvenido! Tienes 7 tareas guardadas.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$ # Cerrar y volver a abrir...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$ python main.py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64"/>
                </a:solidFill>
                <a:latin typeface="Consolas"/>
                <a:ea typeface="Consolas"/>
                <a:cs typeface="Consolas"/>
                <a:sym typeface="Consolas"/>
              </a:rPr>
              <a:t>Bienvenido! Tienes 7 tareas guardadas.  &lt;-- FUNCIONAN!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Retrospectiva: TODO se Conecta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731520" y="1188720"/>
            <a:ext cx="137160" cy="640080"/>
          </a:xfrm>
          <a:prstGeom prst="roundRect">
            <a:avLst>
              <a:gd fmla="val 16667" name="adj"/>
            </a:avLst>
          </a:prstGeom>
          <a:solidFill>
            <a:srgbClr val="3498D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1005840" y="11887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Clase 1-3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Variables, tipos, operadores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3017520" y="11887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--&gt;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3749039" y="12344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Para guardar DATOS de tareas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731520" y="2011680"/>
            <a:ext cx="137160" cy="640080"/>
          </a:xfrm>
          <a:prstGeom prst="roundRect">
            <a:avLst>
              <a:gd fmla="val 16667" name="adj"/>
            </a:avLst>
          </a:prstGeom>
          <a:solidFill>
            <a:srgbClr val="2ECC7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1005840" y="20116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Clase 4-5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Condicionales, loops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3017520" y="201168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--&gt;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3749039" y="2057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Para ITERAR y FILTRAR tareas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731520" y="2834640"/>
            <a:ext cx="137160" cy="640080"/>
          </a:xfrm>
          <a:prstGeom prst="roundRect">
            <a:avLst>
              <a:gd fmla="val 16667" name="adj"/>
            </a:avLst>
          </a:prstGeom>
          <a:solidFill>
            <a:srgbClr val="9B59B6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1005840" y="283464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Clase 6-7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Listas, diccionarios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3017520" y="283464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--&gt;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3749039" y="28803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Para REPRESENTAR tareas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731520" y="3657600"/>
            <a:ext cx="137160" cy="640080"/>
          </a:xfrm>
          <a:prstGeom prst="roundRect">
            <a:avLst>
              <a:gd fmla="val 16667" name="adj"/>
            </a:avLst>
          </a:prstGeom>
          <a:solidFill>
            <a:srgbClr val="E67E2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1005840" y="36576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Clase 8-11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Funciones,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3017520" y="365760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--&gt;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3749039" y="37033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Para ORGANIZAR 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731520" y="4480560"/>
            <a:ext cx="137160" cy="640080"/>
          </a:xfrm>
          <a:prstGeom prst="roundRect">
            <a:avLst>
              <a:gd fmla="val 16667" name="adj"/>
            </a:avLst>
          </a:prstGeom>
          <a:solidFill>
            <a:srgbClr val="E74C3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1005840" y="44805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Clase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Comprehensions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3017520" y="448056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--&gt;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3749039" y="45262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Para PROCESAR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731520" y="5303520"/>
            <a:ext cx="137160" cy="64008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1005840" y="53035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Clase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3017520" y="53035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--&gt;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3749039" y="53492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Para que TODO PERSISTA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7315200" y="1188720"/>
            <a:ext cx="4114800" cy="5029200"/>
          </a:xfrm>
          <a:prstGeom prst="roundRect">
            <a:avLst>
              <a:gd fmla="val 16667" name="adj"/>
            </a:avLst>
          </a:prstGeom>
          <a:solidFill>
            <a:srgbClr val="F0F8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274300" spcFirstLastPara="1" rIns="91425" wrap="square" tIns="27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No estaban aprendiendo sintaxis.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Estaban construyendo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un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Pieza por pieza.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Y hoy pusieron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la pieza final: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PERSISTENCIA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Clase 13 | Persistencia de Datos - Archivos en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