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86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5797" y="2033588"/>
            <a:ext cx="8252406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500"/>
              </a:spcAft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 3: Variables y Tipos de Datos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45797" y="2786063"/>
            <a:ext cx="825240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8F9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Fundamentos de Python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17450"/>
            <a:ext cx="854964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2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 de Hoy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81000" y="917525"/>
            <a:ext cx="8549640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finalizar esta clase podrás: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98450" y="1308497"/>
            <a:ext cx="8064550" cy="1360587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79450" y="1308497"/>
            <a:ext cx="7837221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Crear y usar variables en Python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79450" y="1674019"/>
            <a:ext cx="7837221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Identificar los tipos de datos básicos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9450" y="2039541"/>
            <a:ext cx="7837221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Usar las funciones print(), input() y type()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79450" y="2405063"/>
            <a:ext cx="7837221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Crear una calculadora simple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17450"/>
            <a:ext cx="854964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2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son las Variables?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81000" y="917525"/>
            <a:ext cx="8549640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</a:t>
            </a:r>
            <a:pPr algn="l" indent="0" marL="0">
              <a:lnSpc>
                <a:spcPts val="208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</a:t>
            </a:r>
            <a:pPr algn="l" indent="0" marL="0">
              <a:lnSpc>
                <a:spcPts val="208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es como una </a:t>
            </a:r>
            <a:pPr algn="l" indent="0" marL="0">
              <a:lnSpc>
                <a:spcPts val="208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FF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caja con etiqueta</a:t>
            </a:r>
            <a:pPr algn="l" indent="0" marL="0">
              <a:lnSpc>
                <a:spcPts val="208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donde guardamos información.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009900" y="1435447"/>
            <a:ext cx="1308050" cy="800100"/>
          </a:xfrm>
          <a:prstGeom prst="roundRect">
            <a:avLst>
              <a:gd name="adj" fmla="val 9524"/>
            </a:avLst>
          </a:prstGeom>
          <a:solidFill>
            <a:srgbClr val="F5F5F5"/>
          </a:solidFill>
          <a:ln w="19050">
            <a:solidFill>
              <a:srgbClr val="2E86A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238796" y="1619548"/>
            <a:ext cx="850258" cy="33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"Juan"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996819" y="2337048"/>
            <a:ext cx="1334211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8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nombre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825901" y="1435447"/>
            <a:ext cx="1308050" cy="800100"/>
          </a:xfrm>
          <a:prstGeom prst="roundRect">
            <a:avLst>
              <a:gd name="adj" fmla="val 9524"/>
            </a:avLst>
          </a:prstGeom>
          <a:solidFill>
            <a:srgbClr val="F5F5F5"/>
          </a:solidFill>
          <a:ln w="19050">
            <a:solidFill>
              <a:srgbClr val="28A74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335789" y="1619548"/>
            <a:ext cx="288125" cy="33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28A7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812820" y="2337048"/>
            <a:ext cx="1334211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8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edad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17450"/>
            <a:ext cx="854964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2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Crear Variables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81000" y="917525"/>
            <a:ext cx="8549640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Usamos el signo </a:t>
            </a:r>
            <a:pPr algn="l" indent="0" marL="0">
              <a:lnSpc>
                <a:spcPts val="208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pPr algn="l" indent="0" marL="0">
              <a:lnSpc>
                <a:spcPts val="208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para asignar un valor a una variable: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283047"/>
            <a:ext cx="8382000" cy="1368921"/>
          </a:xfrm>
          <a:prstGeom prst="roundRect">
            <a:avLst>
              <a:gd name="adj" fmla="val 556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0050" y="1283047"/>
            <a:ext cx="0" cy="1368921"/>
          </a:xfrm>
          <a:prstGeom prst="line">
            <a:avLst/>
          </a:prstGeom>
          <a:noFill/>
          <a:ln w="38100">
            <a:solidFill>
              <a:srgbClr val="28A7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1500" y="1448098"/>
            <a:ext cx="8199882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 = "Juan"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71500" y="1717328"/>
            <a:ext cx="8199882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edad = 25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71500" y="1986558"/>
            <a:ext cx="8199882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altura = 1.75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71500" y="2255788"/>
            <a:ext cx="8199882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es_estudiante = True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81000" y="2753469"/>
            <a:ext cx="8382000" cy="619423"/>
          </a:xfrm>
          <a:prstGeom prst="roundRect">
            <a:avLst>
              <a:gd name="adj" fmla="val 12302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00050" y="2753469"/>
            <a:ext cx="0" cy="619423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1500" y="2880420"/>
            <a:ext cx="8199882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Recuerda:</a:t>
            </a:r>
            <a:pPr algn="l" indent="0" marL="0">
              <a:lnSpc>
                <a:spcPts val="208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El signo = significa "asignar", no "igual a"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17450"/>
            <a:ext cx="854964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2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Reglas para Nombres de Variables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81000" y="917525"/>
            <a:ext cx="40805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28A7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81000" y="1285726"/>
            <a:ext cx="4000500" cy="1368921"/>
          </a:xfrm>
          <a:prstGeom prst="roundRect">
            <a:avLst>
              <a:gd name="adj" fmla="val 556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0050" y="1285726"/>
            <a:ext cx="0" cy="1368921"/>
          </a:xfrm>
          <a:prstGeom prst="line">
            <a:avLst/>
          </a:prstGeom>
          <a:noFill/>
          <a:ln w="38100">
            <a:solidFill>
              <a:srgbClr val="28A7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1500" y="1450777"/>
            <a:ext cx="3730752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71500" y="1720007"/>
            <a:ext cx="3730752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edad_usuario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71500" y="1989237"/>
            <a:ext cx="3730752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miVariable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71500" y="2258467"/>
            <a:ext cx="3730752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precio2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62500" y="917525"/>
            <a:ext cx="40805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DC3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Incorrecto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762500" y="1285726"/>
            <a:ext cx="4000500" cy="1251793"/>
          </a:xfrm>
          <a:prstGeom prst="roundRect">
            <a:avLst>
              <a:gd name="adj" fmla="val 6087"/>
            </a:avLst>
          </a:prstGeom>
          <a:solidFill>
            <a:srgbClr val="FFEB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781550" y="1285726"/>
            <a:ext cx="0" cy="1251793"/>
          </a:xfrm>
          <a:prstGeom prst="line">
            <a:avLst/>
          </a:prstGeom>
          <a:noFill/>
          <a:ln w="38100">
            <a:solidFill>
              <a:srgbClr val="DC35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53000" y="1412677"/>
            <a:ext cx="3730752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2nombre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53000" y="1745307"/>
            <a:ext cx="3730752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 variable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53000" y="2077938"/>
            <a:ext cx="3730752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mi-variable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49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12985" y="1830437"/>
            <a:ext cx="6117881" cy="1482626"/>
          </a:xfrm>
          <a:prstGeom prst="rect">
            <a:avLst/>
          </a:prstGeom>
          <a:noFill/>
          <a:ln/>
        </p:spPr>
        <p:txBody>
          <a:bodyPr wrap="square" lIns="508000" tIns="508000" rIns="508000" bIns="50800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Tipos de Datos en Python</a:t>
            </a:r>
            <a:endParaRPr lang="en-US" sz="3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17450"/>
            <a:ext cx="854964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2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 - Números Enteros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81000" y="917525"/>
            <a:ext cx="8549640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</a:t>
            </a:r>
            <a:pPr algn="l" indent="0" marL="0">
              <a:lnSpc>
                <a:spcPts val="208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integers</a:t>
            </a:r>
            <a:pPr algn="l" indent="0" marL="0">
              <a:lnSpc>
                <a:spcPts val="208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son números sin decimales: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283047"/>
            <a:ext cx="8382000" cy="1099691"/>
          </a:xfrm>
          <a:prstGeom prst="roundRect">
            <a:avLst>
              <a:gd name="adj" fmla="val 6929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0050" y="1283047"/>
            <a:ext cx="0" cy="1099691"/>
          </a:xfrm>
          <a:prstGeom prst="line">
            <a:avLst/>
          </a:prstGeom>
          <a:noFill/>
          <a:ln w="38100">
            <a:solidFill>
              <a:srgbClr val="28A7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1500" y="1448098"/>
            <a:ext cx="8199882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edad = 25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71500" y="1717328"/>
            <a:ext cx="8199882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cantidad = 100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71500" y="1986558"/>
            <a:ext cx="8199882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temperatura = -5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81000" y="2509689"/>
            <a:ext cx="8549640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Bef>
                <a:spcPts val="1000"/>
              </a:spcBef>
              <a:spcAft>
                <a:spcPts val="8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Puedes hacer operaciones: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81000" y="2875211"/>
            <a:ext cx="8382000" cy="561231"/>
          </a:xfrm>
          <a:prstGeom prst="roundRect">
            <a:avLst>
              <a:gd name="adj" fmla="val 13577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00050" y="2875211"/>
            <a:ext cx="0" cy="561231"/>
          </a:xfrm>
          <a:prstGeom prst="line">
            <a:avLst/>
          </a:prstGeom>
          <a:noFill/>
          <a:ln w="38100">
            <a:solidFill>
              <a:srgbClr val="28A7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1500" y="3040261"/>
            <a:ext cx="8199882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suma = 10 + 5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8A7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15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17450"/>
            <a:ext cx="854964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2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float - Números Decimales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81000" y="917525"/>
            <a:ext cx="8549640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</a:t>
            </a:r>
            <a:pPr algn="l" indent="0" marL="0">
              <a:lnSpc>
                <a:spcPts val="208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floats</a:t>
            </a:r>
            <a:pPr algn="l" indent="0" marL="0">
              <a:lnSpc>
                <a:spcPts val="208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son números con punto decimal: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283047"/>
            <a:ext cx="8382000" cy="1099691"/>
          </a:xfrm>
          <a:prstGeom prst="roundRect">
            <a:avLst>
              <a:gd name="adj" fmla="val 6929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0050" y="1283047"/>
            <a:ext cx="0" cy="1099691"/>
          </a:xfrm>
          <a:prstGeom prst="line">
            <a:avLst/>
          </a:prstGeom>
          <a:noFill/>
          <a:ln w="38100">
            <a:solidFill>
              <a:srgbClr val="28A7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1500" y="1448098"/>
            <a:ext cx="8199882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precio = 19.99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71500" y="1717328"/>
            <a:ext cx="8199882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altura = 1.75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71500" y="1986558"/>
            <a:ext cx="8199882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 = 3.14159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81000" y="2484239"/>
            <a:ext cx="8382000" cy="619423"/>
          </a:xfrm>
          <a:prstGeom prst="roundRect">
            <a:avLst>
              <a:gd name="adj" fmla="val 12302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00050" y="2484239"/>
            <a:ext cx="0" cy="619423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1500" y="2611189"/>
            <a:ext cx="8199882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Importante:</a:t>
            </a:r>
            <a:pPr algn="l" indent="0" marL="0">
              <a:lnSpc>
                <a:spcPts val="208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Usamos punto (.) no coma (,) para decimales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17450"/>
            <a:ext cx="854964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2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Operaciones con Números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81000" y="917525"/>
            <a:ext cx="8382000" cy="2176611"/>
          </a:xfrm>
          <a:prstGeom prst="roundRect">
            <a:avLst>
              <a:gd name="adj" fmla="val 3501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00050" y="917525"/>
            <a:ext cx="0" cy="2176611"/>
          </a:xfrm>
          <a:prstGeom prst="line">
            <a:avLst/>
          </a:prstGeom>
          <a:noFill/>
          <a:ln w="38100">
            <a:solidFill>
              <a:srgbClr val="28A7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1500" y="1082576"/>
            <a:ext cx="8199882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10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71500" y="1351806"/>
            <a:ext cx="8199882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3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71500" y="1621036"/>
            <a:ext cx="8199882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suma = a + b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8A7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13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71500" y="1890266"/>
            <a:ext cx="8199882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resta = a - b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8A7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7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71500" y="2159496"/>
            <a:ext cx="8199882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 = a * b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8A7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30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71500" y="2428726"/>
            <a:ext cx="8199882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 = a / b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8A7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3.33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71500" y="2697956"/>
            <a:ext cx="8199882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potencia = a ** 2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8A7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100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17450"/>
            <a:ext cx="854964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2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string - Cadenas de Texto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81000" y="917525"/>
            <a:ext cx="8549640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</a:t>
            </a:r>
            <a:pPr algn="l" indent="0" marL="0">
              <a:lnSpc>
                <a:spcPts val="208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strings</a:t>
            </a:r>
            <a:pPr algn="l" indent="0" marL="0">
              <a:lnSpc>
                <a:spcPts val="208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son texto entre comillas: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283047"/>
            <a:ext cx="8382000" cy="1099691"/>
          </a:xfrm>
          <a:prstGeom prst="roundRect">
            <a:avLst>
              <a:gd name="adj" fmla="val 6929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0050" y="1283047"/>
            <a:ext cx="0" cy="1099691"/>
          </a:xfrm>
          <a:prstGeom prst="line">
            <a:avLst/>
          </a:prstGeom>
          <a:noFill/>
          <a:ln w="38100">
            <a:solidFill>
              <a:srgbClr val="28A7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1500" y="1448098"/>
            <a:ext cx="8199882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 = "Juan"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71500" y="1717328"/>
            <a:ext cx="8199882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mensaje = 'Hola Mundo'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71500" y="1986558"/>
            <a:ext cx="8199882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direccion = "Calle 123"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81000" y="2509689"/>
            <a:ext cx="8549640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Bef>
                <a:spcPts val="1000"/>
              </a:spcBef>
              <a:spcAft>
                <a:spcPts val="8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Puedes usar comillas dobles </a:t>
            </a:r>
            <a:pPr algn="l" indent="0" marL="0">
              <a:lnSpc>
                <a:spcPts val="2080"/>
              </a:lnSpc>
              <a:spcBef>
                <a:spcPts val="1000"/>
              </a:spcBef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 "</a:t>
            </a:r>
            <a:pPr algn="l" indent="0" marL="0">
              <a:lnSpc>
                <a:spcPts val="2080"/>
              </a:lnSpc>
              <a:spcBef>
                <a:spcPts val="1000"/>
              </a:spcBef>
              <a:spcAft>
                <a:spcPts val="8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 simples </a:t>
            </a:r>
            <a:pPr algn="l" indent="0" marL="0">
              <a:lnSpc>
                <a:spcPts val="2080"/>
              </a:lnSpc>
              <a:spcBef>
                <a:spcPts val="1000"/>
              </a:spcBef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 '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17450"/>
            <a:ext cx="854964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2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Operaciones con Strings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81000" y="917525"/>
            <a:ext cx="8549640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Concatenación</a:t>
            </a:r>
            <a:pPr algn="l" indent="0" marL="0">
              <a:lnSpc>
                <a:spcPts val="208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unir textos con +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283047"/>
            <a:ext cx="8382000" cy="1368921"/>
          </a:xfrm>
          <a:prstGeom prst="roundRect">
            <a:avLst>
              <a:gd name="adj" fmla="val 556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0050" y="1283047"/>
            <a:ext cx="0" cy="1368921"/>
          </a:xfrm>
          <a:prstGeom prst="line">
            <a:avLst/>
          </a:prstGeom>
          <a:noFill/>
          <a:ln w="38100">
            <a:solidFill>
              <a:srgbClr val="28A7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1500" y="1448098"/>
            <a:ext cx="8199882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 = "Juan"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71500" y="1717328"/>
            <a:ext cx="8199882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apellido = "Pérez"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71500" y="1986558"/>
            <a:ext cx="8199882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completo = nombre + " " + apellido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71500" y="2255788"/>
            <a:ext cx="8199882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8A7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"Juan Pérez"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81000" y="2753469"/>
            <a:ext cx="8549640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Repetición</a:t>
            </a:r>
            <a:pPr algn="l" indent="0" marL="0">
              <a:lnSpc>
                <a:spcPts val="208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 *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81000" y="3118991"/>
            <a:ext cx="8382000" cy="561231"/>
          </a:xfrm>
          <a:prstGeom prst="roundRect">
            <a:avLst>
              <a:gd name="adj" fmla="val 13577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00050" y="3118991"/>
            <a:ext cx="0" cy="561231"/>
          </a:xfrm>
          <a:prstGeom prst="line">
            <a:avLst/>
          </a:prstGeom>
          <a:noFill/>
          <a:ln w="38100">
            <a:solidFill>
              <a:srgbClr val="28A7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1500" y="3284041"/>
            <a:ext cx="8199882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linea = "-" * 10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8A7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"----------"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17450"/>
            <a:ext cx="854964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2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bool - Valores Booleanos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81000" y="917525"/>
            <a:ext cx="8549640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</a:t>
            </a:r>
            <a:pPr algn="l" indent="0" marL="0">
              <a:lnSpc>
                <a:spcPts val="208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booleanos</a:t>
            </a:r>
            <a:pPr algn="l" indent="0" marL="0">
              <a:lnSpc>
                <a:spcPts val="208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solo tienen dos valores: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13286" y="1372046"/>
            <a:ext cx="1606004" cy="870942"/>
          </a:xfrm>
          <a:prstGeom prst="roundRect">
            <a:avLst>
              <a:gd name="adj" fmla="val 11666"/>
            </a:avLst>
          </a:prstGeom>
          <a:solidFill>
            <a:srgbClr val="28A74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215335" y="1625947"/>
            <a:ext cx="601906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6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700290" y="1372046"/>
            <a:ext cx="1730425" cy="870942"/>
          </a:xfrm>
          <a:prstGeom prst="roundRect">
            <a:avLst>
              <a:gd name="adj" fmla="val 11666"/>
            </a:avLst>
          </a:prstGeom>
          <a:solidFill>
            <a:srgbClr val="DC354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201095" y="1625947"/>
            <a:ext cx="728814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6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81000" y="2433489"/>
            <a:ext cx="8382000" cy="830461"/>
          </a:xfrm>
          <a:prstGeom prst="roundRect">
            <a:avLst>
              <a:gd name="adj" fmla="val 917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00050" y="2433489"/>
            <a:ext cx="0" cy="830461"/>
          </a:xfrm>
          <a:prstGeom prst="line">
            <a:avLst/>
          </a:prstGeom>
          <a:noFill/>
          <a:ln w="38100">
            <a:solidFill>
              <a:srgbClr val="28A7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1500" y="2598539"/>
            <a:ext cx="8199882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es_mayor = True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71500" y="2867769"/>
            <a:ext cx="8199882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tiene_permiso = False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17450"/>
            <a:ext cx="854964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2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Resumen de Tipos de Datos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92026" y="1028551"/>
            <a:ext cx="1257246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937147" y="1028551"/>
            <a:ext cx="3481185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Descripción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562600" y="1028551"/>
            <a:ext cx="3151162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66725" y="1446907"/>
            <a:ext cx="1308860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11846" y="1446907"/>
            <a:ext cx="3532799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Número entero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537299" y="1446907"/>
            <a:ext cx="3202775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42, -7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66725" y="1839962"/>
            <a:ext cx="1308860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float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911846" y="1839962"/>
            <a:ext cx="3532799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Número decimal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537299" y="1839962"/>
            <a:ext cx="3202775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3.14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6725" y="2233017"/>
            <a:ext cx="1308860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911846" y="2233017"/>
            <a:ext cx="3532799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537299" y="2233017"/>
            <a:ext cx="3202775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"Hola"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6725" y="2626072"/>
            <a:ext cx="1308860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911846" y="2626072"/>
            <a:ext cx="3532799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Verdadero/Falso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537299" y="2626072"/>
            <a:ext cx="3202775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True, False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49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92013" y="1830437"/>
            <a:ext cx="3959825" cy="1482626"/>
          </a:xfrm>
          <a:prstGeom prst="rect">
            <a:avLst/>
          </a:prstGeom>
          <a:noFill/>
          <a:ln/>
        </p:spPr>
        <p:txBody>
          <a:bodyPr wrap="square" lIns="508000" tIns="508000" rIns="508000" bIns="50800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Función print()</a:t>
            </a:r>
            <a:endParaRPr lang="en-US" sz="3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17450"/>
            <a:ext cx="854964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2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Función print()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81000" y="917525"/>
            <a:ext cx="8549640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Muestra información en la pantalla: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283047"/>
            <a:ext cx="8382000" cy="830461"/>
          </a:xfrm>
          <a:prstGeom prst="roundRect">
            <a:avLst>
              <a:gd name="adj" fmla="val 917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0050" y="1283047"/>
            <a:ext cx="0" cy="830461"/>
          </a:xfrm>
          <a:prstGeom prst="line">
            <a:avLst/>
          </a:prstGeom>
          <a:noFill/>
          <a:ln w="38100">
            <a:solidFill>
              <a:srgbClr val="28A7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1500" y="1448098"/>
            <a:ext cx="8199882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print("Hola Mundo")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71500" y="1717328"/>
            <a:ext cx="8199882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8A7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Salida: Hola Mundo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81000" y="2240459"/>
            <a:ext cx="8549640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Bef>
                <a:spcPts val="1000"/>
              </a:spcBef>
              <a:spcAft>
                <a:spcPts val="8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Puedes imprimir variables: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81000" y="2605980"/>
            <a:ext cx="8382000" cy="1099691"/>
          </a:xfrm>
          <a:prstGeom prst="roundRect">
            <a:avLst>
              <a:gd name="adj" fmla="val 6929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00050" y="2605980"/>
            <a:ext cx="0" cy="1099691"/>
          </a:xfrm>
          <a:prstGeom prst="line">
            <a:avLst/>
          </a:prstGeom>
          <a:noFill/>
          <a:ln w="38100">
            <a:solidFill>
              <a:srgbClr val="28A7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1500" y="2771031"/>
            <a:ext cx="8199882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 = "Ana"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71500" y="3040261"/>
            <a:ext cx="8199882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print(nombre)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71500" y="3309491"/>
            <a:ext cx="8199882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8A7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Salida: Ana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17450"/>
            <a:ext cx="854964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2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print() con Múltiples Valores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81000" y="917525"/>
            <a:ext cx="8549640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 comas para separar varios elementos: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283047"/>
            <a:ext cx="8382000" cy="1368921"/>
          </a:xfrm>
          <a:prstGeom prst="roundRect">
            <a:avLst>
              <a:gd name="adj" fmla="val 556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0050" y="1283047"/>
            <a:ext cx="0" cy="1368921"/>
          </a:xfrm>
          <a:prstGeom prst="line">
            <a:avLst/>
          </a:prstGeom>
          <a:noFill/>
          <a:ln w="38100">
            <a:solidFill>
              <a:srgbClr val="28A7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1500" y="1448098"/>
            <a:ext cx="8199882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 = "Carlos"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71500" y="1717328"/>
            <a:ext cx="8199882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edad = 20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71500" y="1986558"/>
            <a:ext cx="8199882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print("Nombre:", nombre)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71500" y="2255788"/>
            <a:ext cx="8199882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print("Edad:", edad)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81000" y="2753469"/>
            <a:ext cx="8549640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Salida: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81000" y="3118991"/>
            <a:ext cx="8382000" cy="792063"/>
          </a:xfrm>
          <a:prstGeom prst="roundRect">
            <a:avLst>
              <a:gd name="adj" fmla="val 9620"/>
            </a:avLst>
          </a:prstGeom>
          <a:solidFill>
            <a:srgbClr val="1E1E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07950" y="3271242"/>
            <a:ext cx="8290661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4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Nombre: Carlos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7950" y="3527673"/>
            <a:ext cx="8290661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4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Edad: 20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49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6166" y="1830437"/>
            <a:ext cx="4051667" cy="1482626"/>
          </a:xfrm>
          <a:prstGeom prst="rect">
            <a:avLst/>
          </a:prstGeom>
          <a:noFill/>
          <a:ln/>
        </p:spPr>
        <p:txBody>
          <a:bodyPr wrap="square" lIns="508000" tIns="508000" rIns="508000" bIns="50800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Función input()</a:t>
            </a:r>
            <a:endParaRPr lang="en-US" sz="3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17450"/>
            <a:ext cx="854964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2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Función input()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81000" y="917525"/>
            <a:ext cx="8549640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Permite que el usuario escriba información: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283047"/>
            <a:ext cx="8382000" cy="830461"/>
          </a:xfrm>
          <a:prstGeom prst="roundRect">
            <a:avLst>
              <a:gd name="adj" fmla="val 917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0050" y="1283047"/>
            <a:ext cx="0" cy="830461"/>
          </a:xfrm>
          <a:prstGeom prst="line">
            <a:avLst/>
          </a:prstGeom>
          <a:noFill/>
          <a:ln w="38100">
            <a:solidFill>
              <a:srgbClr val="28A7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1500" y="1448098"/>
            <a:ext cx="8199882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 = input("¿Cómo te llamas? ")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71500" y="1717328"/>
            <a:ext cx="8199882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print("Hola", nombre)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81000" y="2215009"/>
            <a:ext cx="8382000" cy="792063"/>
          </a:xfrm>
          <a:prstGeom prst="roundRect">
            <a:avLst>
              <a:gd name="adj" fmla="val 9620"/>
            </a:avLst>
          </a:prstGeom>
          <a:solidFill>
            <a:srgbClr val="1E1E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07950" y="2367260"/>
            <a:ext cx="8290661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¿Cómo te llamas? </a:t>
            </a:r>
            <a:pPr algn="l" indent="0" marL="0">
              <a:lnSpc>
                <a:spcPts val="182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4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María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7950" y="2623691"/>
            <a:ext cx="8290661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4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Hola María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81000" y="3108573"/>
            <a:ext cx="8382000" cy="619423"/>
          </a:xfrm>
          <a:prstGeom prst="roundRect">
            <a:avLst>
              <a:gd name="adj" fmla="val 12302"/>
            </a:avLst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00050" y="3108573"/>
            <a:ext cx="0" cy="619423"/>
          </a:xfrm>
          <a:prstGeom prst="line">
            <a:avLst/>
          </a:prstGeom>
          <a:noFill/>
          <a:ln w="38100">
            <a:solidFill>
              <a:srgbClr val="FF98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1500" y="3235523"/>
            <a:ext cx="8199882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Importante:</a:t>
            </a:r>
            <a:pPr algn="l" indent="0" marL="0">
              <a:lnSpc>
                <a:spcPts val="208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input() siempre devuelve un </a:t>
            </a:r>
            <a:pPr algn="l" indent="0" marL="0">
              <a:lnSpc>
                <a:spcPts val="208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string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17450"/>
            <a:ext cx="854964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2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Función type()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81000" y="917525"/>
            <a:ext cx="8549640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 dice qué tipo de dato es una variable: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283047"/>
            <a:ext cx="8382000" cy="1907381"/>
          </a:xfrm>
          <a:prstGeom prst="roundRect">
            <a:avLst>
              <a:gd name="adj" fmla="val 399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0050" y="1283047"/>
            <a:ext cx="0" cy="1907381"/>
          </a:xfrm>
          <a:prstGeom prst="line">
            <a:avLst/>
          </a:prstGeom>
          <a:noFill/>
          <a:ln w="38100">
            <a:solidFill>
              <a:srgbClr val="28A7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1500" y="1448098"/>
            <a:ext cx="8199882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edad = 25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71500" y="1717328"/>
            <a:ext cx="8199882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 = "Ana"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71500" y="1986558"/>
            <a:ext cx="8199882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precio = 19.99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71500" y="2255788"/>
            <a:ext cx="8199882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print(type(edad))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8A7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&lt;class 'int'&gt;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71500" y="2525018"/>
            <a:ext cx="8199882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print(type(nombre))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8A7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&lt;class 'str'&gt;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71500" y="2794248"/>
            <a:ext cx="8199882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print(type(precio))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8A7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&lt;class 'float'&gt;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49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01184" y="1830437"/>
            <a:ext cx="5941484" cy="1482626"/>
          </a:xfrm>
          <a:prstGeom prst="rect">
            <a:avLst/>
          </a:prstGeom>
          <a:noFill/>
          <a:ln/>
        </p:spPr>
        <p:txBody>
          <a:bodyPr wrap="square" lIns="508000" tIns="508000" rIns="508000" bIns="50800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DESCANSO - 10 minutos</a:t>
            </a:r>
            <a:endParaRPr lang="en-US" sz="3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17450"/>
            <a:ext cx="854964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2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Práctica: Calculadora Simple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81000" y="917525"/>
            <a:ext cx="8549640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Vamos a crear una calculadora que: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98450" y="1308497"/>
            <a:ext cx="8064550" cy="995065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79450" y="1308497"/>
            <a:ext cx="7837221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Pida dos números al usuario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79450" y="1674019"/>
            <a:ext cx="7837221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Realice las 4 operaciones básicas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9450" y="2039541"/>
            <a:ext cx="7837221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Muestre los resultados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81000" y="2494062"/>
            <a:ext cx="8382000" cy="619423"/>
          </a:xfrm>
          <a:prstGeom prst="roundRect">
            <a:avLst>
              <a:gd name="adj" fmla="val 12302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00050" y="2494062"/>
            <a:ext cx="0" cy="619423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1500" y="2621012"/>
            <a:ext cx="8199882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Recuerda:</a:t>
            </a:r>
            <a:pPr algn="l" indent="0" marL="0">
              <a:lnSpc>
                <a:spcPts val="208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input() devuelve strings, necesitamos convertirlos a números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17450"/>
            <a:ext cx="854964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2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Conversión de Tipos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81000" y="917525"/>
            <a:ext cx="8549640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convertir strings a números usamos: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283047"/>
            <a:ext cx="8382000" cy="1099691"/>
          </a:xfrm>
          <a:prstGeom prst="roundRect">
            <a:avLst>
              <a:gd name="adj" fmla="val 6929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0050" y="1283047"/>
            <a:ext cx="0" cy="1099691"/>
          </a:xfrm>
          <a:prstGeom prst="line">
            <a:avLst/>
          </a:prstGeom>
          <a:noFill/>
          <a:ln w="38100">
            <a:solidFill>
              <a:srgbClr val="28A7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1500" y="1448098"/>
            <a:ext cx="8199882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int()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 Convierte a número entero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71500" y="1717328"/>
            <a:ext cx="8199882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float()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 Convierte a número decimal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71500" y="1986558"/>
            <a:ext cx="8199882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str()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 Convierte a texto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81000" y="2509689"/>
            <a:ext cx="8549640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Bef>
                <a:spcPts val="1000"/>
              </a:spcBef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Ejemplo: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81000" y="2875211"/>
            <a:ext cx="8382000" cy="1099691"/>
          </a:xfrm>
          <a:prstGeom prst="roundRect">
            <a:avLst>
              <a:gd name="adj" fmla="val 6929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00050" y="2875211"/>
            <a:ext cx="0" cy="1099691"/>
          </a:xfrm>
          <a:prstGeom prst="line">
            <a:avLst/>
          </a:prstGeom>
          <a:noFill/>
          <a:ln w="38100">
            <a:solidFill>
              <a:srgbClr val="28A7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1500" y="3040261"/>
            <a:ext cx="8199882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texto = "42"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71500" y="3309491"/>
            <a:ext cx="8199882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numero = int(texto)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71500" y="3578721"/>
            <a:ext cx="8199882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print(numero + 8)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8A7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50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17450"/>
            <a:ext cx="854964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2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Calculadora - Paso 1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81000" y="917525"/>
            <a:ext cx="8549640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Pedimos los números al usuario: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283047"/>
            <a:ext cx="8382000" cy="1907381"/>
          </a:xfrm>
          <a:prstGeom prst="roundRect">
            <a:avLst>
              <a:gd name="adj" fmla="val 399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0050" y="1283047"/>
            <a:ext cx="0" cy="1907381"/>
          </a:xfrm>
          <a:prstGeom prst="line">
            <a:avLst/>
          </a:prstGeom>
          <a:noFill/>
          <a:ln w="38100">
            <a:solidFill>
              <a:srgbClr val="28A7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1500" y="1448098"/>
            <a:ext cx="8199882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8A7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Pedir primer número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71500" y="1717328"/>
            <a:ext cx="8199882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num1 = input("Primer número: ")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71500" y="1986558"/>
            <a:ext cx="8199882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num1 = float(num1)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71500" y="2255788"/>
            <a:ext cx="8199882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8A7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Pedir segundo número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71500" y="2525018"/>
            <a:ext cx="8199882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num2 = input("Segundo número: ")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71500" y="2794248"/>
            <a:ext cx="8199882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num2 = float(num2)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17450"/>
            <a:ext cx="854964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2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Calculadora - Paso 2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81000" y="917525"/>
            <a:ext cx="8549640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Operaciones y resultados: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283047"/>
            <a:ext cx="8382000" cy="1907381"/>
          </a:xfrm>
          <a:prstGeom prst="roundRect">
            <a:avLst>
              <a:gd name="adj" fmla="val 399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0050" y="1283047"/>
            <a:ext cx="0" cy="1907381"/>
          </a:xfrm>
          <a:prstGeom prst="line">
            <a:avLst/>
          </a:prstGeom>
          <a:noFill/>
          <a:ln w="38100">
            <a:solidFill>
              <a:srgbClr val="28A7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1500" y="1448098"/>
            <a:ext cx="8199882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suma = num1 + num2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71500" y="1717328"/>
            <a:ext cx="8199882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resta = num1 - num2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71500" y="1986558"/>
            <a:ext cx="8199882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 = num1 * num2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71500" y="2255788"/>
            <a:ext cx="8199882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 = num1 / num2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71500" y="2525018"/>
            <a:ext cx="8199882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print("Suma:", suma)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71500" y="2794248"/>
            <a:ext cx="8199882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print("Resta:", resta)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17450"/>
            <a:ext cx="854964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2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Resumen y Tarea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81000" y="917525"/>
            <a:ext cx="414533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aprendimos: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71500" y="1336625"/>
            <a:ext cx="3873550" cy="1229023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52500" y="1336625"/>
            <a:ext cx="3562401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 y asignación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52500" y="1669256"/>
            <a:ext cx="3562401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Tipos: int, float, str, bool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52500" y="2001887"/>
            <a:ext cx="3562401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print(), input(), type()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52500" y="2334518"/>
            <a:ext cx="3562401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Conversión de tipos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698950" y="917525"/>
            <a:ext cx="414533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Tarea: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698950" y="1285726"/>
            <a:ext cx="4064050" cy="817662"/>
          </a:xfrm>
          <a:prstGeom prst="roundRect">
            <a:avLst>
              <a:gd name="adj" fmla="val 9319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718000" y="1285726"/>
            <a:ext cx="0" cy="817662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89450" y="1412677"/>
            <a:ext cx="3795573" cy="462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Crear un programa que pida nombre, edad y ciudad, y muestre un mensaje personalizado.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3: Variables y Tipos de Datos</dc:title>
  <dc:subject>PptxGenJS Presentation</dc:subject>
  <dc:creator>Curso Python</dc:creator>
  <cp:lastModifiedBy>Curso Python</cp:lastModifiedBy>
  <cp:revision>1</cp:revision>
  <dcterms:created xsi:type="dcterms:W3CDTF">2026-01-12T16:44:02Z</dcterms:created>
  <dcterms:modified xsi:type="dcterms:W3CDTF">2026-01-12T16:44:02Z</dcterms:modified>
</cp:coreProperties>
</file>