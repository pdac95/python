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b80sQU7MhvaYU+r6yfmGxFmcv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cd0b5492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174245" y="3482280"/>
            <a:ext cx="479551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Clase 1: Introducción al desarrollo de software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868753" y="4480620"/>
            <a:ext cx="340634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Conceptos básicos • Herramientas • Tu primer programa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" title="12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113" y="954550"/>
            <a:ext cx="7583785" cy="224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¿Qué es programar?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381000" y="1609279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Programar es escribir </a:t>
            </a: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que una computadora puede entender y ejecutar.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381000" y="2180779"/>
            <a:ext cx="4095750" cy="1305818"/>
          </a:xfrm>
          <a:prstGeom prst="roundRect">
            <a:avLst>
              <a:gd fmla="val 729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71500" y="2371279"/>
            <a:ext cx="378904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Analogía simple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71500" y="2653159"/>
            <a:ext cx="3789045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Es como escribir una receta de cocina: pasos claros, en orden, que alguien más puede seguir para obtener el mismo resultado.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667250" y="2180779"/>
            <a:ext cx="4095750" cy="1305818"/>
          </a:xfrm>
          <a:prstGeom prst="roundRect">
            <a:avLst>
              <a:gd fmla="val 729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857750" y="2371279"/>
            <a:ext cx="378904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La diferencia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857750" y="2653159"/>
            <a:ext cx="3789045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Las computadoras son muy literales. Hacen exactamente lo que les dices, ni más ni menos. No interpretan ni asumen nada.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81000" y="3753296"/>
            <a:ext cx="8382000" cy="504825"/>
          </a:xfrm>
          <a:prstGeom prst="roundRect">
            <a:avLst>
              <a:gd fmla="val 15094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2"/>
          <p:cNvCxnSpPr/>
          <p:nvPr/>
        </p:nvCxnSpPr>
        <p:spPr>
          <a:xfrm>
            <a:off x="400050" y="3753296"/>
            <a:ext cx="0" cy="504825"/>
          </a:xfrm>
          <a:prstGeom prst="straightConnector1">
            <a:avLst/>
          </a:prstGeom>
          <a:noFill/>
          <a:ln cap="flat" cmpd="sng" w="38100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2"/>
          <p:cNvSpPr/>
          <p:nvPr/>
        </p:nvSpPr>
        <p:spPr>
          <a:xfrm>
            <a:off x="609600" y="3905696"/>
            <a:ext cx="812215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Un programa</a:t>
            </a:r>
            <a:r>
              <a:rPr b="0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es simplemente un archivo de texto con instrucciones escritas en un lenguaje que la computadora entiende.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381000" y="304800"/>
            <a:ext cx="628592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¿Cómo funciona una aplicación web?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381000" y="990600"/>
            <a:ext cx="854964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Cuando usas Instagram, Netflix o cualquier app, hay 3 partes trabajando juntas: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81000" y="1432471"/>
            <a:ext cx="2692450" cy="1801862"/>
          </a:xfrm>
          <a:prstGeom prst="roundRect">
            <a:avLst>
              <a:gd fmla="val 528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3"/>
          <p:cNvCxnSpPr/>
          <p:nvPr/>
        </p:nvCxnSpPr>
        <p:spPr>
          <a:xfrm>
            <a:off x="381000" y="1451521"/>
            <a:ext cx="2692450" cy="0"/>
          </a:xfrm>
          <a:prstGeom prst="straightConnector1">
            <a:avLst/>
          </a:prstGeom>
          <a:noFill/>
          <a:ln cap="flat" cmpd="sng" w="381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3"/>
          <p:cNvSpPr/>
          <p:nvPr/>
        </p:nvSpPr>
        <p:spPr>
          <a:xfrm>
            <a:off x="571500" y="1661071"/>
            <a:ext cx="2357679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📱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71500" y="2110532"/>
            <a:ext cx="235767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71500" y="2407593"/>
            <a:ext cx="235767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Lo que ves y tocas. Botones, colores, animaciones, formularios.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71500" y="2883843"/>
            <a:ext cx="235767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HTML, CSS, JavaScript, React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225850" y="1432471"/>
            <a:ext cx="2692450" cy="1801862"/>
          </a:xfrm>
          <a:prstGeom prst="roundRect">
            <a:avLst>
              <a:gd fmla="val 528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3225850" y="1451521"/>
            <a:ext cx="2692450" cy="0"/>
          </a:xfrm>
          <a:prstGeom prst="straightConnector1">
            <a:avLst/>
          </a:prstGeom>
          <a:noFill/>
          <a:ln cap="flat" cmpd="sng" w="38100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"/>
          <p:cNvSpPr/>
          <p:nvPr/>
        </p:nvSpPr>
        <p:spPr>
          <a:xfrm>
            <a:off x="3416350" y="1661071"/>
            <a:ext cx="2357679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416350" y="2110532"/>
            <a:ext cx="235767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416350" y="2407593"/>
            <a:ext cx="235767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La lógica invisible. Procesa datos, valida usuarios, ejecuta reglas.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416350" y="2883843"/>
            <a:ext cx="235767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Python, Java, Node.js, 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070699" y="1432471"/>
            <a:ext cx="2692450" cy="1801862"/>
          </a:xfrm>
          <a:prstGeom prst="roundRect">
            <a:avLst>
              <a:gd fmla="val 528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6070699" y="1451521"/>
            <a:ext cx="2692450" cy="0"/>
          </a:xfrm>
          <a:prstGeom prst="straightConnector1">
            <a:avLst/>
          </a:prstGeom>
          <a:noFill/>
          <a:ln cap="flat" cmpd="sng" w="38100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6261199" y="1661071"/>
            <a:ext cx="2357679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🗄️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261199" y="2110532"/>
            <a:ext cx="235767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261199" y="2407593"/>
            <a:ext cx="235767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Donde se guarda todo. Usuarios, fotos, mensajes, historial.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261199" y="2883843"/>
            <a:ext cx="235767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PostgreSQL, MySQL, MongoDB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81000" y="4385370"/>
            <a:ext cx="8382000" cy="453330"/>
          </a:xfrm>
          <a:prstGeom prst="roundRect">
            <a:avLst>
              <a:gd fmla="val 1680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91490" y="4518720"/>
            <a:ext cx="816102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pide datos → </a:t>
            </a:r>
            <a:r>
              <a:rPr b="0" i="0" lang="en-US" sz="10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los procesa → </a:t>
            </a:r>
            <a:r>
              <a:rPr b="0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los guarda o devuelve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381000" y="304800"/>
            <a:ext cx="5343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Ejemplo: Subir una foto a Instagram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81000" y="952500"/>
            <a:ext cx="2717750" cy="925711"/>
          </a:xfrm>
          <a:prstGeom prst="roundRect">
            <a:avLst>
              <a:gd fmla="val 823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33400" y="1104900"/>
            <a:ext cx="24612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1. FRONTEND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33400" y="1354336"/>
            <a:ext cx="246120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Tocas el botón "+", seleccionas la foto, escribes el caption, tocas "Compartir".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213050" y="952500"/>
            <a:ext cx="2717750" cy="925711"/>
          </a:xfrm>
          <a:prstGeom prst="roundRect">
            <a:avLst>
              <a:gd fmla="val 823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365450" y="1104900"/>
            <a:ext cx="24612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2. BACKEND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365450" y="1354336"/>
            <a:ext cx="246120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Recibe la foto, la comprime, verifica que no viole reglas, genera diferentes tamaños.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045101" y="952500"/>
            <a:ext cx="2717750" cy="925711"/>
          </a:xfrm>
          <a:prstGeom prst="roundRect">
            <a:avLst>
              <a:gd fmla="val 823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197501" y="1104900"/>
            <a:ext cx="24612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3. BASE DE DATOS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197501" y="1354336"/>
            <a:ext cx="246120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Guarda la imagen, tu caption, la fecha, ubicación, y la asocia a tu perfil.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81000" y="2030611"/>
            <a:ext cx="8382000" cy="925711"/>
          </a:xfrm>
          <a:prstGeom prst="roundRect">
            <a:avLst>
              <a:gd fmla="val 823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33400" y="2183011"/>
            <a:ext cx="823874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4. DE VUELTA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33400" y="2432447"/>
            <a:ext cx="823874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Backend confirma que todo salió bien → Frontend muestra tu foto publicada → Tus seguidores la ven porque su app pide datos al backend que consulta la base de datos.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81000" y="4265414"/>
            <a:ext cx="2692450" cy="573286"/>
          </a:xfrm>
          <a:prstGeom prst="roundRect">
            <a:avLst>
              <a:gd fmla="val 9969" name="adj"/>
            </a:avLst>
          </a:prstGeom>
          <a:solidFill>
            <a:srgbClr val="61DAF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4"/>
          <p:cNvCxnSpPr/>
          <p:nvPr/>
        </p:nvCxnSpPr>
        <p:spPr>
          <a:xfrm>
            <a:off x="395288" y="4265414"/>
            <a:ext cx="0" cy="573286"/>
          </a:xfrm>
          <a:prstGeom prst="straightConnector1">
            <a:avLst/>
          </a:prstGeom>
          <a:noFill/>
          <a:ln cap="flat" cmpd="sng" w="28575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4"/>
          <p:cNvSpPr/>
          <p:nvPr/>
        </p:nvSpPr>
        <p:spPr>
          <a:xfrm>
            <a:off x="561975" y="4379714"/>
            <a:ext cx="240625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1DAF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1DAFB"/>
                </a:solidFill>
                <a:latin typeface="Arial"/>
                <a:ea typeface="Arial"/>
                <a:cs typeface="Arial"/>
                <a:sym typeface="Arial"/>
              </a:rPr>
              <a:t>Frontend Developer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61975" y="4577804"/>
            <a:ext cx="240625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Diseña la experiencia visual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225850" y="4265414"/>
            <a:ext cx="2692450" cy="573286"/>
          </a:xfrm>
          <a:prstGeom prst="roundRect">
            <a:avLst>
              <a:gd fmla="val 9969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4"/>
          <p:cNvCxnSpPr/>
          <p:nvPr/>
        </p:nvCxnSpPr>
        <p:spPr>
          <a:xfrm>
            <a:off x="3240137" y="4265414"/>
            <a:ext cx="0" cy="573286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4"/>
          <p:cNvSpPr/>
          <p:nvPr/>
        </p:nvSpPr>
        <p:spPr>
          <a:xfrm>
            <a:off x="3406825" y="4379714"/>
            <a:ext cx="240625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Backend Developer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406825" y="4577804"/>
            <a:ext cx="240625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Construye la lógica y APIs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070699" y="4265414"/>
            <a:ext cx="2692450" cy="573286"/>
          </a:xfrm>
          <a:prstGeom prst="roundRect">
            <a:avLst>
              <a:gd fmla="val 9969" name="adj"/>
            </a:avLst>
          </a:prstGeom>
          <a:solidFill>
            <a:srgbClr val="238636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6084987" y="4265414"/>
            <a:ext cx="0" cy="573286"/>
          </a:xfrm>
          <a:prstGeom prst="straightConnector1">
            <a:avLst/>
          </a:prstGeom>
          <a:noFill/>
          <a:ln cap="flat" cmpd="sng" w="28575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4"/>
          <p:cNvSpPr/>
          <p:nvPr/>
        </p:nvSpPr>
        <p:spPr>
          <a:xfrm>
            <a:off x="6251674" y="4379714"/>
            <a:ext cx="240625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Fullstack Developer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251674" y="4577804"/>
            <a:ext cx="240625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Hace ambos lados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¿Dónde encaja Python?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81000" y="1075730"/>
            <a:ext cx="532409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Python es principalmente un lenguaje de </a:t>
            </a:r>
            <a:r>
              <a:rPr b="1" i="0" lang="en-US" sz="12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, pero su versatilidad lo hace útil en muchas áreas: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81000" y="1675805"/>
            <a:ext cx="5219700" cy="683716"/>
          </a:xfrm>
          <a:prstGeom prst="roundRect">
            <a:avLst>
              <a:gd fmla="val 1114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14350" y="1809155"/>
            <a:ext cx="505206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🌐 Backend / APIs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14350" y="2052935"/>
            <a:ext cx="505206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Django, Flask, FastAPI - Instagram, Spotify, Pinterest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81000" y="2473821"/>
            <a:ext cx="5219700" cy="683716"/>
          </a:xfrm>
          <a:prstGeom prst="roundRect">
            <a:avLst>
              <a:gd fmla="val 1114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14350" y="2607171"/>
            <a:ext cx="505206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🤖 Inteligencia Artificial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14350" y="2850952"/>
            <a:ext cx="505206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TensorFlow, PyTorch - ChatGPT, reconocimiento facial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81000" y="3271838"/>
            <a:ext cx="5219700" cy="683716"/>
          </a:xfrm>
          <a:prstGeom prst="roundRect">
            <a:avLst>
              <a:gd fmla="val 1114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14350" y="3405188"/>
            <a:ext cx="505206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📊 Ciencia de Datos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14350" y="3648968"/>
            <a:ext cx="505206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Pandas, NumPy - Análisis, predicciones, reportes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81000" y="4069854"/>
            <a:ext cx="5219700" cy="683716"/>
          </a:xfrm>
          <a:prstGeom prst="roundRect">
            <a:avLst>
              <a:gd fmla="val 1114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14350" y="4203204"/>
            <a:ext cx="505206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🔧 Automatización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14350" y="4446984"/>
            <a:ext cx="505206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Scripts, bots, web scraping, tareas repetitivas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829300" y="1158627"/>
            <a:ext cx="2933700" cy="3512046"/>
          </a:xfrm>
          <a:prstGeom prst="roundRect">
            <a:avLst>
              <a:gd fmla="val 324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019800" y="1349127"/>
            <a:ext cx="260375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¿Por qué Python?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019800" y="1829098"/>
            <a:ext cx="26037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Sintaxis simple y legible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019800" y="2230934"/>
            <a:ext cx="26037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Enorme comunidad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019800" y="2632770"/>
            <a:ext cx="26037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Miles de librerías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019800" y="3034605"/>
            <a:ext cx="26037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Alta demanda laboral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019800" y="3436441"/>
            <a:ext cx="26037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Ideal para aprender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019800" y="3914477"/>
            <a:ext cx="2552700" cy="565696"/>
          </a:xfrm>
          <a:prstGeom prst="roundRect">
            <a:avLst>
              <a:gd fmla="val 10103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134100" y="4028777"/>
            <a:ext cx="23705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print("Hola mundo")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134100" y="4232523"/>
            <a:ext cx="23705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vs Java: 5+ líneas de código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381000" y="304800"/>
            <a:ext cx="49451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CC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7ACC"/>
                </a:solidFill>
                <a:latin typeface="Arial"/>
                <a:ea typeface="Arial"/>
                <a:cs typeface="Arial"/>
                <a:sym typeface="Arial"/>
              </a:rPr>
              <a:t>¿Qué es un editor de código?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81000" y="1170980"/>
            <a:ext cx="4725680" cy="517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Es el programa donde escribirás tu código. Como Word es para documentos, </a:t>
            </a:r>
            <a:r>
              <a:rPr b="1" i="0" lang="en-US" sz="1275" u="none" cap="none" strike="noStrike">
                <a:solidFill>
                  <a:srgbClr val="007ACC"/>
                </a:solidFill>
                <a:latin typeface="Arial"/>
                <a:ea typeface="Arial"/>
                <a:cs typeface="Arial"/>
                <a:sym typeface="Arial"/>
              </a:rPr>
              <a:t>VS Code</a:t>
            </a: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es para programar.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81000" y="1841302"/>
            <a:ext cx="4633020" cy="1200150"/>
          </a:xfrm>
          <a:prstGeom prst="roundRect">
            <a:avLst>
              <a:gd fmla="val 634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33400" y="1993702"/>
            <a:ext cx="44147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ACC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07ACC"/>
                </a:solidFill>
                <a:latin typeface="Arial"/>
                <a:ea typeface="Arial"/>
                <a:cs typeface="Arial"/>
                <a:sym typeface="Arial"/>
              </a:rPr>
              <a:t>¿Por qué no usar Word o Notepad?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33400" y="2288977"/>
            <a:ext cx="4414784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 editor de código te ayuda con colores para distinguir elementos, autocompletado, detección de errores, y herramientas integradas como la terminal.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81000" y="3193852"/>
            <a:ext cx="4633020" cy="1464469"/>
          </a:xfrm>
          <a:prstGeom prst="roundRect">
            <a:avLst>
              <a:gd fmla="val 520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33400" y="3346252"/>
            <a:ext cx="44147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VS Code incluye: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33400" y="3641527"/>
            <a:ext cx="441478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🎨 Colores según el tipo de código (syntax highlighting)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33400" y="3871913"/>
            <a:ext cx="441478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💡 Sugerencias mientras escribes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33400" y="4102298"/>
            <a:ext cx="441478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🔴 Marca errores antes de ejecutar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33400" y="4332684"/>
            <a:ext cx="441478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📁 Explorador de archivos integrado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242620" y="1812578"/>
            <a:ext cx="3520380" cy="2203996"/>
          </a:xfrm>
          <a:prstGeom prst="roundRect">
            <a:avLst>
              <a:gd fmla="val 4322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242620" y="1812578"/>
            <a:ext cx="3520380" cy="298996"/>
          </a:xfrm>
          <a:prstGeom prst="rect">
            <a:avLst/>
          </a:prstGeom>
          <a:solidFill>
            <a:srgbClr val="3232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356920" y="1888778"/>
            <a:ext cx="335761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ejemplo.py - Visual Studio Code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395020" y="2263973"/>
            <a:ext cx="3279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586C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DCDCAA"/>
                </a:solidFill>
                <a:latin typeface="Arial"/>
                <a:ea typeface="Arial"/>
                <a:cs typeface="Arial"/>
                <a:sym typeface="Arial"/>
              </a:rPr>
              <a:t>saludar</a:t>
            </a: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(nombre):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395020" y="2568773"/>
            <a:ext cx="3279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mensaje =</a:t>
            </a:r>
            <a:r>
              <a:rPr b="0" i="0" lang="en-US" sz="1500" u="none" cap="none" strike="noStrike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"Hola, "</a:t>
            </a: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+ nombre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395020" y="2873573"/>
            <a:ext cx="3279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586C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mensaje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395020" y="3292673"/>
            <a:ext cx="3279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A9955"/>
                </a:solidFill>
                <a:latin typeface="Arial"/>
                <a:ea typeface="Arial"/>
                <a:cs typeface="Arial"/>
                <a:sym typeface="Arial"/>
              </a:rPr>
              <a:t># Llamar la función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395020" y="3597473"/>
            <a:ext cx="32798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CDCAA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DCDCAA"/>
                </a:solidFill>
                <a:latin typeface="Arial"/>
                <a:ea typeface="Arial"/>
                <a:cs typeface="Arial"/>
                <a:sym typeface="Arial"/>
              </a:rPr>
              <a:t>saludar</a:t>
            </a: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500" u="none" cap="none" strike="noStrike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"Carlos"</a:t>
            </a: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¿Qué es la terminal?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209163" y="1023342"/>
            <a:ext cx="47256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Una interfaz de </a:t>
            </a:r>
            <a:r>
              <a:rPr b="1" i="0" lang="en-US" sz="1275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para comunicarte con tu computadora. En lugar de hacer clic, escribes comandos.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209163" y="1674614"/>
            <a:ext cx="4632900" cy="900900"/>
          </a:xfrm>
          <a:prstGeom prst="roundRect">
            <a:avLst>
              <a:gd fmla="val 845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342513" y="1807964"/>
            <a:ext cx="4453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¿Por qué usarla si tenemos interfaz gráfica?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342513" y="2070795"/>
            <a:ext cx="4453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Es más rápida, más precisa, permite automatizar tareas, y muchas herramientas de programación solo funcionan desde terminal.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209163" y="2708970"/>
            <a:ext cx="4632900" cy="876000"/>
          </a:xfrm>
          <a:prstGeom prst="roundRect">
            <a:avLst>
              <a:gd fmla="val 869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342513" y="2842320"/>
            <a:ext cx="4453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Nombres que escucharás: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342513" y="3105150"/>
            <a:ext cx="44535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Terminal, Consola, CMD, PowerShell, Shell, Bash - todos se refieren a lo mismo: una interfaz de línea de comandos.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209163" y="3718322"/>
            <a:ext cx="4632900" cy="401700"/>
          </a:xfrm>
          <a:prstGeom prst="roundRect">
            <a:avLst>
              <a:gd fmla="val 14222" name="adj"/>
            </a:avLst>
          </a:prstGeom>
          <a:solidFill>
            <a:srgbClr val="00D9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7"/>
          <p:cNvCxnSpPr/>
          <p:nvPr/>
        </p:nvCxnSpPr>
        <p:spPr>
          <a:xfrm>
            <a:off x="2166013" y="3718260"/>
            <a:ext cx="0" cy="401700"/>
          </a:xfrm>
          <a:prstGeom prst="straightConnector1">
            <a:avLst/>
          </a:prstGeom>
          <a:noFill/>
          <a:ln cap="flat" cmpd="sng" w="2857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7"/>
          <p:cNvSpPr/>
          <p:nvPr/>
        </p:nvSpPr>
        <p:spPr>
          <a:xfrm>
            <a:off x="2371088" y="3832622"/>
            <a:ext cx="4424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VS Code tiene una terminal integrada. No necesitas abrir otra ventana.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¿Qué es GitHub?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81000" y="1517600"/>
            <a:ext cx="5324094" cy="517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Una plataforma para </a:t>
            </a:r>
            <a:r>
              <a:rPr b="1" i="0" lang="en-US" sz="12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guardar, versionar y compartir</a:t>
            </a: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código. Es el estándar en la industria.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81000" y="2168872"/>
            <a:ext cx="2552700" cy="817066"/>
          </a:xfrm>
          <a:prstGeom prst="roundRect">
            <a:avLst>
              <a:gd fmla="val 932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14350" y="2302222"/>
            <a:ext cx="233172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☁️ Respaldo en la nube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14350" y="2532608"/>
            <a:ext cx="233172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Tu código está seguro aunque se dañe tu computadora.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048000" y="2168872"/>
            <a:ext cx="2552700" cy="817066"/>
          </a:xfrm>
          <a:prstGeom prst="roundRect">
            <a:avLst>
              <a:gd fmla="val 932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181350" y="2302222"/>
            <a:ext cx="233172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📜 Historial completo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181350" y="2532608"/>
            <a:ext cx="233172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Cada cambio queda guardado. Puedes volver atrás.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81000" y="3119289"/>
            <a:ext cx="2552700" cy="657076"/>
          </a:xfrm>
          <a:prstGeom prst="roundRect">
            <a:avLst>
              <a:gd fmla="val 1159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14350" y="3252639"/>
            <a:ext cx="233172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👥 Colaboración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14350" y="3483025"/>
            <a:ext cx="233172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Trabaja con otros sin pisarse el código.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048000" y="3119289"/>
            <a:ext cx="2552700" cy="657076"/>
          </a:xfrm>
          <a:prstGeom prst="roundRect">
            <a:avLst>
              <a:gd fmla="val 1159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181350" y="3252639"/>
            <a:ext cx="233172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💼 Tu portafolio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181350" y="3483025"/>
            <a:ext cx="233172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Reclutadores revisan GitHub de candidatos.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81000" y="3909715"/>
            <a:ext cx="5219700" cy="401836"/>
          </a:xfrm>
          <a:prstGeom prst="roundRect">
            <a:avLst>
              <a:gd fmla="val 14222" name="adj"/>
            </a:avLst>
          </a:prstGeom>
          <a:solidFill>
            <a:srgbClr val="238636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8"/>
          <p:cNvCxnSpPr/>
          <p:nvPr/>
        </p:nvCxnSpPr>
        <p:spPr>
          <a:xfrm>
            <a:off x="395288" y="3909715"/>
            <a:ext cx="0" cy="401836"/>
          </a:xfrm>
          <a:prstGeom prst="straightConnector1">
            <a:avLst/>
          </a:prstGeom>
          <a:noFill/>
          <a:ln cap="flat" cmpd="sng" w="28575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8"/>
          <p:cNvSpPr/>
          <p:nvPr/>
        </p:nvSpPr>
        <p:spPr>
          <a:xfrm>
            <a:off x="542925" y="4024015"/>
            <a:ext cx="502291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Git es la tecnología. GitHub es la plataforma que la hace fácil de usar.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829300" y="1313855"/>
            <a:ext cx="2933700" cy="3201591"/>
          </a:xfrm>
          <a:prstGeom prst="roundRect">
            <a:avLst>
              <a:gd fmla="val 324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019800" y="1504355"/>
            <a:ext cx="260375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Empresas que usan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019800" y="2003375"/>
            <a:ext cx="26037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Microsoft (dueño de GitHub)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019800" y="2405211"/>
            <a:ext cx="26037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019800" y="2807047"/>
            <a:ext cx="26037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Facebook / Meta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019800" y="3208883"/>
            <a:ext cx="26037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Netflix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019800" y="3610719"/>
            <a:ext cx="26037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Airbnb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019800" y="4164955"/>
            <a:ext cx="260375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+100 millones de desarrolladores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Instalar Python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381000" y="990600"/>
            <a:ext cx="8382000" cy="552450"/>
          </a:xfrm>
          <a:prstGeom prst="roundRect">
            <a:avLst>
              <a:gd fmla="val 13793" name="adj"/>
            </a:avLst>
          </a:prstGeom>
          <a:solidFill>
            <a:srgbClr val="161B22"/>
          </a:solidFill>
          <a:ln cap="flat" cmpd="sng" w="952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81025" y="1133475"/>
            <a:ext cx="814158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python.org/downloads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81000" y="1695450"/>
            <a:ext cx="2692450" cy="1535013"/>
          </a:xfrm>
          <a:prstGeom prst="roundRect">
            <a:avLst>
              <a:gd fmla="val 620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52450" y="1866900"/>
            <a:ext cx="239654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52450" y="2282130"/>
            <a:ext cx="239654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Descargar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52450" y="2539305"/>
            <a:ext cx="2396541" cy="519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Clic en el botón amarillo "Download Python 3.x". Se descarga un archivo .exe (Windows) o .pkg (Mac).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225850" y="1782068"/>
            <a:ext cx="2692450" cy="1361777"/>
          </a:xfrm>
          <a:prstGeom prst="roundRect">
            <a:avLst>
              <a:gd fmla="val 699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397300" y="1953518"/>
            <a:ext cx="239654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3397300" y="2368748"/>
            <a:ext cx="239654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Ejecutar instalador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397300" y="2625923"/>
            <a:ext cx="2396541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Doble clic en el archivo descargado. Aparece una ventana de instalación.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070699" y="1782068"/>
            <a:ext cx="2692450" cy="1361777"/>
          </a:xfrm>
          <a:prstGeom prst="roundRect">
            <a:avLst>
              <a:gd fmla="val 699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242149" y="1953518"/>
            <a:ext cx="239654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242149" y="2368748"/>
            <a:ext cx="239654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Marcar PATH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242149" y="2625923"/>
            <a:ext cx="2396541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IMPORTANTE: Marcar "Add Python to PATH" antes de clic en Install.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81000" y="3382863"/>
            <a:ext cx="8382000" cy="453330"/>
          </a:xfrm>
          <a:prstGeom prst="roundRect">
            <a:avLst>
              <a:gd fmla="val 16809" name="adj"/>
            </a:avLst>
          </a:prstGeom>
          <a:solidFill>
            <a:srgbClr val="F851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71500" y="3516213"/>
            <a:ext cx="816102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⚠️ CRÍTICO: Si no marcas "Add Python to PATH", Python no funcionará desde la terminal. Tendrías que reinstalar.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81000" y="4436864"/>
            <a:ext cx="8382000" cy="401836"/>
          </a:xfrm>
          <a:prstGeom prst="roundRect">
            <a:avLst>
              <a:gd fmla="val 1422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33400" y="4551164"/>
            <a:ext cx="823874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Verificar instalación: abrir terminal y escribir </a:t>
            </a: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python --version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CC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7ACC"/>
                </a:solidFill>
                <a:latin typeface="Arial"/>
                <a:ea typeface="Arial"/>
                <a:cs typeface="Arial"/>
                <a:sym typeface="Arial"/>
              </a:rPr>
              <a:t>Instalar VS Code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81000" y="990600"/>
            <a:ext cx="8382000" cy="552450"/>
          </a:xfrm>
          <a:prstGeom prst="roundRect">
            <a:avLst>
              <a:gd fmla="val 13793" name="adj"/>
            </a:avLst>
          </a:prstGeom>
          <a:solidFill>
            <a:srgbClr val="161B22"/>
          </a:solidFill>
          <a:ln cap="flat" cmpd="sng" w="9525">
            <a:solidFill>
              <a:srgbClr val="007A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81025" y="1133475"/>
            <a:ext cx="814158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ACC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007ACC"/>
                </a:solidFill>
                <a:latin typeface="Courier New"/>
                <a:ea typeface="Courier New"/>
                <a:cs typeface="Courier New"/>
                <a:sym typeface="Courier New"/>
              </a:rPr>
              <a:t>code.visualstudio.com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81000" y="1782068"/>
            <a:ext cx="2692450" cy="1361777"/>
          </a:xfrm>
          <a:prstGeom prst="roundRect">
            <a:avLst>
              <a:gd fmla="val 699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52450" y="1953518"/>
            <a:ext cx="239654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AC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AC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52450" y="2368748"/>
            <a:ext cx="239654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Descargar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52450" y="2625923"/>
            <a:ext cx="2396541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Clic en el botón azul grande. Detecta tu sistema automáticamente.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225850" y="1782068"/>
            <a:ext cx="2692450" cy="1361777"/>
          </a:xfrm>
          <a:prstGeom prst="roundRect">
            <a:avLst>
              <a:gd fmla="val 699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397300" y="1953518"/>
            <a:ext cx="239654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AC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AC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3397300" y="2368748"/>
            <a:ext cx="239654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Instalar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397300" y="2625923"/>
            <a:ext cx="2396541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Ejecutar instalador. Siguiente → Siguiente → Instalar → Finalizar.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070699" y="1695450"/>
            <a:ext cx="2692450" cy="1535013"/>
          </a:xfrm>
          <a:prstGeom prst="roundRect">
            <a:avLst>
              <a:gd fmla="val 620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242149" y="1866900"/>
            <a:ext cx="239654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AC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AC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242149" y="2282130"/>
            <a:ext cx="239654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Extensión Python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242149" y="2539305"/>
            <a:ext cx="2396541" cy="519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Abrir VS Code → Extensions (Ctrl+Shift+X) → Buscar "Python" → Instalar la de Microsoft.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381000" y="3382863"/>
            <a:ext cx="8382000" cy="759916"/>
          </a:xfrm>
          <a:prstGeom prst="roundRect">
            <a:avLst>
              <a:gd fmla="val 1002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33400" y="3535263"/>
            <a:ext cx="823874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AC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7ACC"/>
                </a:solidFill>
                <a:latin typeface="Arial"/>
                <a:ea typeface="Arial"/>
                <a:cs typeface="Arial"/>
                <a:sym typeface="Arial"/>
              </a:rPr>
              <a:t>Extensiones recomendadas para empezar: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33400" y="3817144"/>
            <a:ext cx="823874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Python (Microsoft) • Pylance • Python Debugger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81000" y="4436864"/>
            <a:ext cx="8382000" cy="401836"/>
          </a:xfrm>
          <a:prstGeom prst="roundRect">
            <a:avLst>
              <a:gd fmla="val 14222" name="adj"/>
            </a:avLst>
          </a:prstGeom>
          <a:solidFill>
            <a:srgbClr val="007ACC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10"/>
          <p:cNvCxnSpPr/>
          <p:nvPr/>
        </p:nvCxnSpPr>
        <p:spPr>
          <a:xfrm>
            <a:off x="395288" y="4436864"/>
            <a:ext cx="0" cy="401836"/>
          </a:xfrm>
          <a:prstGeom prst="straightConnector1">
            <a:avLst/>
          </a:prstGeom>
          <a:noFill/>
          <a:ln cap="flat" cmpd="sng" w="28575">
            <a:solidFill>
              <a:srgbClr val="007A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0"/>
          <p:cNvSpPr/>
          <p:nvPr/>
        </p:nvSpPr>
        <p:spPr>
          <a:xfrm>
            <a:off x="542925" y="4551164"/>
            <a:ext cx="824846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ACC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007ACC"/>
                </a:solidFill>
                <a:latin typeface="Arial"/>
                <a:ea typeface="Arial"/>
                <a:cs typeface="Arial"/>
                <a:sym typeface="Arial"/>
              </a:rPr>
              <a:t>Tip: VS Code es gratuito y de código abierto. Usado por millones de desarrolladores.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Crear cuenta en GitHub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81000" y="1392882"/>
            <a:ext cx="4800600" cy="552450"/>
          </a:xfrm>
          <a:prstGeom prst="roundRect">
            <a:avLst>
              <a:gd fmla="val 13793" name="adj"/>
            </a:avLst>
          </a:prstGeom>
          <a:solidFill>
            <a:srgbClr val="161B22"/>
          </a:solidFill>
          <a:ln cap="flat" cmpd="sng" w="9525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81025" y="1535757"/>
            <a:ext cx="44885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Courier New"/>
                <a:ea typeface="Courier New"/>
                <a:cs typeface="Courier New"/>
                <a:sym typeface="Courier New"/>
              </a:rPr>
              <a:t>github.com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381000" y="2078682"/>
            <a:ext cx="4800600" cy="1624310"/>
          </a:xfrm>
          <a:prstGeom prst="roundRect">
            <a:avLst>
              <a:gd fmla="val 469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14350" y="2212032"/>
            <a:ext cx="46245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Pasos: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14350" y="2474863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1. Clic en "Sign up" (esquina superior derecha)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14350" y="2705249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2. Ingresar tu email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514350" y="2935635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3. Crear una contraseña segura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14350" y="3166021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4. Elegir nombre de usuario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14350" y="3396407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5. Verificar tu email (revisa spam)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81000" y="3836343"/>
            <a:ext cx="4800600" cy="599926"/>
          </a:xfrm>
          <a:prstGeom prst="roundRect">
            <a:avLst>
              <a:gd fmla="val 9526" name="adj"/>
            </a:avLst>
          </a:prstGeom>
          <a:solidFill>
            <a:srgbClr val="238636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1"/>
          <p:cNvCxnSpPr/>
          <p:nvPr/>
        </p:nvCxnSpPr>
        <p:spPr>
          <a:xfrm>
            <a:off x="395288" y="3836343"/>
            <a:ext cx="0" cy="599926"/>
          </a:xfrm>
          <a:prstGeom prst="straightConnector1">
            <a:avLst/>
          </a:prstGeom>
          <a:noFill/>
          <a:ln cap="flat" cmpd="sng" w="28575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1"/>
          <p:cNvSpPr/>
          <p:nvPr/>
        </p:nvSpPr>
        <p:spPr>
          <a:xfrm>
            <a:off x="542925" y="3950643"/>
            <a:ext cx="459543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Plan gratuito es suficiente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42925" y="4161979"/>
            <a:ext cx="459543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Repositorios ilimitados, públicos y privados.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410200" y="996851"/>
            <a:ext cx="3352800" cy="3835450"/>
          </a:xfrm>
          <a:prstGeom prst="roundRect">
            <a:avLst>
              <a:gd fmla="val 284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600700" y="1187351"/>
            <a:ext cx="30312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⚠️ Sobre el nombre de usuario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5600700" y="1654076"/>
            <a:ext cx="3031236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Tu username aparecerá en tu perfil público y URL: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5600700" y="2087463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github.com/tu-username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600700" y="2533204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✓ juanperez-dev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600700" y="2902744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✓ maria-garcia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600700" y="3272284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✓ carlos-code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5600700" y="3679924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✗ xXx_destroyer_xXx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600700" y="4049464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✗ el_mas_capo_2024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600700" y="4495205"/>
            <a:ext cx="303123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Reclutadores verán este nombre. Sé profesional.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381000" y="304800"/>
            <a:ext cx="53338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Primeros comandos en terminal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381000" y="1462088"/>
            <a:ext cx="4168229" cy="683865"/>
          </a:xfrm>
          <a:prstGeom prst="roundRect">
            <a:avLst>
              <a:gd fmla="val 1114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2"/>
          <p:cNvCxnSpPr/>
          <p:nvPr/>
        </p:nvCxnSpPr>
        <p:spPr>
          <a:xfrm>
            <a:off x="400050" y="1462088"/>
            <a:ext cx="0" cy="683865"/>
          </a:xfrm>
          <a:prstGeom prst="straightConnector1">
            <a:avLst/>
          </a:prstGeom>
          <a:noFill/>
          <a:ln cap="flat" cmpd="sng" w="38100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2"/>
          <p:cNvSpPr/>
          <p:nvPr/>
        </p:nvSpPr>
        <p:spPr>
          <a:xfrm>
            <a:off x="552450" y="1595438"/>
            <a:ext cx="394069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125"/>
              <a:buFont typeface="Courier New"/>
              <a:buNone/>
            </a:pPr>
            <a:r>
              <a:rPr b="1" i="0" lang="en-US" sz="11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python --version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52450" y="1852612"/>
            <a:ext cx="394069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Verifica que Python está instalado correctamente.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381000" y="2260253"/>
            <a:ext cx="4168229" cy="683865"/>
          </a:xfrm>
          <a:prstGeom prst="roundRect">
            <a:avLst>
              <a:gd fmla="val 1114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2"/>
          <p:cNvCxnSpPr/>
          <p:nvPr/>
        </p:nvCxnSpPr>
        <p:spPr>
          <a:xfrm>
            <a:off x="400050" y="2260253"/>
            <a:ext cx="0" cy="683865"/>
          </a:xfrm>
          <a:prstGeom prst="straightConnector1">
            <a:avLst/>
          </a:prstGeom>
          <a:noFill/>
          <a:ln cap="flat" cmpd="sng" w="381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2"/>
          <p:cNvSpPr/>
          <p:nvPr/>
        </p:nvSpPr>
        <p:spPr>
          <a:xfrm>
            <a:off x="552450" y="2393603"/>
            <a:ext cx="394069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25"/>
              <a:buFont typeface="Courier New"/>
              <a:buNone/>
            </a:pPr>
            <a:r>
              <a:rPr b="1" i="0" lang="en-US" sz="1125" u="none" cap="none" strike="noStrike">
                <a:solidFill>
                  <a:srgbClr val="00D9FF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552450" y="2650778"/>
            <a:ext cx="394069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Abre el modo interactivo de Python. Verás &gt;&gt;&gt; esperando comandos.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381000" y="3058418"/>
            <a:ext cx="4168229" cy="683865"/>
          </a:xfrm>
          <a:prstGeom prst="roundRect">
            <a:avLst>
              <a:gd fmla="val 1114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2"/>
          <p:cNvCxnSpPr/>
          <p:nvPr/>
        </p:nvCxnSpPr>
        <p:spPr>
          <a:xfrm>
            <a:off x="400050" y="3058418"/>
            <a:ext cx="0" cy="683865"/>
          </a:xfrm>
          <a:prstGeom prst="straightConnector1">
            <a:avLst/>
          </a:prstGeom>
          <a:noFill/>
          <a:ln cap="flat" cmpd="sng" w="38100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2"/>
          <p:cNvSpPr/>
          <p:nvPr/>
        </p:nvSpPr>
        <p:spPr>
          <a:xfrm>
            <a:off x="552450" y="3191768"/>
            <a:ext cx="394069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125"/>
              <a:buFont typeface="Courier New"/>
              <a:buNone/>
            </a:pPr>
            <a:r>
              <a:rPr b="1" i="0" lang="en-US" sz="1125" u="none" cap="none" strike="noStrike">
                <a:solidFill>
                  <a:srgbClr val="238636"/>
                </a:solidFill>
                <a:latin typeface="Courier New"/>
                <a:ea typeface="Courier New"/>
                <a:cs typeface="Courier New"/>
                <a:sym typeface="Courier New"/>
              </a:rPr>
              <a:t>exit()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52450" y="3448943"/>
            <a:ext cx="394069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Sale del modo interactivo y vuelve a la terminal normal.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81000" y="3856583"/>
            <a:ext cx="4168229" cy="510480"/>
          </a:xfrm>
          <a:prstGeom prst="roundRect">
            <a:avLst>
              <a:gd fmla="val 11195" name="adj"/>
            </a:avLst>
          </a:prstGeom>
          <a:solidFill>
            <a:srgbClr val="F85149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12"/>
          <p:cNvCxnSpPr/>
          <p:nvPr/>
        </p:nvCxnSpPr>
        <p:spPr>
          <a:xfrm>
            <a:off x="395288" y="3856583"/>
            <a:ext cx="0" cy="510480"/>
          </a:xfrm>
          <a:prstGeom prst="straightConnector1">
            <a:avLst/>
          </a:prstGeom>
          <a:noFill/>
          <a:ln cap="flat" cmpd="sng" w="28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2"/>
          <p:cNvSpPr/>
          <p:nvPr/>
        </p:nvSpPr>
        <p:spPr>
          <a:xfrm>
            <a:off x="542925" y="3951833"/>
            <a:ext cx="395041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Si dice "python no reconocido", Python no se instaló correctamente o falta el PATH.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739729" y="1190625"/>
            <a:ext cx="4023271" cy="3448050"/>
          </a:xfrm>
          <a:prstGeom prst="roundRect">
            <a:avLst>
              <a:gd fmla="val 276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739729" y="1190625"/>
            <a:ext cx="4023271" cy="24765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854029" y="1266825"/>
            <a:ext cx="95250" cy="95250"/>
          </a:xfrm>
          <a:prstGeom prst="roundRect">
            <a:avLst>
              <a:gd fmla="val 960000" name="adj"/>
            </a:avLst>
          </a:prstGeom>
          <a:solidFill>
            <a:srgbClr val="F851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5006429" y="1266825"/>
            <a:ext cx="95250" cy="95250"/>
          </a:xfrm>
          <a:prstGeom prst="roundRect">
            <a:avLst>
              <a:gd fmla="val 960000" name="adj"/>
            </a:avLst>
          </a:prstGeom>
          <a:solidFill>
            <a:srgbClr val="F08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5158829" y="1266825"/>
            <a:ext cx="95250" cy="95250"/>
          </a:xfrm>
          <a:prstGeom prst="roundRect">
            <a:avLst>
              <a:gd fmla="val 960000" name="adj"/>
            </a:avLst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873079" y="1571625"/>
            <a:ext cx="38317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C:\Users\Juan&gt; python --version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4873079" y="1876425"/>
            <a:ext cx="38317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Python 3.12.0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873079" y="2276475"/>
            <a:ext cx="38317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C:\Users\Juan&gt; python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873079" y="2581275"/>
            <a:ext cx="38317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Python 3.12.0 (Oct 2024)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873079" y="2867025"/>
            <a:ext cx="38317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Type "help" for more info.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873079" y="3228975"/>
            <a:ext cx="38317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&gt;&gt;&gt; 2 + 2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873079" y="3514725"/>
            <a:ext cx="38317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873079" y="3876675"/>
            <a:ext cx="38317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&gt;&gt;&gt; exit()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4873079" y="4238625"/>
            <a:ext cx="38317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C:\Users\Juan&gt; _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/>
          <p:nvPr/>
        </p:nvSpPr>
        <p:spPr>
          <a:xfrm>
            <a:off x="381000" y="304800"/>
            <a:ext cx="551840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Tu primer programa: Hola Mundo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381000" y="1382316"/>
            <a:ext cx="472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Es tradición que el primer programa que escribes muestre "Hola Mundo" en pantalla. En Python es una sola línea: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381000" y="1972866"/>
            <a:ext cx="4633020" cy="693390"/>
          </a:xfrm>
          <a:prstGeom prst="roundRect">
            <a:avLst>
              <a:gd fmla="val 13737" name="adj"/>
            </a:avLst>
          </a:prstGeom>
          <a:solidFill>
            <a:srgbClr val="161B22"/>
          </a:solidFill>
          <a:ln cap="flat" cmpd="sng" w="952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581025" y="2172891"/>
            <a:ext cx="431762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6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65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"Hola Mundo!"</a:t>
            </a:r>
            <a:r>
              <a:rPr b="0" i="0" lang="en-US" sz="16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381000" y="2799606"/>
            <a:ext cx="4633020" cy="1163538"/>
          </a:xfrm>
          <a:prstGeom prst="roundRect">
            <a:avLst>
              <a:gd fmla="val 654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514350" y="2932956"/>
            <a:ext cx="445364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¿Qué significa cada parte?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514350" y="3195786"/>
            <a:ext cx="445364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DCDCAA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→ Función que muestra texto en pantalla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514350" y="3426172"/>
            <a:ext cx="445364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( ) → Los paréntesis contienen lo que queremos mostrar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514350" y="3656558"/>
            <a:ext cx="445364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E9178"/>
                </a:solidFill>
                <a:latin typeface="Arial"/>
                <a:ea typeface="Arial"/>
                <a:cs typeface="Arial"/>
                <a:sym typeface="Arial"/>
              </a:rPr>
              <a:t>"Hola Mundo!"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→ El texto (siempre entre comillas)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381000" y="4096494"/>
            <a:ext cx="4633020" cy="350490"/>
          </a:xfrm>
          <a:prstGeom prst="roundRect">
            <a:avLst>
              <a:gd fmla="val 16306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3"/>
          <p:cNvCxnSpPr/>
          <p:nvPr/>
        </p:nvCxnSpPr>
        <p:spPr>
          <a:xfrm>
            <a:off x="395288" y="4096494"/>
            <a:ext cx="0" cy="350490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3"/>
          <p:cNvSpPr/>
          <p:nvPr/>
        </p:nvSpPr>
        <p:spPr>
          <a:xfrm>
            <a:off x="542925" y="4191744"/>
            <a:ext cx="442449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Prueba cambiar el texto entre comillas por tu nombre o cualquier mensaje.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242620" y="1409700"/>
            <a:ext cx="3520380" cy="3009900"/>
          </a:xfrm>
          <a:prstGeom prst="roundRect">
            <a:avLst>
              <a:gd fmla="val 316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242620" y="1409700"/>
            <a:ext cx="3520380" cy="24765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356920" y="1485900"/>
            <a:ext cx="95250" cy="95250"/>
          </a:xfrm>
          <a:prstGeom prst="roundRect">
            <a:avLst>
              <a:gd fmla="val 960000" name="adj"/>
            </a:avLst>
          </a:prstGeom>
          <a:solidFill>
            <a:srgbClr val="F851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509320" y="1485900"/>
            <a:ext cx="95250" cy="95250"/>
          </a:xfrm>
          <a:prstGeom prst="roundRect">
            <a:avLst>
              <a:gd fmla="val 960000" name="adj"/>
            </a:avLst>
          </a:prstGeom>
          <a:solidFill>
            <a:srgbClr val="F08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661720" y="1485900"/>
            <a:ext cx="95250" cy="95250"/>
          </a:xfrm>
          <a:prstGeom prst="roundRect">
            <a:avLst>
              <a:gd fmla="val 960000" name="adj"/>
            </a:avLst>
          </a:prstGeom>
          <a:solidFill>
            <a:srgbClr val="3FB9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375970" y="1790700"/>
            <a:ext cx="331875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&gt;&gt;&gt; print("Hola Mundo!")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5375970" y="2114550"/>
            <a:ext cx="331875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Hola Mundo!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375970" y="2533650"/>
            <a:ext cx="331875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&gt;&gt;&gt; print("Mi nombre es Ana")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375970" y="2857500"/>
            <a:ext cx="331875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Mi nombre es Ana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5375970" y="3276600"/>
            <a:ext cx="331875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&gt;&gt;&gt; print(2 + 2)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5375970" y="3600450"/>
            <a:ext cx="331875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375970" y="4019550"/>
            <a:ext cx="331875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&gt;&gt;&gt; _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a1fc4932.png" id="340" name="Google Shape;3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8635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4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Resumen de la Clase 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381000" y="1485156"/>
            <a:ext cx="472568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HOY APRENDIMOS: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381000" y="1810792"/>
            <a:ext cx="4633020" cy="415230"/>
          </a:xfrm>
          <a:prstGeom prst="roundRect">
            <a:avLst>
              <a:gd fmla="val 1376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533400" y="1925092"/>
            <a:ext cx="441478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✓ Qué es programar y cómo funciona una app web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381000" y="2340322"/>
            <a:ext cx="4633020" cy="415230"/>
          </a:xfrm>
          <a:prstGeom prst="roundRect">
            <a:avLst>
              <a:gd fmla="val 1376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533400" y="2454622"/>
            <a:ext cx="441478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✓ Frontend, Backend y Base de datos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381000" y="2869853"/>
            <a:ext cx="4633020" cy="415230"/>
          </a:xfrm>
          <a:prstGeom prst="roundRect">
            <a:avLst>
              <a:gd fmla="val 1376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533400" y="2984153"/>
            <a:ext cx="441478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✓ Dónde encaja Python en el ecosistema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381000" y="3399383"/>
            <a:ext cx="4633020" cy="415230"/>
          </a:xfrm>
          <a:prstGeom prst="roundRect">
            <a:avLst>
              <a:gd fmla="val 1376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533400" y="3513683"/>
            <a:ext cx="441478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✓ Instalamos Python, VS Code y GitHub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381000" y="3928914"/>
            <a:ext cx="4633020" cy="415230"/>
          </a:xfrm>
          <a:prstGeom prst="roundRect">
            <a:avLst>
              <a:gd fmla="val 1376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533400" y="4043214"/>
            <a:ext cx="441478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FB950"/>
                </a:solidFill>
                <a:latin typeface="Arial"/>
                <a:ea typeface="Arial"/>
                <a:cs typeface="Arial"/>
                <a:sym typeface="Arial"/>
              </a:rPr>
              <a:t>✓ Ejecutamos nuestro primer programa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356dba97.png" id="353" name="Google Shape;35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2620" y="1576536"/>
            <a:ext cx="3520380" cy="133722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4"/>
          <p:cNvSpPr/>
          <p:nvPr/>
        </p:nvSpPr>
        <p:spPr>
          <a:xfrm>
            <a:off x="5442645" y="1776561"/>
            <a:ext cx="318273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PRÓXIMA CLASE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5442645" y="1980307"/>
            <a:ext cx="31827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D43B"/>
                </a:solidFill>
              </a:rPr>
              <a:t>Control de versiones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5442645" y="2342257"/>
            <a:ext cx="318273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Aprenderemos a </a:t>
            </a:r>
            <a:r>
              <a:rPr lang="en-US" sz="975">
                <a:solidFill>
                  <a:srgbClr val="E6EDF3"/>
                </a:solidFill>
              </a:rPr>
              <a:t>usar git y github.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5242620" y="3047107"/>
            <a:ext cx="3520380" cy="859036"/>
          </a:xfrm>
          <a:prstGeom prst="roundRect">
            <a:avLst>
              <a:gd fmla="val 887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5375970" y="3180457"/>
            <a:ext cx="33187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Tarea (opcional):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5375970" y="3429893"/>
            <a:ext cx="331875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Experimenta con print(). Prueba mostrar diferentes mensajes, operaciones matemáticas, tu nombre.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207416" y="4039493"/>
            <a:ext cx="359078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¿Preguntas?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2026-01-05T16:02:16Z</dcterms:created>
  <dc:creator>Curso de Python</dc:creator>
</cp:coreProperties>
</file>